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Lst>
  <p:sldSz cx="18288000" cy="10287000"/>
  <p:notesSz cx="6858000" cy="9144000"/>
  <p:embeddedFontLst>
    <p:embeddedFont>
      <p:font typeface="HK Grotesk Bold" charset="1" panose="00000800000000000000"/>
      <p:regular r:id="rId79"/>
    </p:embeddedFont>
    <p:embeddedFont>
      <p:font typeface="Glacial Indifference" charset="1" panose="00000000000000000000"/>
      <p:regular r:id="rId80"/>
    </p:embeddedFont>
    <p:embeddedFont>
      <p:font typeface="Aileron Bold" charset="1" panose="00000800000000000000"/>
      <p:regular r:id="rId81"/>
    </p:embeddedFont>
    <p:embeddedFont>
      <p:font typeface="Glacial Indifference Bold" charset="1" panose="00000800000000000000"/>
      <p:regular r:id="rId82"/>
    </p:embeddedFont>
    <p:embeddedFont>
      <p:font typeface="HK Grotesk Light" charset="1" panose="00000400000000000000"/>
      <p:regular r:id="rId83"/>
    </p:embeddedFont>
    <p:embeddedFont>
      <p:font typeface="Aileron" charset="1" panose="00000500000000000000"/>
      <p:regular r:id="rId84"/>
    </p:embeddedFont>
    <p:embeddedFont>
      <p:font typeface="HK Grotesk" charset="1" panose="00000500000000000000"/>
      <p:regular r:id="rId85"/>
    </p:embeddedFont>
    <p:embeddedFont>
      <p:font typeface="Canva Sans Bold" charset="1" panose="020B0803030501040103"/>
      <p:regular r:id="rId86"/>
    </p:embeddedFont>
    <p:embeddedFont>
      <p:font typeface="Biski" charset="1" panose="00000000000000000000"/>
      <p:regular r:id="rId87"/>
    </p:embeddedFont>
    <p:embeddedFont>
      <p:font typeface="Lancelot" charset="1" panose="02000000000000000000"/>
      <p:regular r:id="rId88"/>
    </p:embeddedFont>
    <p:embeddedFont>
      <p:font typeface="Aileron Bold Italics" charset="1" panose="00000800000000000000"/>
      <p:regular r:id="rId89"/>
    </p:embeddedFont>
    <p:embeddedFont>
      <p:font typeface="Canva Sans" charset="1" panose="020B0503030501040103"/>
      <p:regular r:id="rId90"/>
    </p:embeddedFont>
    <p:embeddedFont>
      <p:font typeface="Lato" charset="1" panose="020F0502020204030203"/>
      <p:regular r:id="rId91"/>
    </p:embeddedFont>
    <p:embeddedFont>
      <p:font typeface="Abstracted Dream" charset="1" panose="00000500000000000000"/>
      <p:regular r:id="rId92"/>
    </p:embeddedFont>
    <p:embeddedFont>
      <p:font typeface="Poppins Bold Italics" charset="1" panose="00000800000000000000"/>
      <p:regular r:id="rId93"/>
    </p:embeddedFont>
    <p:embeddedFont>
      <p:font typeface="Biski Bold" charset="1" panose="00000000000000000000"/>
      <p:regular r:id="rId94"/>
    </p:embeddedFont>
    <p:embeddedFont>
      <p:font typeface="Times New Roman" charset="1" panose="02030502070405020303"/>
      <p:regular r:id="rId95"/>
    </p:embeddedFont>
    <p:embeddedFont>
      <p:font typeface="Aileron Italics" charset="1" panose="00000500000000000000"/>
      <p:regular r:id="rId9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fonts/font79.fntdata" Type="http://schemas.openxmlformats.org/officeDocument/2006/relationships/font"/><Relationship Id="rId8" Target="slides/slide3.xml" Type="http://schemas.openxmlformats.org/officeDocument/2006/relationships/slide"/><Relationship Id="rId80" Target="fonts/font80.fntdata" Type="http://schemas.openxmlformats.org/officeDocument/2006/relationships/font"/><Relationship Id="rId81" Target="fonts/font81.fntdata" Type="http://schemas.openxmlformats.org/officeDocument/2006/relationships/font"/><Relationship Id="rId82" Target="fonts/font82.fntdata" Type="http://schemas.openxmlformats.org/officeDocument/2006/relationships/font"/><Relationship Id="rId83" Target="fonts/font83.fntdata" Type="http://schemas.openxmlformats.org/officeDocument/2006/relationships/font"/><Relationship Id="rId84" Target="fonts/font84.fntdata" Type="http://schemas.openxmlformats.org/officeDocument/2006/relationships/font"/><Relationship Id="rId85" Target="fonts/font85.fntdata" Type="http://schemas.openxmlformats.org/officeDocument/2006/relationships/font"/><Relationship Id="rId86" Target="fonts/font86.fntdata" Type="http://schemas.openxmlformats.org/officeDocument/2006/relationships/font"/><Relationship Id="rId87" Target="fonts/font87.fntdata" Type="http://schemas.openxmlformats.org/officeDocument/2006/relationships/font"/><Relationship Id="rId88" Target="fonts/font88.fntdata" Type="http://schemas.openxmlformats.org/officeDocument/2006/relationships/font"/><Relationship Id="rId89" Target="fonts/font89.fntdata" Type="http://schemas.openxmlformats.org/officeDocument/2006/relationships/font"/><Relationship Id="rId9" Target="slides/slide4.xml" Type="http://schemas.openxmlformats.org/officeDocument/2006/relationships/slide"/><Relationship Id="rId90" Target="fonts/font90.fntdata" Type="http://schemas.openxmlformats.org/officeDocument/2006/relationships/font"/><Relationship Id="rId91" Target="fonts/font91.fntdata" Type="http://schemas.openxmlformats.org/officeDocument/2006/relationships/font"/><Relationship Id="rId92" Target="fonts/font92.fntdata" Type="http://schemas.openxmlformats.org/officeDocument/2006/relationships/font"/><Relationship Id="rId93" Target="fonts/font93.fntdata" Type="http://schemas.openxmlformats.org/officeDocument/2006/relationships/font"/><Relationship Id="rId94" Target="fonts/font94.fntdata" Type="http://schemas.openxmlformats.org/officeDocument/2006/relationships/font"/><Relationship Id="rId95" Target="fonts/font95.fntdata" Type="http://schemas.openxmlformats.org/officeDocument/2006/relationships/font"/><Relationship Id="rId96" Target="fonts/font96.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jpeg" Type="http://schemas.openxmlformats.org/officeDocument/2006/relationships/image"/><Relationship Id="rId6" Target="../media/image10.jpeg" Type="http://schemas.openxmlformats.org/officeDocument/2006/relationships/image"/><Relationship Id="rId7" Target="../media/image11.jpeg" Type="http://schemas.openxmlformats.org/officeDocument/2006/relationships/image"/><Relationship Id="rId8"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png" Type="http://schemas.openxmlformats.org/officeDocument/2006/relationships/image"/><Relationship Id="rId12" Target="../media/image30.svg" Type="http://schemas.openxmlformats.org/officeDocument/2006/relationships/image"/><Relationship Id="rId13" Target="../media/image31.png" Type="http://schemas.openxmlformats.org/officeDocument/2006/relationships/image"/><Relationship Id="rId14" Target="../media/image32.svg" Type="http://schemas.openxmlformats.org/officeDocument/2006/relationships/image"/><Relationship Id="rId15" Target="../media/image33.png" Type="http://schemas.openxmlformats.org/officeDocument/2006/relationships/image"/><Relationship Id="rId16" Target="../media/image34.svg" Type="http://schemas.openxmlformats.org/officeDocument/2006/relationships/image"/><Relationship Id="rId17" Target="../media/image35.png" Type="http://schemas.openxmlformats.org/officeDocument/2006/relationships/image"/><Relationship Id="rId18" Target="../media/image36.svg" Type="http://schemas.openxmlformats.org/officeDocument/2006/relationships/image"/><Relationship Id="rId19" Target="../media/image37.png" Type="http://schemas.openxmlformats.org/officeDocument/2006/relationships/image"/><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9.jpe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48.png" Type="http://schemas.openxmlformats.org/officeDocument/2006/relationships/image"/><Relationship Id="rId5" Target="../media/image49.png" Type="http://schemas.openxmlformats.org/officeDocument/2006/relationships/image"/><Relationship Id="rId6" Target="../media/image5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 Id="rId6" Target="../media/image5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5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jpeg" Type="http://schemas.openxmlformats.org/officeDocument/2006/relationships/image"/><Relationship Id="rId3" Target="../media/image61.jpeg" Type="http://schemas.openxmlformats.org/officeDocument/2006/relationships/image"/><Relationship Id="rId4" Target="../media/image62.jpeg" Type="http://schemas.openxmlformats.org/officeDocument/2006/relationships/image"/><Relationship Id="rId5" Target="../media/image63.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6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9.png" Type="http://schemas.openxmlformats.org/officeDocument/2006/relationships/image"/><Relationship Id="rId3" Target="../media/image7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1.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who.int/news-room/fact-sheets/detail/physical-activity" TargetMode="External" Type="http://schemas.openxmlformats.org/officeDocument/2006/relationships/hyperlink"/><Relationship Id="rId3" Target="../media/image74.png" Type="http://schemas.openxmlformats.org/officeDocument/2006/relationships/image"/><Relationship Id="rId4" Target="https://www.tensorflow.org" TargetMode="External" Type="http://schemas.openxmlformats.org/officeDocument/2006/relationships/hyperlink"/></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75.jpeg" Type="http://schemas.openxmlformats.org/officeDocument/2006/relationships/image"/><Relationship Id="rId5" Target="../media/image7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77.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78.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5.png" Type="http://schemas.openxmlformats.org/officeDocument/2006/relationships/image"/><Relationship Id="rId11" Target="../media/image86.svg" Type="http://schemas.openxmlformats.org/officeDocument/2006/relationships/image"/><Relationship Id="rId12" Target="../media/image87.png" Type="http://schemas.openxmlformats.org/officeDocument/2006/relationships/image"/><Relationship Id="rId13" Target="../media/image88.svg" Type="http://schemas.openxmlformats.org/officeDocument/2006/relationships/image"/><Relationship Id="rId14" Target="../media/image89.png" Type="http://schemas.openxmlformats.org/officeDocument/2006/relationships/image"/><Relationship Id="rId15" Target="../media/image90.svg" Type="http://schemas.openxmlformats.org/officeDocument/2006/relationships/image"/><Relationship Id="rId2" Target="../media/image79.png" Type="http://schemas.openxmlformats.org/officeDocument/2006/relationships/image"/><Relationship Id="rId3" Target="../media/image80.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81.png" Type="http://schemas.openxmlformats.org/officeDocument/2006/relationships/image"/><Relationship Id="rId7" Target="../media/image82.svg" Type="http://schemas.openxmlformats.org/officeDocument/2006/relationships/image"/><Relationship Id="rId8" Target="../media/image83.png" Type="http://schemas.openxmlformats.org/officeDocument/2006/relationships/image"/><Relationship Id="rId9" Target="../media/image84.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1.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2.jpeg" Type="http://schemas.openxmlformats.org/officeDocument/2006/relationships/image"/><Relationship Id="rId3" Target="../media/image93.jpe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4.png" Type="http://schemas.openxmlformats.org/officeDocument/2006/relationships/image"/><Relationship Id="rId3" Target="https://www.medium.com" TargetMode="External" Type="http://schemas.openxmlformats.org/officeDocument/2006/relationships/hyperlink"/><Relationship Id="rId4" Target="https://www.foodai.com" TargetMode="External" Type="http://schemas.openxmlformats.org/officeDocument/2006/relationships/hyperlink"/></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95.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96.png" Type="http://schemas.openxmlformats.org/officeDocument/2006/relationships/image"/><Relationship Id="rId5" Target="../media/image97.svg" Type="http://schemas.openxmlformats.org/officeDocument/2006/relationships/image"/><Relationship Id="rId6" Target="../media/image98.png" Type="http://schemas.openxmlformats.org/officeDocument/2006/relationships/image"/><Relationship Id="rId7" Target="../media/image99.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 Id="rId4" Target="../media/image100.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 Id="rId4" Target="../media/image101.jpe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02.jpeg" Type="http://schemas.openxmlformats.org/officeDocument/2006/relationships/image"/><Relationship Id="rId5" Target="../media/VAGoba_Kne0.mp4" Type="http://schemas.openxmlformats.org/officeDocument/2006/relationships/video"/><Relationship Id="rId6" Target="../media/VAGoba_Kne0.mp4" Type="http://schemas.microsoft.com/office/2007/relationships/media"/><Relationship Id="rId7" Target="../media/image103.jpeg" Type="http://schemas.openxmlformats.org/officeDocument/2006/relationships/image"/><Relationship Id="rId8" Target="../media/VAGobWJogjQ.mp4" Type="http://schemas.openxmlformats.org/officeDocument/2006/relationships/video"/><Relationship Id="rId9" Target="../media/VAGobWJogjQ.mp4" Type="http://schemas.microsoft.com/office/2007/relationships/media"/></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04.png" Type="http://schemas.openxmlformats.org/officeDocument/2006/relationships/image"/><Relationship Id="rId5" Target="../media/image105.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2.png" Type="http://schemas.openxmlformats.org/officeDocument/2006/relationships/image"/><Relationship Id="rId11" Target="../media/image113.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06.png" Type="http://schemas.openxmlformats.org/officeDocument/2006/relationships/image"/><Relationship Id="rId5" Target="../media/image107.png" Type="http://schemas.openxmlformats.org/officeDocument/2006/relationships/image"/><Relationship Id="rId6" Target="../media/image108.png" Type="http://schemas.openxmlformats.org/officeDocument/2006/relationships/image"/><Relationship Id="rId7" Target="../media/image109.svg" Type="http://schemas.openxmlformats.org/officeDocument/2006/relationships/image"/><Relationship Id="rId8" Target="../media/image110.png" Type="http://schemas.openxmlformats.org/officeDocument/2006/relationships/image"/><Relationship Id="rId9" Target="../media/image111.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 Id="rId4" Target="../media/image78.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4.png" Type="http://schemas.openxmlformats.org/officeDocument/2006/relationships/image"/><Relationship Id="rId3" Target="../media/image115.svg" Type="http://schemas.openxmlformats.org/officeDocument/2006/relationships/image"/><Relationship Id="rId4" Target="../media/image116.png" Type="http://schemas.openxmlformats.org/officeDocument/2006/relationships/image"/><Relationship Id="rId5" Target="../media/image117.sv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18.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19.png" Type="http://schemas.openxmlformats.org/officeDocument/2006/relationships/image"/><Relationship Id="rId5" Target="../media/image120.svg" Type="http://schemas.openxmlformats.org/officeDocument/2006/relationships/image"/><Relationship Id="rId6" Target="../media/image121.png" Type="http://schemas.openxmlformats.org/officeDocument/2006/relationships/image"/><Relationship Id="rId7" Target="../media/image122.sv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3.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 Id="rId4" Target="../media/image124.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4.png" Type="http://schemas.openxmlformats.org/officeDocument/2006/relationships/image"/><Relationship Id="rId3" Target="../media/image115.svg" Type="http://schemas.openxmlformats.org/officeDocument/2006/relationships/image"/><Relationship Id="rId4" Target="../media/image125.pn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4.png" Type="http://schemas.openxmlformats.org/officeDocument/2006/relationships/image"/><Relationship Id="rId3" Target="../media/image115.svg" Type="http://schemas.openxmlformats.org/officeDocument/2006/relationships/image"/><Relationship Id="rId4" Target="../media/image126.pn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4.png" Type="http://schemas.openxmlformats.org/officeDocument/2006/relationships/image"/><Relationship Id="rId3" Target="../media/image115.svg" Type="http://schemas.openxmlformats.org/officeDocument/2006/relationships/image"/><Relationship Id="rId4" Target="../media/image127.pn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4.png" Type="http://schemas.openxmlformats.org/officeDocument/2006/relationships/image"/><Relationship Id="rId3" Target="../media/image115.svg" Type="http://schemas.openxmlformats.org/officeDocument/2006/relationships/image"/><Relationship Id="rId4" Target="../media/image116.png" Type="http://schemas.openxmlformats.org/officeDocument/2006/relationships/image"/><Relationship Id="rId5" Target="../media/image117.sv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4.png" Type="http://schemas.openxmlformats.org/officeDocument/2006/relationships/image"/><Relationship Id="rId3" Target="../media/image11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flipH="true">
            <a:off x="4118416" y="3159743"/>
            <a:ext cx="0" cy="3212756"/>
          </a:xfrm>
          <a:prstGeom prst="line">
            <a:avLst/>
          </a:prstGeom>
          <a:ln cap="flat" w="133350">
            <a:solidFill>
              <a:srgbClr val="D15353"/>
            </a:solidFill>
            <a:prstDash val="solid"/>
            <a:headEnd type="none" len="sm" w="sm"/>
            <a:tailEnd type="none" len="sm" w="sm"/>
          </a:ln>
        </p:spPr>
      </p:sp>
      <p:sp>
        <p:nvSpPr>
          <p:cNvPr name="Freeform 3" id="3"/>
          <p:cNvSpPr/>
          <p:nvPr/>
        </p:nvSpPr>
        <p:spPr>
          <a:xfrm flipH="false" flipV="true" rot="6023642">
            <a:off x="9325437" y="2177358"/>
            <a:ext cx="15226789" cy="9080703"/>
          </a:xfrm>
          <a:custGeom>
            <a:avLst/>
            <a:gdLst/>
            <a:ahLst/>
            <a:cxnLst/>
            <a:rect r="r" b="b" t="t" l="l"/>
            <a:pathLst>
              <a:path h="9080703" w="15226789">
                <a:moveTo>
                  <a:pt x="0" y="9080703"/>
                </a:moveTo>
                <a:lnTo>
                  <a:pt x="15226789" y="9080703"/>
                </a:lnTo>
                <a:lnTo>
                  <a:pt x="15226789" y="0"/>
                </a:lnTo>
                <a:lnTo>
                  <a:pt x="0" y="0"/>
                </a:lnTo>
                <a:lnTo>
                  <a:pt x="0" y="908070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85277" y="3063964"/>
            <a:ext cx="3143485" cy="3143485"/>
          </a:xfrm>
          <a:custGeom>
            <a:avLst/>
            <a:gdLst/>
            <a:ahLst/>
            <a:cxnLst/>
            <a:rect r="r" b="b" t="t" l="l"/>
            <a:pathLst>
              <a:path h="3143485" w="3143485">
                <a:moveTo>
                  <a:pt x="0" y="0"/>
                </a:moveTo>
                <a:lnTo>
                  <a:pt x="3143485" y="0"/>
                </a:lnTo>
                <a:lnTo>
                  <a:pt x="3143485" y="3143486"/>
                </a:lnTo>
                <a:lnTo>
                  <a:pt x="0" y="3143486"/>
                </a:lnTo>
                <a:lnTo>
                  <a:pt x="0" y="0"/>
                </a:lnTo>
                <a:close/>
              </a:path>
            </a:pathLst>
          </a:custGeom>
          <a:blipFill>
            <a:blip r:embed="rId4"/>
            <a:stretch>
              <a:fillRect l="0" t="0" r="0" b="0"/>
            </a:stretch>
          </a:blipFill>
        </p:spPr>
      </p:sp>
      <p:sp>
        <p:nvSpPr>
          <p:cNvPr name="Freeform 5" id="5"/>
          <p:cNvSpPr/>
          <p:nvPr/>
        </p:nvSpPr>
        <p:spPr>
          <a:xfrm flipH="false" flipV="false" rot="0">
            <a:off x="11099402" y="685955"/>
            <a:ext cx="5120103" cy="4114800"/>
          </a:xfrm>
          <a:custGeom>
            <a:avLst/>
            <a:gdLst/>
            <a:ahLst/>
            <a:cxnLst/>
            <a:rect r="r" b="b" t="t" l="l"/>
            <a:pathLst>
              <a:path h="4114800" w="5120103">
                <a:moveTo>
                  <a:pt x="0" y="0"/>
                </a:moveTo>
                <a:lnTo>
                  <a:pt x="5120103" y="0"/>
                </a:lnTo>
                <a:lnTo>
                  <a:pt x="5120103"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4270816" y="3140164"/>
            <a:ext cx="7791796" cy="1295427"/>
          </a:xfrm>
          <a:prstGeom prst="rect">
            <a:avLst/>
          </a:prstGeom>
        </p:spPr>
        <p:txBody>
          <a:bodyPr anchor="t" rtlCol="false" tIns="0" lIns="0" bIns="0" rIns="0">
            <a:spAutoFit/>
          </a:bodyPr>
          <a:lstStyle/>
          <a:p>
            <a:pPr algn="just" marL="0" indent="0" lvl="0">
              <a:lnSpc>
                <a:spcPts val="9900"/>
              </a:lnSpc>
            </a:pPr>
            <a:r>
              <a:rPr lang="en-US" b="true" sz="9000">
                <a:solidFill>
                  <a:srgbClr val="253439"/>
                </a:solidFill>
                <a:latin typeface="HK Grotesk Bold"/>
                <a:ea typeface="HK Grotesk Bold"/>
                <a:cs typeface="HK Grotesk Bold"/>
                <a:sym typeface="HK Grotesk Bold"/>
              </a:rPr>
              <a:t>FITFLOW </a:t>
            </a:r>
          </a:p>
        </p:txBody>
      </p:sp>
      <p:sp>
        <p:nvSpPr>
          <p:cNvPr name="TextBox 7" id="7"/>
          <p:cNvSpPr txBox="true"/>
          <p:nvPr/>
        </p:nvSpPr>
        <p:spPr>
          <a:xfrm rot="0">
            <a:off x="4270816" y="4191155"/>
            <a:ext cx="11712702" cy="1295400"/>
          </a:xfrm>
          <a:prstGeom prst="rect">
            <a:avLst/>
          </a:prstGeom>
        </p:spPr>
        <p:txBody>
          <a:bodyPr anchor="t" rtlCol="false" tIns="0" lIns="0" bIns="0" rIns="0">
            <a:spAutoFit/>
          </a:bodyPr>
          <a:lstStyle/>
          <a:p>
            <a:pPr algn="just" marL="0" indent="0" lvl="0">
              <a:lnSpc>
                <a:spcPts val="9900"/>
              </a:lnSpc>
            </a:pPr>
            <a:r>
              <a:rPr lang="en-US" sz="9000">
                <a:solidFill>
                  <a:srgbClr val="253439"/>
                </a:solidFill>
                <a:latin typeface="Glacial Indifference"/>
                <a:ea typeface="Glacial Indifference"/>
                <a:cs typeface="Glacial Indifference"/>
                <a:sym typeface="Glacial Indifference"/>
              </a:rPr>
              <a:t>Advance Fitness Trainer</a:t>
            </a:r>
            <a:r>
              <a:rPr lang="en-US" sz="9000">
                <a:solidFill>
                  <a:srgbClr val="253439"/>
                </a:solidFill>
                <a:latin typeface="Glacial Indifference"/>
                <a:ea typeface="Glacial Indifference"/>
                <a:cs typeface="Glacial Indifference"/>
                <a:sym typeface="Glacial Indifference"/>
              </a:rPr>
              <a:t> </a:t>
            </a:r>
          </a:p>
        </p:txBody>
      </p:sp>
      <p:sp>
        <p:nvSpPr>
          <p:cNvPr name="TextBox 8" id="8"/>
          <p:cNvSpPr txBox="true"/>
          <p:nvPr/>
        </p:nvSpPr>
        <p:spPr>
          <a:xfrm rot="0">
            <a:off x="4270816" y="5067469"/>
            <a:ext cx="6742861" cy="1237344"/>
          </a:xfrm>
          <a:prstGeom prst="rect">
            <a:avLst/>
          </a:prstGeom>
        </p:spPr>
        <p:txBody>
          <a:bodyPr anchor="t" rtlCol="false" tIns="0" lIns="0" bIns="0" rIns="0">
            <a:spAutoFit/>
          </a:bodyPr>
          <a:lstStyle/>
          <a:p>
            <a:pPr algn="ctr">
              <a:lnSpc>
                <a:spcPts val="10801"/>
              </a:lnSpc>
              <a:spcBef>
                <a:spcPct val="0"/>
              </a:spcBef>
            </a:pPr>
            <a:r>
              <a:rPr lang="en-US" b="true" sz="5400">
                <a:solidFill>
                  <a:srgbClr val="253439"/>
                </a:solidFill>
                <a:latin typeface="Aileron Bold"/>
                <a:ea typeface="Aileron Bold"/>
                <a:cs typeface="Aileron Bold"/>
                <a:sym typeface="Aileron Bold"/>
              </a:rPr>
              <a:t> Group Id-24-25j-083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0" y="-912010"/>
            <a:ext cx="18435234" cy="12587680"/>
            <a:chOff x="0" y="0"/>
            <a:chExt cx="4024827" cy="2748175"/>
          </a:xfrm>
        </p:grpSpPr>
        <p:sp>
          <p:nvSpPr>
            <p:cNvPr name="Freeform 3" id="3"/>
            <p:cNvSpPr/>
            <p:nvPr/>
          </p:nvSpPr>
          <p:spPr>
            <a:xfrm flipH="false" flipV="false" rot="0">
              <a:off x="0" y="0"/>
              <a:ext cx="4024827" cy="2748175"/>
            </a:xfrm>
            <a:custGeom>
              <a:avLst/>
              <a:gdLst/>
              <a:ahLst/>
              <a:cxnLst/>
              <a:rect r="r" b="b" t="t" l="l"/>
              <a:pathLst>
                <a:path h="2748175" w="4024827">
                  <a:moveTo>
                    <a:pt x="0" y="0"/>
                  </a:moveTo>
                  <a:lnTo>
                    <a:pt x="4024827" y="0"/>
                  </a:lnTo>
                  <a:lnTo>
                    <a:pt x="4024827" y="2748175"/>
                  </a:lnTo>
                  <a:lnTo>
                    <a:pt x="0" y="2748175"/>
                  </a:lnTo>
                  <a:close/>
                </a:path>
              </a:pathLst>
            </a:custGeom>
            <a:solidFill>
              <a:srgbClr val="253439"/>
            </a:solidFill>
          </p:spPr>
        </p:sp>
        <p:sp>
          <p:nvSpPr>
            <p:cNvPr name="TextBox 4" id="4"/>
            <p:cNvSpPr txBox="true"/>
            <p:nvPr/>
          </p:nvSpPr>
          <p:spPr>
            <a:xfrm>
              <a:off x="0" y="-47625"/>
              <a:ext cx="4024827" cy="2795800"/>
            </a:xfrm>
            <a:prstGeom prst="rect">
              <a:avLst/>
            </a:prstGeom>
          </p:spPr>
          <p:txBody>
            <a:bodyPr anchor="ctr" rtlCol="false" tIns="50800" lIns="50800" bIns="50800" rIns="50800"/>
            <a:lstStyle/>
            <a:p>
              <a:pPr algn="ctr">
                <a:lnSpc>
                  <a:spcPts val="3244"/>
                </a:lnSpc>
              </a:pPr>
            </a:p>
          </p:txBody>
        </p:sp>
      </p:grpSp>
      <p:sp>
        <p:nvSpPr>
          <p:cNvPr name="AutoShape 5" id="5"/>
          <p:cNvSpPr/>
          <p:nvPr/>
        </p:nvSpPr>
        <p:spPr>
          <a:xfrm flipV="true">
            <a:off x="4233740" y="1676822"/>
            <a:ext cx="0" cy="1611738"/>
          </a:xfrm>
          <a:prstGeom prst="line">
            <a:avLst/>
          </a:prstGeom>
          <a:ln cap="flat" w="133350">
            <a:solidFill>
              <a:srgbClr val="D15353"/>
            </a:solidFill>
            <a:prstDash val="solid"/>
            <a:headEnd type="none" len="sm" w="sm"/>
            <a:tailEnd type="none" len="sm" w="sm"/>
          </a:ln>
        </p:spPr>
      </p:sp>
      <p:sp>
        <p:nvSpPr>
          <p:cNvPr name="Freeform 6" id="6"/>
          <p:cNvSpPr/>
          <p:nvPr/>
        </p:nvSpPr>
        <p:spPr>
          <a:xfrm flipH="false" flipV="false" rot="0">
            <a:off x="5989336" y="3516668"/>
            <a:ext cx="2909318" cy="4366706"/>
          </a:xfrm>
          <a:custGeom>
            <a:avLst/>
            <a:gdLst/>
            <a:ahLst/>
            <a:cxnLst/>
            <a:rect r="r" b="b" t="t" l="l"/>
            <a:pathLst>
              <a:path h="4366706" w="2909318">
                <a:moveTo>
                  <a:pt x="0" y="0"/>
                </a:moveTo>
                <a:lnTo>
                  <a:pt x="2909318" y="0"/>
                </a:lnTo>
                <a:lnTo>
                  <a:pt x="2909318" y="4366706"/>
                </a:lnTo>
                <a:lnTo>
                  <a:pt x="0" y="4366706"/>
                </a:lnTo>
                <a:lnTo>
                  <a:pt x="0" y="0"/>
                </a:lnTo>
                <a:close/>
              </a:path>
            </a:pathLst>
          </a:custGeom>
          <a:blipFill>
            <a:blip r:embed="rId2"/>
            <a:stretch>
              <a:fillRect l="0" t="0" r="0" b="0"/>
            </a:stretch>
          </a:blipFill>
        </p:spPr>
      </p:sp>
      <p:sp>
        <p:nvSpPr>
          <p:cNvPr name="Freeform 7" id="7"/>
          <p:cNvSpPr/>
          <p:nvPr/>
        </p:nvSpPr>
        <p:spPr>
          <a:xfrm flipH="false" flipV="false" rot="0">
            <a:off x="12124826" y="-5328158"/>
            <a:ext cx="10674613" cy="9915287"/>
          </a:xfrm>
          <a:custGeom>
            <a:avLst/>
            <a:gdLst/>
            <a:ahLst/>
            <a:cxnLst/>
            <a:rect r="r" b="b" t="t" l="l"/>
            <a:pathLst>
              <a:path h="9915287" w="10674613">
                <a:moveTo>
                  <a:pt x="0" y="0"/>
                </a:moveTo>
                <a:lnTo>
                  <a:pt x="10674613" y="0"/>
                </a:lnTo>
                <a:lnTo>
                  <a:pt x="10674613" y="9915287"/>
                </a:lnTo>
                <a:lnTo>
                  <a:pt x="0" y="9915287"/>
                </a:lnTo>
                <a:lnTo>
                  <a:pt x="0" y="0"/>
                </a:lnTo>
                <a:close/>
              </a:path>
            </a:pathLst>
          </a:custGeom>
          <a:blipFill>
            <a:blip r:embed="rId3">
              <a:extLst>
                <a:ext uri="{96DAC541-7B7A-43D3-8B79-37D633B846F1}">
                  <asvg:svgBlip xmlns:asvg="http://schemas.microsoft.com/office/drawing/2016/SVG/main" r:embed="rId4"/>
                </a:ext>
              </a:extLst>
            </a:blip>
            <a:stretch>
              <a:fillRect l="-40376" t="0" r="0" b="0"/>
            </a:stretch>
          </a:blipFill>
        </p:spPr>
      </p:sp>
      <p:sp>
        <p:nvSpPr>
          <p:cNvPr name="Freeform 8" id="8"/>
          <p:cNvSpPr/>
          <p:nvPr/>
        </p:nvSpPr>
        <p:spPr>
          <a:xfrm flipH="false" flipV="false" rot="-9077721">
            <a:off x="-5136611" y="5782264"/>
            <a:ext cx="8625757" cy="7874752"/>
          </a:xfrm>
          <a:custGeom>
            <a:avLst/>
            <a:gdLst/>
            <a:ahLst/>
            <a:cxnLst/>
            <a:rect r="r" b="b" t="t" l="l"/>
            <a:pathLst>
              <a:path h="7874752" w="8625757">
                <a:moveTo>
                  <a:pt x="0" y="0"/>
                </a:moveTo>
                <a:lnTo>
                  <a:pt x="8625757" y="0"/>
                </a:lnTo>
                <a:lnTo>
                  <a:pt x="8625757" y="7874752"/>
                </a:lnTo>
                <a:lnTo>
                  <a:pt x="0" y="7874752"/>
                </a:lnTo>
                <a:lnTo>
                  <a:pt x="0" y="0"/>
                </a:lnTo>
                <a:close/>
              </a:path>
            </a:pathLst>
          </a:custGeom>
          <a:blipFill>
            <a:blip r:embed="rId3">
              <a:extLst>
                <a:ext uri="{96DAC541-7B7A-43D3-8B79-37D633B846F1}">
                  <asvg:svgBlip xmlns:asvg="http://schemas.microsoft.com/office/drawing/2016/SVG/main" r:embed="rId4"/>
                </a:ext>
              </a:extLst>
            </a:blip>
            <a:stretch>
              <a:fillRect l="-37968" t="0" r="0" b="0"/>
            </a:stretch>
          </a:blipFill>
        </p:spPr>
      </p:sp>
      <p:sp>
        <p:nvSpPr>
          <p:cNvPr name="Freeform 9" id="9"/>
          <p:cNvSpPr/>
          <p:nvPr/>
        </p:nvSpPr>
        <p:spPr>
          <a:xfrm flipH="false" flipV="false" rot="0">
            <a:off x="2799287" y="3516668"/>
            <a:ext cx="2928246" cy="4407931"/>
          </a:xfrm>
          <a:custGeom>
            <a:avLst/>
            <a:gdLst/>
            <a:ahLst/>
            <a:cxnLst/>
            <a:rect r="r" b="b" t="t" l="l"/>
            <a:pathLst>
              <a:path h="4407931" w="2928246">
                <a:moveTo>
                  <a:pt x="0" y="0"/>
                </a:moveTo>
                <a:lnTo>
                  <a:pt x="2928246" y="0"/>
                </a:lnTo>
                <a:lnTo>
                  <a:pt x="2928246" y="4407932"/>
                </a:lnTo>
                <a:lnTo>
                  <a:pt x="0" y="4407932"/>
                </a:lnTo>
                <a:lnTo>
                  <a:pt x="0" y="0"/>
                </a:lnTo>
                <a:close/>
              </a:path>
            </a:pathLst>
          </a:custGeom>
          <a:blipFill>
            <a:blip r:embed="rId5"/>
            <a:stretch>
              <a:fillRect l="-22442" t="-21655" r="-16578" b="-1482"/>
            </a:stretch>
          </a:blipFill>
        </p:spPr>
      </p:sp>
      <p:sp>
        <p:nvSpPr>
          <p:cNvPr name="Freeform 10" id="10"/>
          <p:cNvSpPr/>
          <p:nvPr/>
        </p:nvSpPr>
        <p:spPr>
          <a:xfrm flipH="false" flipV="false" rot="0">
            <a:off x="9276280" y="3534726"/>
            <a:ext cx="2967937" cy="4348649"/>
          </a:xfrm>
          <a:custGeom>
            <a:avLst/>
            <a:gdLst/>
            <a:ahLst/>
            <a:cxnLst/>
            <a:rect r="r" b="b" t="t" l="l"/>
            <a:pathLst>
              <a:path h="4348649" w="2967937">
                <a:moveTo>
                  <a:pt x="0" y="0"/>
                </a:moveTo>
                <a:lnTo>
                  <a:pt x="2967937" y="0"/>
                </a:lnTo>
                <a:lnTo>
                  <a:pt x="2967937" y="4348648"/>
                </a:lnTo>
                <a:lnTo>
                  <a:pt x="0" y="4348648"/>
                </a:lnTo>
                <a:lnTo>
                  <a:pt x="0" y="0"/>
                </a:lnTo>
                <a:close/>
              </a:path>
            </a:pathLst>
          </a:custGeom>
          <a:blipFill>
            <a:blip r:embed="rId6"/>
            <a:stretch>
              <a:fillRect l="-6974" t="0" r="-2916" b="0"/>
            </a:stretch>
          </a:blipFill>
        </p:spPr>
      </p:sp>
      <p:sp>
        <p:nvSpPr>
          <p:cNvPr name="Freeform 11" id="11"/>
          <p:cNvSpPr/>
          <p:nvPr/>
        </p:nvSpPr>
        <p:spPr>
          <a:xfrm flipH="false" flipV="false" rot="0">
            <a:off x="5910844" y="3516668"/>
            <a:ext cx="2987810" cy="4366706"/>
          </a:xfrm>
          <a:custGeom>
            <a:avLst/>
            <a:gdLst/>
            <a:ahLst/>
            <a:cxnLst/>
            <a:rect r="r" b="b" t="t" l="l"/>
            <a:pathLst>
              <a:path h="4366706" w="2987810">
                <a:moveTo>
                  <a:pt x="0" y="0"/>
                </a:moveTo>
                <a:lnTo>
                  <a:pt x="2987810" y="0"/>
                </a:lnTo>
                <a:lnTo>
                  <a:pt x="2987810" y="4366706"/>
                </a:lnTo>
                <a:lnTo>
                  <a:pt x="0" y="4366706"/>
                </a:lnTo>
                <a:lnTo>
                  <a:pt x="0" y="0"/>
                </a:lnTo>
                <a:close/>
              </a:path>
            </a:pathLst>
          </a:custGeom>
          <a:blipFill>
            <a:blip r:embed="rId7"/>
            <a:stretch>
              <a:fillRect l="0" t="0" r="-9613" b="0"/>
            </a:stretch>
          </a:blipFill>
        </p:spPr>
      </p:sp>
      <p:sp>
        <p:nvSpPr>
          <p:cNvPr name="Freeform 12" id="12"/>
          <p:cNvSpPr/>
          <p:nvPr/>
        </p:nvSpPr>
        <p:spPr>
          <a:xfrm flipH="false" flipV="false" rot="0">
            <a:off x="12791847" y="3575951"/>
            <a:ext cx="3069011" cy="4348649"/>
          </a:xfrm>
          <a:custGeom>
            <a:avLst/>
            <a:gdLst/>
            <a:ahLst/>
            <a:cxnLst/>
            <a:rect r="r" b="b" t="t" l="l"/>
            <a:pathLst>
              <a:path h="4348649" w="3069011">
                <a:moveTo>
                  <a:pt x="0" y="0"/>
                </a:moveTo>
                <a:lnTo>
                  <a:pt x="3069011" y="0"/>
                </a:lnTo>
                <a:lnTo>
                  <a:pt x="3069011" y="4348649"/>
                </a:lnTo>
                <a:lnTo>
                  <a:pt x="0" y="4348649"/>
                </a:lnTo>
                <a:lnTo>
                  <a:pt x="0" y="0"/>
                </a:lnTo>
                <a:close/>
              </a:path>
            </a:pathLst>
          </a:custGeom>
          <a:blipFill>
            <a:blip r:embed="rId8"/>
            <a:stretch>
              <a:fillRect l="-6517" t="0" r="0" b="0"/>
            </a:stretch>
          </a:blipFill>
        </p:spPr>
      </p:sp>
      <p:sp>
        <p:nvSpPr>
          <p:cNvPr name="TextBox 13" id="13"/>
          <p:cNvSpPr txBox="true"/>
          <p:nvPr/>
        </p:nvSpPr>
        <p:spPr>
          <a:xfrm rot="0">
            <a:off x="4524394" y="2150277"/>
            <a:ext cx="6580836" cy="891540"/>
          </a:xfrm>
          <a:prstGeom prst="rect">
            <a:avLst/>
          </a:prstGeom>
        </p:spPr>
        <p:txBody>
          <a:bodyPr anchor="t" rtlCol="false" tIns="0" lIns="0" bIns="0" rIns="0">
            <a:spAutoFit/>
          </a:bodyPr>
          <a:lstStyle/>
          <a:p>
            <a:pPr algn="l">
              <a:lnSpc>
                <a:spcPts val="6600"/>
              </a:lnSpc>
            </a:pPr>
            <a:r>
              <a:rPr lang="en-US" b="true" sz="6600" spc="772">
                <a:solidFill>
                  <a:srgbClr val="FFFFFF"/>
                </a:solidFill>
                <a:latin typeface="Glacial Indifference Bold"/>
                <a:ea typeface="Glacial Indifference Bold"/>
                <a:cs typeface="Glacial Indifference Bold"/>
                <a:sym typeface="Glacial Indifference Bold"/>
              </a:rPr>
              <a:t>OUR TEAM</a:t>
            </a:r>
          </a:p>
        </p:txBody>
      </p:sp>
      <p:sp>
        <p:nvSpPr>
          <p:cNvPr name="TextBox 14" id="14"/>
          <p:cNvSpPr txBox="true"/>
          <p:nvPr/>
        </p:nvSpPr>
        <p:spPr>
          <a:xfrm rot="0">
            <a:off x="2945566" y="8061578"/>
            <a:ext cx="2781967" cy="764441"/>
          </a:xfrm>
          <a:prstGeom prst="rect">
            <a:avLst/>
          </a:prstGeom>
        </p:spPr>
        <p:txBody>
          <a:bodyPr anchor="t" rtlCol="false" tIns="0" lIns="0" bIns="0" rIns="0">
            <a:spAutoFit/>
          </a:bodyPr>
          <a:lstStyle/>
          <a:p>
            <a:pPr algn="ctr">
              <a:lnSpc>
                <a:spcPts val="3015"/>
              </a:lnSpc>
            </a:pPr>
            <a:r>
              <a:rPr lang="en-US" sz="2153" b="true">
                <a:solidFill>
                  <a:srgbClr val="FFFFFF"/>
                </a:solidFill>
                <a:latin typeface="Aileron Bold"/>
                <a:ea typeface="Aileron Bold"/>
                <a:cs typeface="Aileron Bold"/>
                <a:sym typeface="Aileron Bold"/>
              </a:rPr>
              <a:t>Edirisuriya M.G.R</a:t>
            </a:r>
          </a:p>
          <a:p>
            <a:pPr algn="ctr">
              <a:lnSpc>
                <a:spcPts val="3015"/>
              </a:lnSpc>
              <a:spcBef>
                <a:spcPct val="0"/>
              </a:spcBef>
            </a:pPr>
            <a:r>
              <a:rPr lang="en-US" b="true" sz="2153">
                <a:solidFill>
                  <a:srgbClr val="FFFFFF"/>
                </a:solidFill>
                <a:latin typeface="Aileron Bold"/>
                <a:ea typeface="Aileron Bold"/>
                <a:cs typeface="Aileron Bold"/>
                <a:sym typeface="Aileron Bold"/>
              </a:rPr>
              <a:t>IT21380846</a:t>
            </a:r>
          </a:p>
        </p:txBody>
      </p:sp>
      <p:sp>
        <p:nvSpPr>
          <p:cNvPr name="TextBox 15" id="15"/>
          <p:cNvSpPr txBox="true"/>
          <p:nvPr/>
        </p:nvSpPr>
        <p:spPr>
          <a:xfrm rot="0">
            <a:off x="12791847" y="8061578"/>
            <a:ext cx="2469039" cy="383441"/>
          </a:xfrm>
          <a:prstGeom prst="rect">
            <a:avLst/>
          </a:prstGeom>
        </p:spPr>
        <p:txBody>
          <a:bodyPr anchor="t" rtlCol="false" tIns="0" lIns="0" bIns="0" rIns="0">
            <a:spAutoFit/>
          </a:bodyPr>
          <a:lstStyle/>
          <a:p>
            <a:pPr algn="ctr">
              <a:lnSpc>
                <a:spcPts val="3015"/>
              </a:lnSpc>
              <a:spcBef>
                <a:spcPct val="0"/>
              </a:spcBef>
            </a:pPr>
            <a:r>
              <a:rPr lang="en-US" b="true" sz="2153">
                <a:solidFill>
                  <a:srgbClr val="FFFFFF"/>
                </a:solidFill>
                <a:latin typeface="Aileron Bold"/>
                <a:ea typeface="Aileron Bold"/>
                <a:cs typeface="Aileron Bold"/>
                <a:sym typeface="Aileron Bold"/>
              </a:rPr>
              <a:t>Pinidiya Y.H</a:t>
            </a:r>
          </a:p>
        </p:txBody>
      </p:sp>
      <p:sp>
        <p:nvSpPr>
          <p:cNvPr name="TextBox 16" id="16"/>
          <p:cNvSpPr txBox="true"/>
          <p:nvPr/>
        </p:nvSpPr>
        <p:spPr>
          <a:xfrm rot="0">
            <a:off x="13022597" y="8415194"/>
            <a:ext cx="2007538" cy="383540"/>
          </a:xfrm>
          <a:prstGeom prst="rect">
            <a:avLst/>
          </a:prstGeom>
        </p:spPr>
        <p:txBody>
          <a:bodyPr anchor="t" rtlCol="false" tIns="0" lIns="0" bIns="0" rIns="0">
            <a:spAutoFit/>
          </a:bodyPr>
          <a:lstStyle/>
          <a:p>
            <a:pPr algn="ctr">
              <a:lnSpc>
                <a:spcPts val="3010"/>
              </a:lnSpc>
              <a:spcBef>
                <a:spcPct val="0"/>
              </a:spcBef>
            </a:pPr>
            <a:r>
              <a:rPr lang="en-US" b="true" sz="2150">
                <a:solidFill>
                  <a:srgbClr val="FFFFFF"/>
                </a:solidFill>
                <a:latin typeface="Aileron Bold"/>
                <a:ea typeface="Aileron Bold"/>
                <a:cs typeface="Aileron Bold"/>
                <a:sym typeface="Aileron Bold"/>
              </a:rPr>
              <a:t>IT21387012</a:t>
            </a:r>
          </a:p>
        </p:txBody>
      </p:sp>
      <p:sp>
        <p:nvSpPr>
          <p:cNvPr name="TextBox 17" id="17"/>
          <p:cNvSpPr txBox="true"/>
          <p:nvPr/>
        </p:nvSpPr>
        <p:spPr>
          <a:xfrm rot="0">
            <a:off x="6014412" y="7994755"/>
            <a:ext cx="2781967" cy="383441"/>
          </a:xfrm>
          <a:prstGeom prst="rect">
            <a:avLst/>
          </a:prstGeom>
        </p:spPr>
        <p:txBody>
          <a:bodyPr anchor="t" rtlCol="false" tIns="0" lIns="0" bIns="0" rIns="0">
            <a:spAutoFit/>
          </a:bodyPr>
          <a:lstStyle/>
          <a:p>
            <a:pPr algn="ctr">
              <a:lnSpc>
                <a:spcPts val="3015"/>
              </a:lnSpc>
              <a:spcBef>
                <a:spcPct val="0"/>
              </a:spcBef>
            </a:pPr>
            <a:r>
              <a:rPr lang="en-US" b="true" sz="2153">
                <a:solidFill>
                  <a:srgbClr val="FFFFFF"/>
                </a:solidFill>
                <a:latin typeface="Aileron Bold"/>
                <a:ea typeface="Aileron Bold"/>
                <a:cs typeface="Aileron Bold"/>
                <a:sym typeface="Aileron Bold"/>
              </a:rPr>
              <a:t>Athukorala A.P.U</a:t>
            </a:r>
          </a:p>
        </p:txBody>
      </p:sp>
      <p:sp>
        <p:nvSpPr>
          <p:cNvPr name="TextBox 18" id="18"/>
          <p:cNvSpPr txBox="true"/>
          <p:nvPr/>
        </p:nvSpPr>
        <p:spPr>
          <a:xfrm rot="0">
            <a:off x="9276280" y="8013805"/>
            <a:ext cx="3039317" cy="381935"/>
          </a:xfrm>
          <a:prstGeom prst="rect">
            <a:avLst/>
          </a:prstGeom>
        </p:spPr>
        <p:txBody>
          <a:bodyPr anchor="t" rtlCol="false" tIns="0" lIns="0" bIns="0" rIns="0">
            <a:spAutoFit/>
          </a:bodyPr>
          <a:lstStyle/>
          <a:p>
            <a:pPr algn="ctr">
              <a:lnSpc>
                <a:spcPts val="3177"/>
              </a:lnSpc>
              <a:spcBef>
                <a:spcPct val="0"/>
              </a:spcBef>
            </a:pPr>
            <a:r>
              <a:rPr lang="en-US" b="true" sz="2269">
                <a:solidFill>
                  <a:srgbClr val="FFFFFF"/>
                </a:solidFill>
                <a:latin typeface="Aileron Bold"/>
                <a:ea typeface="Aileron Bold"/>
                <a:cs typeface="Aileron Bold"/>
                <a:sym typeface="Aileron Bold"/>
              </a:rPr>
              <a:t>Ranasinghe R.M.P.A</a:t>
            </a:r>
          </a:p>
        </p:txBody>
      </p:sp>
      <p:sp>
        <p:nvSpPr>
          <p:cNvPr name="TextBox 19" id="19"/>
          <p:cNvSpPr txBox="true"/>
          <p:nvPr/>
        </p:nvSpPr>
        <p:spPr>
          <a:xfrm rot="0">
            <a:off x="9442517" y="8401581"/>
            <a:ext cx="2635462" cy="383441"/>
          </a:xfrm>
          <a:prstGeom prst="rect">
            <a:avLst/>
          </a:prstGeom>
        </p:spPr>
        <p:txBody>
          <a:bodyPr anchor="t" rtlCol="false" tIns="0" lIns="0" bIns="0" rIns="0">
            <a:spAutoFit/>
          </a:bodyPr>
          <a:lstStyle/>
          <a:p>
            <a:pPr algn="ctr">
              <a:lnSpc>
                <a:spcPts val="3015"/>
              </a:lnSpc>
              <a:spcBef>
                <a:spcPct val="0"/>
              </a:spcBef>
            </a:pPr>
            <a:r>
              <a:rPr lang="en-US" b="true" sz="2153">
                <a:solidFill>
                  <a:srgbClr val="FFFFFF"/>
                </a:solidFill>
                <a:latin typeface="Aileron Bold"/>
                <a:ea typeface="Aileron Bold"/>
                <a:cs typeface="Aileron Bold"/>
                <a:sym typeface="Aileron Bold"/>
              </a:rPr>
              <a:t>IT21384738</a:t>
            </a:r>
          </a:p>
        </p:txBody>
      </p:sp>
      <p:sp>
        <p:nvSpPr>
          <p:cNvPr name="TextBox 20" id="20"/>
          <p:cNvSpPr txBox="true"/>
          <p:nvPr/>
        </p:nvSpPr>
        <p:spPr>
          <a:xfrm rot="0">
            <a:off x="6014412" y="8401581"/>
            <a:ext cx="2635462" cy="383441"/>
          </a:xfrm>
          <a:prstGeom prst="rect">
            <a:avLst/>
          </a:prstGeom>
        </p:spPr>
        <p:txBody>
          <a:bodyPr anchor="t" rtlCol="false" tIns="0" lIns="0" bIns="0" rIns="0">
            <a:spAutoFit/>
          </a:bodyPr>
          <a:lstStyle/>
          <a:p>
            <a:pPr algn="ctr">
              <a:lnSpc>
                <a:spcPts val="3015"/>
              </a:lnSpc>
              <a:spcBef>
                <a:spcPct val="0"/>
              </a:spcBef>
            </a:pPr>
            <a:r>
              <a:rPr lang="en-US" b="true" sz="2153">
                <a:solidFill>
                  <a:srgbClr val="FFFFFF"/>
                </a:solidFill>
                <a:latin typeface="Aileron Bold"/>
                <a:ea typeface="Aileron Bold"/>
                <a:cs typeface="Aileron Bold"/>
                <a:sym typeface="Aileron Bold"/>
              </a:rPr>
              <a:t>IT21304224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9286875" y="2661654"/>
            <a:ext cx="7499322" cy="4691106"/>
            <a:chOff x="0" y="0"/>
            <a:chExt cx="1975130" cy="1235518"/>
          </a:xfrm>
        </p:grpSpPr>
        <p:sp>
          <p:nvSpPr>
            <p:cNvPr name="Freeform 3" id="3"/>
            <p:cNvSpPr/>
            <p:nvPr/>
          </p:nvSpPr>
          <p:spPr>
            <a:xfrm flipH="false" flipV="false" rot="0">
              <a:off x="0" y="0"/>
              <a:ext cx="1975130" cy="1235518"/>
            </a:xfrm>
            <a:custGeom>
              <a:avLst/>
              <a:gdLst/>
              <a:ahLst/>
              <a:cxnLst/>
              <a:rect r="r" b="b" t="t" l="l"/>
              <a:pathLst>
                <a:path h="1235518" w="1975130">
                  <a:moveTo>
                    <a:pt x="0" y="0"/>
                  </a:moveTo>
                  <a:lnTo>
                    <a:pt x="1975130" y="0"/>
                  </a:lnTo>
                  <a:lnTo>
                    <a:pt x="1975130" y="1235518"/>
                  </a:lnTo>
                  <a:lnTo>
                    <a:pt x="0" y="1235518"/>
                  </a:lnTo>
                  <a:close/>
                </a:path>
              </a:pathLst>
            </a:custGeom>
            <a:solidFill>
              <a:srgbClr val="D15353"/>
            </a:solidFill>
          </p:spPr>
        </p:sp>
        <p:sp>
          <p:nvSpPr>
            <p:cNvPr name="TextBox 4" id="4"/>
            <p:cNvSpPr txBox="true"/>
            <p:nvPr/>
          </p:nvSpPr>
          <p:spPr>
            <a:xfrm>
              <a:off x="0" y="-47625"/>
              <a:ext cx="1975130" cy="1283143"/>
            </a:xfrm>
            <a:prstGeom prst="rect">
              <a:avLst/>
            </a:prstGeom>
          </p:spPr>
          <p:txBody>
            <a:bodyPr anchor="ctr" rtlCol="false" tIns="50800" lIns="50800" bIns="50800" rIns="50800"/>
            <a:lstStyle/>
            <a:p>
              <a:pPr algn="ctr">
                <a:lnSpc>
                  <a:spcPts val="3244"/>
                </a:lnSpc>
              </a:pPr>
            </a:p>
          </p:txBody>
        </p:sp>
      </p:grpSp>
      <p:sp>
        <p:nvSpPr>
          <p:cNvPr name="Freeform 5" id="5"/>
          <p:cNvSpPr/>
          <p:nvPr/>
        </p:nvSpPr>
        <p:spPr>
          <a:xfrm flipH="false" flipV="false" rot="6979616">
            <a:off x="-2806960" y="-1213622"/>
            <a:ext cx="11173984" cy="7393795"/>
          </a:xfrm>
          <a:custGeom>
            <a:avLst/>
            <a:gdLst/>
            <a:ahLst/>
            <a:cxnLst/>
            <a:rect r="r" b="b" t="t" l="l"/>
            <a:pathLst>
              <a:path h="7393795" w="11173984">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772636" y="3500869"/>
            <a:ext cx="0" cy="1247775"/>
          </a:xfrm>
          <a:prstGeom prst="line">
            <a:avLst/>
          </a:prstGeom>
          <a:ln cap="flat" w="133350">
            <a:solidFill>
              <a:srgbClr val="D15353"/>
            </a:solidFill>
            <a:prstDash val="solid"/>
            <a:headEnd type="none" len="sm" w="sm"/>
            <a:tailEnd type="none" len="sm" w="sm"/>
          </a:ln>
        </p:spPr>
      </p:sp>
      <p:sp>
        <p:nvSpPr>
          <p:cNvPr name="Freeform 7" id="7"/>
          <p:cNvSpPr/>
          <p:nvPr/>
        </p:nvSpPr>
        <p:spPr>
          <a:xfrm flipH="false" flipV="false" rot="0">
            <a:off x="9568833" y="1238494"/>
            <a:ext cx="10250682" cy="5855702"/>
          </a:xfrm>
          <a:custGeom>
            <a:avLst/>
            <a:gdLst/>
            <a:ahLst/>
            <a:cxnLst/>
            <a:rect r="r" b="b" t="t" l="l"/>
            <a:pathLst>
              <a:path h="5855702" w="10250682">
                <a:moveTo>
                  <a:pt x="0" y="0"/>
                </a:moveTo>
                <a:lnTo>
                  <a:pt x="10250682" y="0"/>
                </a:lnTo>
                <a:lnTo>
                  <a:pt x="10250682" y="5855703"/>
                </a:lnTo>
                <a:lnTo>
                  <a:pt x="0" y="5855703"/>
                </a:lnTo>
                <a:lnTo>
                  <a:pt x="0" y="0"/>
                </a:lnTo>
                <a:close/>
              </a:path>
            </a:pathLst>
          </a:custGeom>
          <a:blipFill>
            <a:blip r:embed="rId4"/>
            <a:stretch>
              <a:fillRect l="0" t="0" r="0" b="0"/>
            </a:stretch>
          </a:blipFill>
        </p:spPr>
      </p:sp>
      <p:sp>
        <p:nvSpPr>
          <p:cNvPr name="TextBox 8" id="8"/>
          <p:cNvSpPr txBox="true"/>
          <p:nvPr/>
        </p:nvSpPr>
        <p:spPr>
          <a:xfrm rot="0">
            <a:off x="1978089" y="3500869"/>
            <a:ext cx="6940283" cy="1171575"/>
          </a:xfrm>
          <a:prstGeom prst="rect">
            <a:avLst/>
          </a:prstGeom>
        </p:spPr>
        <p:txBody>
          <a:bodyPr anchor="t" rtlCol="false" tIns="0" lIns="0" bIns="0" rIns="0">
            <a:spAutoFit/>
          </a:bodyPr>
          <a:lstStyle/>
          <a:p>
            <a:pPr algn="l" marL="0" indent="0" lvl="0">
              <a:lnSpc>
                <a:spcPts val="9240"/>
              </a:lnSpc>
              <a:spcBef>
                <a:spcPct val="0"/>
              </a:spcBef>
            </a:pPr>
            <a:r>
              <a:rPr lang="en-US" b="true" sz="7700">
                <a:solidFill>
                  <a:srgbClr val="253439"/>
                </a:solidFill>
                <a:latin typeface="Glacial Indifference Bold"/>
                <a:ea typeface="Glacial Indifference Bold"/>
                <a:cs typeface="Glacial Indifference Bold"/>
                <a:sym typeface="Glacial Indifference Bold"/>
              </a:rPr>
              <a:t>INTRODUCTION</a:t>
            </a:r>
          </a:p>
        </p:txBody>
      </p:sp>
      <p:sp>
        <p:nvSpPr>
          <p:cNvPr name="TextBox 9" id="9"/>
          <p:cNvSpPr txBox="true"/>
          <p:nvPr/>
        </p:nvSpPr>
        <p:spPr>
          <a:xfrm rot="0">
            <a:off x="1304682" y="5563343"/>
            <a:ext cx="7839318" cy="3694957"/>
          </a:xfrm>
          <a:prstGeom prst="rect">
            <a:avLst/>
          </a:prstGeom>
        </p:spPr>
        <p:txBody>
          <a:bodyPr anchor="t" rtlCol="false" tIns="0" lIns="0" bIns="0" rIns="0">
            <a:spAutoFit/>
          </a:bodyPr>
          <a:lstStyle/>
          <a:p>
            <a:pPr algn="ctr">
              <a:lnSpc>
                <a:spcPts val="4904"/>
              </a:lnSpc>
            </a:pPr>
            <a:r>
              <a:rPr lang="en-US" b="true" sz="3269">
                <a:solidFill>
                  <a:srgbClr val="253439"/>
                </a:solidFill>
                <a:latin typeface="Aileron Bold"/>
                <a:ea typeface="Aileron Bold"/>
                <a:cs typeface="Aileron Bold"/>
                <a:sym typeface="Aileron Bold"/>
              </a:rPr>
              <a:t>This app introduces a comprehensive methodology for fitness tracking including meal planning, Real time biomechanics, Dynamic body composition analysis, health forecasting and much more.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53439"/>
        </a:solidFill>
      </p:bgPr>
    </p:bg>
    <p:spTree>
      <p:nvGrpSpPr>
        <p:cNvPr id="1" name=""/>
        <p:cNvGrpSpPr/>
        <p:nvPr/>
      </p:nvGrpSpPr>
      <p:grpSpPr>
        <a:xfrm>
          <a:off x="0" y="0"/>
          <a:ext cx="0" cy="0"/>
          <a:chOff x="0" y="0"/>
          <a:chExt cx="0" cy="0"/>
        </a:xfrm>
      </p:grpSpPr>
      <p:sp>
        <p:nvSpPr>
          <p:cNvPr name="Freeform 2" id="2"/>
          <p:cNvSpPr/>
          <p:nvPr/>
        </p:nvSpPr>
        <p:spPr>
          <a:xfrm flipH="false" flipV="false" rot="3791821">
            <a:off x="-4090527" y="1974085"/>
            <a:ext cx="14579653" cy="8694775"/>
          </a:xfrm>
          <a:custGeom>
            <a:avLst/>
            <a:gdLst/>
            <a:ahLst/>
            <a:cxnLst/>
            <a:rect r="r" b="b" t="t" l="l"/>
            <a:pathLst>
              <a:path h="8694775" w="14579653">
                <a:moveTo>
                  <a:pt x="0" y="0"/>
                </a:moveTo>
                <a:lnTo>
                  <a:pt x="14579652" y="0"/>
                </a:lnTo>
                <a:lnTo>
                  <a:pt x="14579652" y="8694775"/>
                </a:lnTo>
                <a:lnTo>
                  <a:pt x="0" y="86947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41036" y="2134403"/>
            <a:ext cx="20370072" cy="6609781"/>
            <a:chOff x="0" y="0"/>
            <a:chExt cx="5364957" cy="1740848"/>
          </a:xfrm>
        </p:grpSpPr>
        <p:sp>
          <p:nvSpPr>
            <p:cNvPr name="Freeform 4" id="4"/>
            <p:cNvSpPr/>
            <p:nvPr/>
          </p:nvSpPr>
          <p:spPr>
            <a:xfrm flipH="false" flipV="false" rot="0">
              <a:off x="0" y="0"/>
              <a:ext cx="5364957" cy="1740848"/>
            </a:xfrm>
            <a:custGeom>
              <a:avLst/>
              <a:gdLst/>
              <a:ahLst/>
              <a:cxnLst/>
              <a:rect r="r" b="b" t="t" l="l"/>
              <a:pathLst>
                <a:path h="1740848" w="5364957">
                  <a:moveTo>
                    <a:pt x="0" y="0"/>
                  </a:moveTo>
                  <a:lnTo>
                    <a:pt x="5364957" y="0"/>
                  </a:lnTo>
                  <a:lnTo>
                    <a:pt x="5364957" y="1740848"/>
                  </a:lnTo>
                  <a:lnTo>
                    <a:pt x="0" y="1740848"/>
                  </a:lnTo>
                  <a:close/>
                </a:path>
              </a:pathLst>
            </a:custGeom>
            <a:gradFill rotWithShape="true">
              <a:gsLst>
                <a:gs pos="0">
                  <a:srgbClr val="FDF7EF">
                    <a:alpha val="100000"/>
                  </a:srgbClr>
                </a:gs>
                <a:gs pos="100000">
                  <a:srgbClr val="FFFFFF">
                    <a:alpha val="100000"/>
                  </a:srgbClr>
                </a:gs>
              </a:gsLst>
              <a:lin ang="0"/>
            </a:gradFill>
          </p:spPr>
        </p:sp>
        <p:sp>
          <p:nvSpPr>
            <p:cNvPr name="TextBox 5" id="5"/>
            <p:cNvSpPr txBox="true"/>
            <p:nvPr/>
          </p:nvSpPr>
          <p:spPr>
            <a:xfrm>
              <a:off x="0" y="9525"/>
              <a:ext cx="5364957" cy="1731323"/>
            </a:xfrm>
            <a:prstGeom prst="rect">
              <a:avLst/>
            </a:prstGeom>
          </p:spPr>
          <p:txBody>
            <a:bodyPr anchor="ctr" rtlCol="false" tIns="50800" lIns="50800" bIns="50800" rIns="50800"/>
            <a:lstStyle/>
            <a:p>
              <a:pPr algn="ctr">
                <a:lnSpc>
                  <a:spcPts val="1869"/>
                </a:lnSpc>
              </a:pPr>
            </a:p>
          </p:txBody>
        </p:sp>
      </p:grpSp>
      <p:sp>
        <p:nvSpPr>
          <p:cNvPr name="TextBox 6" id="6"/>
          <p:cNvSpPr txBox="true"/>
          <p:nvPr/>
        </p:nvSpPr>
        <p:spPr>
          <a:xfrm rot="0">
            <a:off x="-1189230" y="3915989"/>
            <a:ext cx="6337699" cy="941070"/>
          </a:xfrm>
          <a:prstGeom prst="rect">
            <a:avLst/>
          </a:prstGeom>
        </p:spPr>
        <p:txBody>
          <a:bodyPr anchor="t" rtlCol="false" tIns="0" lIns="0" bIns="0" rIns="0">
            <a:spAutoFit/>
          </a:bodyPr>
          <a:lstStyle/>
          <a:p>
            <a:pPr algn="r">
              <a:lnSpc>
                <a:spcPts val="7259"/>
              </a:lnSpc>
            </a:pPr>
            <a:r>
              <a:rPr lang="en-US" sz="6599">
                <a:solidFill>
                  <a:srgbClr val="000000"/>
                </a:solidFill>
                <a:latin typeface="HK Grotesk Light"/>
                <a:ea typeface="HK Grotesk Light"/>
                <a:cs typeface="HK Grotesk Light"/>
                <a:sym typeface="HK Grotesk Light"/>
              </a:rPr>
              <a:t>RESEARCH</a:t>
            </a:r>
          </a:p>
        </p:txBody>
      </p:sp>
      <p:sp>
        <p:nvSpPr>
          <p:cNvPr name="TextBox 7" id="7"/>
          <p:cNvSpPr txBox="true"/>
          <p:nvPr/>
        </p:nvSpPr>
        <p:spPr>
          <a:xfrm rot="0">
            <a:off x="6307919" y="2327581"/>
            <a:ext cx="11189655" cy="6292188"/>
          </a:xfrm>
          <a:prstGeom prst="rect">
            <a:avLst/>
          </a:prstGeom>
        </p:spPr>
        <p:txBody>
          <a:bodyPr anchor="t" rtlCol="false" tIns="0" lIns="0" bIns="0" rIns="0">
            <a:spAutoFit/>
          </a:bodyPr>
          <a:lstStyle/>
          <a:p>
            <a:pPr algn="ctr">
              <a:lnSpc>
                <a:spcPts val="6289"/>
              </a:lnSpc>
            </a:pPr>
            <a:r>
              <a:rPr lang="en-US" sz="4278" b="true">
                <a:solidFill>
                  <a:srgbClr val="840101"/>
                </a:solidFill>
                <a:latin typeface="Aileron Bold"/>
                <a:ea typeface="Aileron Bold"/>
                <a:cs typeface="Aileron Bold"/>
                <a:sym typeface="Aileron Bold"/>
              </a:rPr>
              <a:t>This research addresses difficulties that pose to people when tracking their fitness, planning a healthy meal,  getting real-time biomechanics and body composition analysis by themselves</a:t>
            </a:r>
            <a:r>
              <a:rPr lang="en-US" sz="4278" b="true">
                <a:solidFill>
                  <a:srgbClr val="000000"/>
                </a:solidFill>
                <a:latin typeface="Aileron Bold"/>
                <a:ea typeface="Aileron Bold"/>
                <a:cs typeface="Aileron Bold"/>
                <a:sym typeface="Aileron Bold"/>
              </a:rPr>
              <a:t>.</a:t>
            </a:r>
            <a:r>
              <a:rPr lang="en-US" sz="4278">
                <a:solidFill>
                  <a:srgbClr val="000000"/>
                </a:solidFill>
                <a:latin typeface="Aileron"/>
                <a:ea typeface="Aileron"/>
                <a:cs typeface="Aileron"/>
                <a:sym typeface="Aileron"/>
              </a:rPr>
              <a:t> </a:t>
            </a:r>
          </a:p>
          <a:p>
            <a:pPr algn="ctr">
              <a:lnSpc>
                <a:spcPts val="6289"/>
              </a:lnSpc>
            </a:pPr>
            <a:r>
              <a:rPr lang="en-US" sz="4278">
                <a:solidFill>
                  <a:srgbClr val="000000"/>
                </a:solidFill>
                <a:latin typeface="Aileron"/>
                <a:ea typeface="Aileron"/>
                <a:cs typeface="Aileron"/>
                <a:sym typeface="Aileron"/>
              </a:rPr>
              <a:t>We </a:t>
            </a:r>
            <a:r>
              <a:rPr lang="en-US" sz="4278">
                <a:solidFill>
                  <a:srgbClr val="000000"/>
                </a:solidFill>
                <a:latin typeface="Aileron"/>
                <a:ea typeface="Aileron"/>
                <a:cs typeface="Aileron"/>
                <a:sym typeface="Aileron"/>
              </a:rPr>
              <a:t>Try to develop a solution to overcome those difficulties using a single mobile application . </a:t>
            </a:r>
          </a:p>
        </p:txBody>
      </p:sp>
      <p:sp>
        <p:nvSpPr>
          <p:cNvPr name="TextBox 8" id="8"/>
          <p:cNvSpPr txBox="true"/>
          <p:nvPr/>
        </p:nvSpPr>
        <p:spPr>
          <a:xfrm rot="0">
            <a:off x="-1041036" y="4933259"/>
            <a:ext cx="6337699" cy="1088390"/>
          </a:xfrm>
          <a:prstGeom prst="rect">
            <a:avLst/>
          </a:prstGeom>
        </p:spPr>
        <p:txBody>
          <a:bodyPr anchor="t" rtlCol="false" tIns="0" lIns="0" bIns="0" rIns="0">
            <a:spAutoFit/>
          </a:bodyPr>
          <a:lstStyle/>
          <a:p>
            <a:pPr algn="r">
              <a:lnSpc>
                <a:spcPts val="8470"/>
              </a:lnSpc>
            </a:pPr>
            <a:r>
              <a:rPr lang="en-US" b="true" sz="7700" spc="246">
                <a:solidFill>
                  <a:srgbClr val="000000"/>
                </a:solidFill>
                <a:latin typeface="Glacial Indifference Bold"/>
                <a:ea typeface="Glacial Indifference Bold"/>
                <a:cs typeface="Glacial Indifference Bold"/>
                <a:sym typeface="Glacial Indifference Bold"/>
              </a:rPr>
              <a:t>PROBLEM</a:t>
            </a:r>
          </a:p>
        </p:txBody>
      </p:sp>
      <p:sp>
        <p:nvSpPr>
          <p:cNvPr name="AutoShape 9" id="9"/>
          <p:cNvSpPr/>
          <p:nvPr/>
        </p:nvSpPr>
        <p:spPr>
          <a:xfrm>
            <a:off x="5726894" y="3225165"/>
            <a:ext cx="0" cy="4106023"/>
          </a:xfrm>
          <a:prstGeom prst="line">
            <a:avLst/>
          </a:prstGeom>
          <a:ln cap="flat" w="133350">
            <a:solidFill>
              <a:srgbClr val="D15353"/>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6979616">
            <a:off x="7809083" y="6024590"/>
            <a:ext cx="11173984" cy="7393795"/>
          </a:xfrm>
          <a:custGeom>
            <a:avLst/>
            <a:gdLst/>
            <a:ahLst/>
            <a:cxnLst/>
            <a:rect r="r" b="b" t="t" l="l"/>
            <a:pathLst>
              <a:path h="7393795" w="11173984">
                <a:moveTo>
                  <a:pt x="0" y="0"/>
                </a:moveTo>
                <a:lnTo>
                  <a:pt x="11173984" y="0"/>
                </a:lnTo>
                <a:lnTo>
                  <a:pt x="11173984" y="7393794"/>
                </a:lnTo>
                <a:lnTo>
                  <a:pt x="0" y="7393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1095375" y="1042515"/>
            <a:ext cx="0" cy="2293092"/>
          </a:xfrm>
          <a:prstGeom prst="line">
            <a:avLst/>
          </a:prstGeom>
          <a:ln cap="flat" w="133350">
            <a:solidFill>
              <a:srgbClr val="D15353"/>
            </a:solidFill>
            <a:prstDash val="solid"/>
            <a:headEnd type="none" len="sm" w="sm"/>
            <a:tailEnd type="none" len="sm" w="sm"/>
          </a:ln>
        </p:spPr>
      </p:sp>
      <p:sp>
        <p:nvSpPr>
          <p:cNvPr name="Freeform 4" id="4"/>
          <p:cNvSpPr/>
          <p:nvPr/>
        </p:nvSpPr>
        <p:spPr>
          <a:xfrm flipH="false" flipV="false" rot="0">
            <a:off x="10962509" y="20628"/>
            <a:ext cx="7325491" cy="6107628"/>
          </a:xfrm>
          <a:custGeom>
            <a:avLst/>
            <a:gdLst/>
            <a:ahLst/>
            <a:cxnLst/>
            <a:rect r="r" b="b" t="t" l="l"/>
            <a:pathLst>
              <a:path h="6107628" w="7325491">
                <a:moveTo>
                  <a:pt x="0" y="0"/>
                </a:moveTo>
                <a:lnTo>
                  <a:pt x="7325491" y="0"/>
                </a:lnTo>
                <a:lnTo>
                  <a:pt x="7325491" y="6107628"/>
                </a:lnTo>
                <a:lnTo>
                  <a:pt x="0" y="6107628"/>
                </a:lnTo>
                <a:lnTo>
                  <a:pt x="0" y="0"/>
                </a:lnTo>
                <a:close/>
              </a:path>
            </a:pathLst>
          </a:custGeom>
          <a:blipFill>
            <a:blip r:embed="rId4"/>
            <a:stretch>
              <a:fillRect l="0" t="0" r="0" b="0"/>
            </a:stretch>
          </a:blipFill>
        </p:spPr>
      </p:sp>
      <p:sp>
        <p:nvSpPr>
          <p:cNvPr name="TextBox 5" id="5"/>
          <p:cNvSpPr txBox="true"/>
          <p:nvPr/>
        </p:nvSpPr>
        <p:spPr>
          <a:xfrm rot="0">
            <a:off x="1346056" y="1902846"/>
            <a:ext cx="6842848" cy="1171596"/>
          </a:xfrm>
          <a:prstGeom prst="rect">
            <a:avLst/>
          </a:prstGeom>
        </p:spPr>
        <p:txBody>
          <a:bodyPr anchor="t" rtlCol="false" tIns="0" lIns="0" bIns="0" rIns="0">
            <a:spAutoFit/>
          </a:bodyPr>
          <a:lstStyle/>
          <a:p>
            <a:pPr algn="l" marL="0" indent="0" lvl="0">
              <a:lnSpc>
                <a:spcPts val="9240"/>
              </a:lnSpc>
              <a:spcBef>
                <a:spcPct val="0"/>
              </a:spcBef>
            </a:pPr>
            <a:r>
              <a:rPr lang="en-US" b="true" sz="7700">
                <a:solidFill>
                  <a:srgbClr val="253439"/>
                </a:solidFill>
                <a:latin typeface="Glacial Indifference Bold"/>
                <a:ea typeface="Glacial Indifference Bold"/>
                <a:cs typeface="Glacial Indifference Bold"/>
                <a:sym typeface="Glacial Indifference Bold"/>
              </a:rPr>
              <a:t>OBJECTIVE</a:t>
            </a:r>
          </a:p>
        </p:txBody>
      </p:sp>
      <p:sp>
        <p:nvSpPr>
          <p:cNvPr name="TextBox 6" id="6"/>
          <p:cNvSpPr txBox="true"/>
          <p:nvPr/>
        </p:nvSpPr>
        <p:spPr>
          <a:xfrm rot="0">
            <a:off x="1346056" y="1032990"/>
            <a:ext cx="6842848" cy="1009650"/>
          </a:xfrm>
          <a:prstGeom prst="rect">
            <a:avLst/>
          </a:prstGeom>
        </p:spPr>
        <p:txBody>
          <a:bodyPr anchor="t" rtlCol="false" tIns="0" lIns="0" bIns="0" rIns="0">
            <a:spAutoFit/>
          </a:bodyPr>
          <a:lstStyle/>
          <a:p>
            <a:pPr algn="l" marL="0" indent="0" lvl="0">
              <a:lnSpc>
                <a:spcPts val="7920"/>
              </a:lnSpc>
              <a:spcBef>
                <a:spcPct val="0"/>
              </a:spcBef>
            </a:pPr>
            <a:r>
              <a:rPr lang="en-US" sz="6600">
                <a:solidFill>
                  <a:srgbClr val="253439"/>
                </a:solidFill>
                <a:latin typeface="HK Grotesk"/>
                <a:ea typeface="HK Grotesk"/>
                <a:cs typeface="HK Grotesk"/>
                <a:sym typeface="HK Grotesk"/>
              </a:rPr>
              <a:t>MAIN</a:t>
            </a:r>
          </a:p>
        </p:txBody>
      </p:sp>
      <p:sp>
        <p:nvSpPr>
          <p:cNvPr name="TextBox 7" id="7"/>
          <p:cNvSpPr txBox="true"/>
          <p:nvPr/>
        </p:nvSpPr>
        <p:spPr>
          <a:xfrm rot="0">
            <a:off x="1346056" y="4217630"/>
            <a:ext cx="9466217" cy="4778201"/>
          </a:xfrm>
          <a:prstGeom prst="rect">
            <a:avLst/>
          </a:prstGeom>
        </p:spPr>
        <p:txBody>
          <a:bodyPr anchor="t" rtlCol="false" tIns="0" lIns="0" bIns="0" rIns="0">
            <a:spAutoFit/>
          </a:bodyPr>
          <a:lstStyle/>
          <a:p>
            <a:pPr algn="ctr">
              <a:lnSpc>
                <a:spcPts val="6403"/>
              </a:lnSpc>
              <a:spcBef>
                <a:spcPct val="0"/>
              </a:spcBef>
            </a:pPr>
            <a:r>
              <a:rPr lang="en-US" b="true" sz="3201">
                <a:solidFill>
                  <a:srgbClr val="253439"/>
                </a:solidFill>
                <a:latin typeface="Aileron Bold"/>
                <a:ea typeface="Aileron Bold"/>
                <a:cs typeface="Aileron Bold"/>
                <a:sym typeface="Aileron Bold"/>
              </a:rPr>
              <a:t>Our objective is to create a comprehensive and personalized fitness app that provides real-time support, detailed insights, and accurate recommendations to enhance users' physical well-being and effectively guide them on their fitness journey.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0800000">
            <a:off x="2411250" y="1468031"/>
            <a:ext cx="13072576" cy="2581834"/>
          </a:xfrm>
          <a:custGeom>
            <a:avLst/>
            <a:gdLst/>
            <a:ahLst/>
            <a:cxnLst/>
            <a:rect r="r" b="b" t="t" l="l"/>
            <a:pathLst>
              <a:path h="2581834" w="13072576">
                <a:moveTo>
                  <a:pt x="0" y="0"/>
                </a:moveTo>
                <a:lnTo>
                  <a:pt x="13072576" y="0"/>
                </a:lnTo>
                <a:lnTo>
                  <a:pt x="13072576" y="2581834"/>
                </a:lnTo>
                <a:lnTo>
                  <a:pt x="0" y="2581834"/>
                </a:lnTo>
                <a:lnTo>
                  <a:pt x="0" y="0"/>
                </a:lnTo>
                <a:close/>
              </a:path>
            </a:pathLst>
          </a:custGeom>
          <a:blipFill>
            <a:blip r:embed="rId2">
              <a:alphaModFix amt="77000"/>
            </a:blip>
            <a:stretch>
              <a:fillRect l="0" t="0" r="0" b="0"/>
            </a:stretch>
          </a:blipFill>
        </p:spPr>
      </p:sp>
      <p:sp>
        <p:nvSpPr>
          <p:cNvPr name="Freeform 3" id="3"/>
          <p:cNvSpPr/>
          <p:nvPr/>
        </p:nvSpPr>
        <p:spPr>
          <a:xfrm flipH="false" flipV="true" rot="4607186">
            <a:off x="8186496" y="-3355453"/>
            <a:ext cx="15050346" cy="9958773"/>
          </a:xfrm>
          <a:custGeom>
            <a:avLst/>
            <a:gdLst/>
            <a:ahLst/>
            <a:cxnLst/>
            <a:rect r="r" b="b" t="t" l="l"/>
            <a:pathLst>
              <a:path h="9958773" w="15050346">
                <a:moveTo>
                  <a:pt x="0" y="9958773"/>
                </a:moveTo>
                <a:lnTo>
                  <a:pt x="15050346" y="9958773"/>
                </a:lnTo>
                <a:lnTo>
                  <a:pt x="15050346" y="0"/>
                </a:lnTo>
                <a:lnTo>
                  <a:pt x="0" y="0"/>
                </a:lnTo>
                <a:lnTo>
                  <a:pt x="0" y="9958773"/>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6368495">
            <a:off x="-4484746" y="4338485"/>
            <a:ext cx="14038586" cy="9289294"/>
          </a:xfrm>
          <a:custGeom>
            <a:avLst/>
            <a:gdLst/>
            <a:ahLst/>
            <a:cxnLst/>
            <a:rect r="r" b="b" t="t" l="l"/>
            <a:pathLst>
              <a:path h="9289294" w="14038586">
                <a:moveTo>
                  <a:pt x="0" y="9289294"/>
                </a:moveTo>
                <a:lnTo>
                  <a:pt x="14038586" y="9289294"/>
                </a:lnTo>
                <a:lnTo>
                  <a:pt x="14038586" y="0"/>
                </a:lnTo>
                <a:lnTo>
                  <a:pt x="0" y="0"/>
                </a:lnTo>
                <a:lnTo>
                  <a:pt x="0" y="928929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411250" y="6456913"/>
            <a:ext cx="13072576" cy="2581834"/>
          </a:xfrm>
          <a:custGeom>
            <a:avLst/>
            <a:gdLst/>
            <a:ahLst/>
            <a:cxnLst/>
            <a:rect r="r" b="b" t="t" l="l"/>
            <a:pathLst>
              <a:path h="2581834" w="13072576">
                <a:moveTo>
                  <a:pt x="0" y="0"/>
                </a:moveTo>
                <a:lnTo>
                  <a:pt x="13072576" y="0"/>
                </a:lnTo>
                <a:lnTo>
                  <a:pt x="13072576" y="2581834"/>
                </a:lnTo>
                <a:lnTo>
                  <a:pt x="0" y="2581834"/>
                </a:lnTo>
                <a:lnTo>
                  <a:pt x="0" y="0"/>
                </a:lnTo>
                <a:close/>
              </a:path>
            </a:pathLst>
          </a:custGeom>
          <a:blipFill>
            <a:blip r:embed="rId2">
              <a:alphaModFix amt="77000"/>
            </a:blip>
            <a:stretch>
              <a:fillRect l="0" t="0" r="0" b="0"/>
            </a:stretch>
          </a:blipFill>
        </p:spPr>
      </p:sp>
      <p:grpSp>
        <p:nvGrpSpPr>
          <p:cNvPr name="Group 6" id="6"/>
          <p:cNvGrpSpPr/>
          <p:nvPr/>
        </p:nvGrpSpPr>
        <p:grpSpPr>
          <a:xfrm rot="0">
            <a:off x="2142127" y="1623934"/>
            <a:ext cx="14528022" cy="7359198"/>
            <a:chOff x="0" y="0"/>
            <a:chExt cx="3826310" cy="1938225"/>
          </a:xfrm>
        </p:grpSpPr>
        <p:sp>
          <p:nvSpPr>
            <p:cNvPr name="Freeform 7" id="7"/>
            <p:cNvSpPr/>
            <p:nvPr/>
          </p:nvSpPr>
          <p:spPr>
            <a:xfrm flipH="false" flipV="false" rot="0">
              <a:off x="0" y="0"/>
              <a:ext cx="3826310" cy="1938225"/>
            </a:xfrm>
            <a:custGeom>
              <a:avLst/>
              <a:gdLst/>
              <a:ahLst/>
              <a:cxnLst/>
              <a:rect r="r" b="b" t="t" l="l"/>
              <a:pathLst>
                <a:path h="1938225" w="3826310">
                  <a:moveTo>
                    <a:pt x="0" y="0"/>
                  </a:moveTo>
                  <a:lnTo>
                    <a:pt x="3826310" y="0"/>
                  </a:lnTo>
                  <a:lnTo>
                    <a:pt x="3826310" y="1938225"/>
                  </a:lnTo>
                  <a:lnTo>
                    <a:pt x="0" y="1938225"/>
                  </a:lnTo>
                  <a:close/>
                </a:path>
              </a:pathLst>
            </a:custGeom>
            <a:gradFill rotWithShape="true">
              <a:gsLst>
                <a:gs pos="0">
                  <a:srgbClr val="FDF7EF">
                    <a:alpha val="100000"/>
                  </a:srgbClr>
                </a:gs>
                <a:gs pos="100000">
                  <a:srgbClr val="FFFFFF">
                    <a:alpha val="100000"/>
                  </a:srgbClr>
                </a:gs>
              </a:gsLst>
              <a:lin ang="0"/>
            </a:gradFill>
          </p:spPr>
        </p:sp>
        <p:sp>
          <p:nvSpPr>
            <p:cNvPr name="TextBox 8" id="8"/>
            <p:cNvSpPr txBox="true"/>
            <p:nvPr/>
          </p:nvSpPr>
          <p:spPr>
            <a:xfrm>
              <a:off x="0" y="-47625"/>
              <a:ext cx="3826310" cy="1985850"/>
            </a:xfrm>
            <a:prstGeom prst="rect">
              <a:avLst/>
            </a:prstGeom>
          </p:spPr>
          <p:txBody>
            <a:bodyPr anchor="ctr" rtlCol="false" tIns="50800" lIns="50800" bIns="50800" rIns="50800"/>
            <a:lstStyle/>
            <a:p>
              <a:pPr algn="ctr" marL="500373" indent="-250186" lvl="1">
                <a:lnSpc>
                  <a:spcPts val="3244"/>
                </a:lnSpc>
                <a:buFont typeface="Arial"/>
                <a:buChar char="•"/>
              </a:pPr>
            </a:p>
          </p:txBody>
        </p:sp>
      </p:grpSp>
      <p:sp>
        <p:nvSpPr>
          <p:cNvPr name="TextBox 9" id="9"/>
          <p:cNvSpPr txBox="true"/>
          <p:nvPr/>
        </p:nvSpPr>
        <p:spPr>
          <a:xfrm rot="0">
            <a:off x="364219" y="1181952"/>
            <a:ext cx="5752634" cy="941113"/>
          </a:xfrm>
          <a:prstGeom prst="rect">
            <a:avLst/>
          </a:prstGeom>
        </p:spPr>
        <p:txBody>
          <a:bodyPr anchor="t" rtlCol="false" tIns="0" lIns="0" bIns="0" rIns="0">
            <a:spAutoFit/>
          </a:bodyPr>
          <a:lstStyle/>
          <a:p>
            <a:pPr algn="r" marL="0" indent="0" lvl="0">
              <a:lnSpc>
                <a:spcPts val="7260"/>
              </a:lnSpc>
            </a:pPr>
            <a:r>
              <a:rPr lang="en-US" sz="6600">
                <a:solidFill>
                  <a:srgbClr val="253439"/>
                </a:solidFill>
                <a:latin typeface="HK Grotesk"/>
                <a:ea typeface="HK Grotesk"/>
                <a:cs typeface="HK Grotesk"/>
                <a:sym typeface="HK Grotesk"/>
              </a:rPr>
              <a:t>SPECIFIC</a:t>
            </a:r>
          </a:p>
        </p:txBody>
      </p:sp>
      <p:sp>
        <p:nvSpPr>
          <p:cNvPr name="TextBox 10" id="10"/>
          <p:cNvSpPr txBox="true"/>
          <p:nvPr/>
        </p:nvSpPr>
        <p:spPr>
          <a:xfrm rot="0">
            <a:off x="2142127" y="2199265"/>
            <a:ext cx="5752634" cy="1088369"/>
          </a:xfrm>
          <a:prstGeom prst="rect">
            <a:avLst/>
          </a:prstGeom>
        </p:spPr>
        <p:txBody>
          <a:bodyPr anchor="t" rtlCol="false" tIns="0" lIns="0" bIns="0" rIns="0">
            <a:spAutoFit/>
          </a:bodyPr>
          <a:lstStyle/>
          <a:p>
            <a:pPr algn="r" marL="0" indent="0" lvl="0">
              <a:lnSpc>
                <a:spcPts val="8470"/>
              </a:lnSpc>
            </a:pPr>
            <a:r>
              <a:rPr lang="en-US" b="true" sz="7700">
                <a:solidFill>
                  <a:srgbClr val="253439"/>
                </a:solidFill>
                <a:latin typeface="Glacial Indifference Bold"/>
                <a:ea typeface="Glacial Indifference Bold"/>
                <a:cs typeface="Glacial Indifference Bold"/>
                <a:sym typeface="Glacial Indifference Bold"/>
              </a:rPr>
              <a:t>OBJECTIVES</a:t>
            </a:r>
          </a:p>
        </p:txBody>
      </p:sp>
      <p:sp>
        <p:nvSpPr>
          <p:cNvPr name="AutoShape 11" id="11"/>
          <p:cNvSpPr/>
          <p:nvPr/>
        </p:nvSpPr>
        <p:spPr>
          <a:xfrm flipV="true">
            <a:off x="2142127" y="1124031"/>
            <a:ext cx="0" cy="2293092"/>
          </a:xfrm>
          <a:prstGeom prst="line">
            <a:avLst/>
          </a:prstGeom>
          <a:ln cap="flat" w="133350">
            <a:solidFill>
              <a:srgbClr val="D15353"/>
            </a:solidFill>
            <a:prstDash val="solid"/>
            <a:headEnd type="none" len="sm" w="sm"/>
            <a:tailEnd type="none" len="sm" w="sm"/>
          </a:ln>
        </p:spPr>
      </p:sp>
      <p:sp>
        <p:nvSpPr>
          <p:cNvPr name="TextBox 12" id="12"/>
          <p:cNvSpPr txBox="true"/>
          <p:nvPr/>
        </p:nvSpPr>
        <p:spPr>
          <a:xfrm rot="0">
            <a:off x="1679013" y="3992715"/>
            <a:ext cx="15806843" cy="5020801"/>
          </a:xfrm>
          <a:prstGeom prst="rect">
            <a:avLst/>
          </a:prstGeom>
        </p:spPr>
        <p:txBody>
          <a:bodyPr anchor="t" rtlCol="false" tIns="0" lIns="0" bIns="0" rIns="0">
            <a:spAutoFit/>
          </a:bodyPr>
          <a:lstStyle/>
          <a:p>
            <a:pPr algn="l" marL="557163" indent="-278581" lvl="1">
              <a:lnSpc>
                <a:spcPts val="3612"/>
              </a:lnSpc>
              <a:buFont typeface="Arial"/>
              <a:buChar char="•"/>
            </a:pPr>
            <a:r>
              <a:rPr lang="en-US" b="true" sz="2580">
                <a:solidFill>
                  <a:srgbClr val="253439"/>
                </a:solidFill>
                <a:latin typeface="Glacial Indifference Bold"/>
                <a:ea typeface="Glacial Indifference Bold"/>
                <a:cs typeface="Glacial Indifference Bold"/>
                <a:sym typeface="Glacial Indifference Bold"/>
              </a:rPr>
              <a:t>Enhancing Exercise Accuracy and Safety : </a:t>
            </a:r>
            <a:r>
              <a:rPr lang="en-US" sz="2580">
                <a:solidFill>
                  <a:srgbClr val="253439"/>
                </a:solidFill>
                <a:latin typeface="Glacial Indifference"/>
                <a:ea typeface="Glacial Indifference"/>
                <a:cs typeface="Glacial Indifference"/>
                <a:sym typeface="Glacial Indifference"/>
              </a:rPr>
              <a:t>real-time biomechanics analysis with AI and image processing</a:t>
            </a:r>
          </a:p>
          <a:p>
            <a:pPr algn="ctr">
              <a:lnSpc>
                <a:spcPts val="3612"/>
              </a:lnSpc>
            </a:pPr>
          </a:p>
          <a:p>
            <a:pPr algn="l" marL="557163" indent="-278581" lvl="1">
              <a:lnSpc>
                <a:spcPts val="3612"/>
              </a:lnSpc>
              <a:buFont typeface="Arial"/>
              <a:buChar char="•"/>
            </a:pPr>
            <a:r>
              <a:rPr lang="en-US" b="true" sz="2580">
                <a:solidFill>
                  <a:srgbClr val="253439"/>
                </a:solidFill>
                <a:latin typeface="Glacial Indifference Bold"/>
                <a:ea typeface="Glacial Indifference Bold"/>
                <a:cs typeface="Glacial Indifference Bold"/>
                <a:sym typeface="Glacial Indifference Bold"/>
              </a:rPr>
              <a:t>Personalized Health Monitoring and Forecasting : </a:t>
            </a:r>
            <a:r>
              <a:rPr lang="en-US" sz="2580">
                <a:solidFill>
                  <a:srgbClr val="253439"/>
                </a:solidFill>
                <a:latin typeface="Glacial Indifference"/>
                <a:ea typeface="Glacial Indifference"/>
                <a:cs typeface="Glacial Indifference"/>
                <a:sym typeface="Glacial Indifference"/>
              </a:rPr>
              <a:t>AI-powered dynamic body composition analysis </a:t>
            </a:r>
          </a:p>
          <a:p>
            <a:pPr algn="ctr">
              <a:lnSpc>
                <a:spcPts val="3612"/>
              </a:lnSpc>
            </a:pPr>
          </a:p>
          <a:p>
            <a:pPr algn="l" marL="557163" indent="-278581" lvl="1">
              <a:lnSpc>
                <a:spcPts val="3612"/>
              </a:lnSpc>
              <a:buFont typeface="Arial"/>
              <a:buChar char="•"/>
            </a:pPr>
            <a:r>
              <a:rPr lang="en-US" b="true" sz="2580">
                <a:solidFill>
                  <a:srgbClr val="253439"/>
                </a:solidFill>
                <a:latin typeface="Glacial Indifference Bold"/>
                <a:ea typeface="Glacial Indifference Bold"/>
                <a:cs typeface="Glacial Indifference Bold"/>
                <a:sym typeface="Glacial Indifference Bold"/>
              </a:rPr>
              <a:t>Optimizing Nutritional Intake: </a:t>
            </a:r>
            <a:r>
              <a:rPr lang="en-US" sz="2580">
                <a:solidFill>
                  <a:srgbClr val="253439"/>
                </a:solidFill>
                <a:latin typeface="Glacial Indifference"/>
                <a:ea typeface="Glacial Indifference"/>
                <a:cs typeface="Glacial Indifference"/>
                <a:sym typeface="Glacial Indifference"/>
              </a:rPr>
              <a:t>food scanning technology with image processing</a:t>
            </a:r>
          </a:p>
          <a:p>
            <a:pPr algn="ctr">
              <a:lnSpc>
                <a:spcPts val="3612"/>
              </a:lnSpc>
            </a:pPr>
          </a:p>
          <a:p>
            <a:pPr algn="l" marL="557163" indent="-278581" lvl="1">
              <a:lnSpc>
                <a:spcPts val="3612"/>
              </a:lnSpc>
              <a:buFont typeface="Arial"/>
              <a:buChar char="•"/>
            </a:pPr>
            <a:r>
              <a:rPr lang="en-US" b="true" sz="2580">
                <a:solidFill>
                  <a:srgbClr val="253439"/>
                </a:solidFill>
                <a:latin typeface="Glacial Indifference Bold"/>
                <a:ea typeface="Glacial Indifference Bold"/>
                <a:cs typeface="Glacial Indifference Bold"/>
                <a:sym typeface="Glacial Indifference Bold"/>
              </a:rPr>
              <a:t>Tracking Progress Effectively : </a:t>
            </a:r>
            <a:r>
              <a:rPr lang="en-US" sz="2580">
                <a:solidFill>
                  <a:srgbClr val="253439"/>
                </a:solidFill>
                <a:latin typeface="Glacial Indifference"/>
                <a:ea typeface="Glacial Indifference"/>
                <a:cs typeface="Glacial Indifference"/>
                <a:sym typeface="Glacial Indifference"/>
              </a:rPr>
              <a:t>AI-powered progress tracker that provides multi-metric tracking</a:t>
            </a:r>
          </a:p>
          <a:p>
            <a:pPr algn="l">
              <a:lnSpc>
                <a:spcPts val="3612"/>
              </a:lnSpc>
            </a:pPr>
          </a:p>
          <a:p>
            <a:pPr algn="l" marL="557163" indent="-278581" lvl="1">
              <a:lnSpc>
                <a:spcPts val="3612"/>
              </a:lnSpc>
              <a:buFont typeface="Arial"/>
              <a:buChar char="•"/>
            </a:pPr>
            <a:r>
              <a:rPr lang="en-US" b="true" sz="2580">
                <a:solidFill>
                  <a:srgbClr val="253439"/>
                </a:solidFill>
                <a:latin typeface="Glacial Indifference Bold"/>
                <a:ea typeface="Glacial Indifference Bold"/>
                <a:cs typeface="Glacial Indifference Bold"/>
                <a:sym typeface="Glacial Indifference Bold"/>
              </a:rPr>
              <a:t>Tips for maintaining effective body measurements : </a:t>
            </a:r>
            <a:r>
              <a:rPr lang="en-US" sz="2580">
                <a:solidFill>
                  <a:srgbClr val="253439"/>
                </a:solidFill>
                <a:latin typeface="Glacial Indifference"/>
                <a:ea typeface="Glacial Indifference"/>
                <a:cs typeface="Glacial Indifference"/>
                <a:sym typeface="Glacial Indifference"/>
              </a:rPr>
              <a:t>This is determined by a model trained on body measurements taken monthly.</a:t>
            </a:r>
          </a:p>
          <a:p>
            <a:pPr algn="ctr">
              <a:lnSpc>
                <a:spcPts val="3612"/>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flipV="true">
            <a:off x="2142127" y="1124031"/>
            <a:ext cx="0" cy="2293092"/>
          </a:xfrm>
          <a:prstGeom prst="line">
            <a:avLst/>
          </a:prstGeom>
          <a:ln cap="flat" w="133350">
            <a:solidFill>
              <a:srgbClr val="D15353"/>
            </a:solidFill>
            <a:prstDash val="solid"/>
            <a:headEnd type="none" len="sm" w="sm"/>
            <a:tailEnd type="none" len="sm" w="sm"/>
          </a:ln>
        </p:spPr>
      </p:sp>
      <p:sp>
        <p:nvSpPr>
          <p:cNvPr name="Freeform 3" id="3"/>
          <p:cNvSpPr/>
          <p:nvPr/>
        </p:nvSpPr>
        <p:spPr>
          <a:xfrm flipH="false" flipV="false" rot="0">
            <a:off x="4283681" y="3011765"/>
            <a:ext cx="9720638" cy="4840799"/>
          </a:xfrm>
          <a:custGeom>
            <a:avLst/>
            <a:gdLst/>
            <a:ahLst/>
            <a:cxnLst/>
            <a:rect r="r" b="b" t="t" l="l"/>
            <a:pathLst>
              <a:path h="4840799" w="9720638">
                <a:moveTo>
                  <a:pt x="0" y="0"/>
                </a:moveTo>
                <a:lnTo>
                  <a:pt x="9720638" y="0"/>
                </a:lnTo>
                <a:lnTo>
                  <a:pt x="9720638" y="4840799"/>
                </a:lnTo>
                <a:lnTo>
                  <a:pt x="0" y="48407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443234" y="1171656"/>
            <a:ext cx="5721823" cy="1643225"/>
          </a:xfrm>
          <a:prstGeom prst="rect">
            <a:avLst/>
          </a:prstGeom>
        </p:spPr>
        <p:txBody>
          <a:bodyPr anchor="t" rtlCol="false" tIns="0" lIns="0" bIns="0" rIns="0">
            <a:spAutoFit/>
          </a:bodyPr>
          <a:lstStyle/>
          <a:p>
            <a:pPr algn="r">
              <a:lnSpc>
                <a:spcPts val="6418"/>
              </a:lnSpc>
            </a:pPr>
            <a:r>
              <a:rPr lang="en-US" sz="5834">
                <a:solidFill>
                  <a:srgbClr val="253439"/>
                </a:solidFill>
                <a:latin typeface="HK Grotesk"/>
                <a:ea typeface="HK Grotesk"/>
                <a:cs typeface="HK Grotesk"/>
                <a:sym typeface="HK Grotesk"/>
              </a:rPr>
              <a:t>MARKETABILITY</a:t>
            </a:r>
          </a:p>
          <a:p>
            <a:pPr algn="r" marL="0" indent="0" lvl="0">
              <a:lnSpc>
                <a:spcPts val="6418"/>
              </a:lnSpc>
            </a:pPr>
          </a:p>
        </p:txBody>
      </p:sp>
      <p:sp>
        <p:nvSpPr>
          <p:cNvPr name="TextBox 5" id="5"/>
          <p:cNvSpPr txBox="true"/>
          <p:nvPr/>
        </p:nvSpPr>
        <p:spPr>
          <a:xfrm rot="0">
            <a:off x="4634106" y="4416465"/>
            <a:ext cx="9019787" cy="1781162"/>
          </a:xfrm>
          <a:prstGeom prst="rect">
            <a:avLst/>
          </a:prstGeom>
        </p:spPr>
        <p:txBody>
          <a:bodyPr anchor="t" rtlCol="false" tIns="0" lIns="0" bIns="0" rIns="0">
            <a:spAutoFit/>
          </a:bodyPr>
          <a:lstStyle/>
          <a:p>
            <a:pPr algn="ctr">
              <a:lnSpc>
                <a:spcPts val="4790"/>
              </a:lnSpc>
              <a:spcBef>
                <a:spcPct val="0"/>
              </a:spcBef>
            </a:pPr>
            <a:r>
              <a:rPr lang="en-US" b="true" sz="3421">
                <a:solidFill>
                  <a:srgbClr val="253439"/>
                </a:solidFill>
                <a:latin typeface="Aileron Bold"/>
                <a:ea typeface="Aileron Bold"/>
                <a:cs typeface="Aileron Bold"/>
                <a:sym typeface="Aileron Bold"/>
              </a:rPr>
              <a:t>With its innovative features and alignment with market demand, this app is poised to revolutionize the fitness industry.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3163" y="1472515"/>
            <a:ext cx="6461092" cy="5128491"/>
          </a:xfrm>
          <a:custGeom>
            <a:avLst/>
            <a:gdLst/>
            <a:ahLst/>
            <a:cxnLst/>
            <a:rect r="r" b="b" t="t" l="l"/>
            <a:pathLst>
              <a:path h="5128491" w="6461092">
                <a:moveTo>
                  <a:pt x="0" y="0"/>
                </a:moveTo>
                <a:lnTo>
                  <a:pt x="6461092" y="0"/>
                </a:lnTo>
                <a:lnTo>
                  <a:pt x="6461092" y="5128491"/>
                </a:lnTo>
                <a:lnTo>
                  <a:pt x="0" y="5128491"/>
                </a:lnTo>
                <a:lnTo>
                  <a:pt x="0" y="0"/>
                </a:lnTo>
                <a:close/>
              </a:path>
            </a:pathLst>
          </a:custGeom>
          <a:blipFill>
            <a:blip r:embed="rId2"/>
            <a:stretch>
              <a:fillRect l="0" t="0" r="0" b="0"/>
            </a:stretch>
          </a:blipFill>
        </p:spPr>
      </p:sp>
      <p:sp>
        <p:nvSpPr>
          <p:cNvPr name="Freeform 3" id="3"/>
          <p:cNvSpPr/>
          <p:nvPr/>
        </p:nvSpPr>
        <p:spPr>
          <a:xfrm flipH="false" flipV="false" rot="0">
            <a:off x="13458526" y="0"/>
            <a:ext cx="4610485" cy="4866623"/>
          </a:xfrm>
          <a:custGeom>
            <a:avLst/>
            <a:gdLst/>
            <a:ahLst/>
            <a:cxnLst/>
            <a:rect r="r" b="b" t="t" l="l"/>
            <a:pathLst>
              <a:path h="4866623" w="4610485">
                <a:moveTo>
                  <a:pt x="0" y="0"/>
                </a:moveTo>
                <a:lnTo>
                  <a:pt x="4610486" y="0"/>
                </a:lnTo>
                <a:lnTo>
                  <a:pt x="4610486" y="4866623"/>
                </a:lnTo>
                <a:lnTo>
                  <a:pt x="0" y="4866623"/>
                </a:lnTo>
                <a:lnTo>
                  <a:pt x="0" y="0"/>
                </a:lnTo>
                <a:close/>
              </a:path>
            </a:pathLst>
          </a:custGeom>
          <a:blipFill>
            <a:blip r:embed="rId3"/>
            <a:stretch>
              <a:fillRect l="0" t="0" r="0" b="0"/>
            </a:stretch>
          </a:blipFill>
        </p:spPr>
      </p:sp>
      <p:sp>
        <p:nvSpPr>
          <p:cNvPr name="Freeform 4" id="4"/>
          <p:cNvSpPr/>
          <p:nvPr/>
        </p:nvSpPr>
        <p:spPr>
          <a:xfrm flipH="false" flipV="false" rot="0">
            <a:off x="9687253" y="1402792"/>
            <a:ext cx="1093692" cy="1170293"/>
          </a:xfrm>
          <a:custGeom>
            <a:avLst/>
            <a:gdLst/>
            <a:ahLst/>
            <a:cxnLst/>
            <a:rect r="r" b="b" t="t" l="l"/>
            <a:pathLst>
              <a:path h="1170293" w="1093692">
                <a:moveTo>
                  <a:pt x="0" y="0"/>
                </a:moveTo>
                <a:lnTo>
                  <a:pt x="1093692" y="0"/>
                </a:lnTo>
                <a:lnTo>
                  <a:pt x="1093692" y="1170294"/>
                </a:lnTo>
                <a:lnTo>
                  <a:pt x="0" y="11702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flipH="true">
            <a:off x="5393846" y="1987939"/>
            <a:ext cx="4293407" cy="585147"/>
          </a:xfrm>
          <a:prstGeom prst="line">
            <a:avLst/>
          </a:prstGeom>
          <a:ln cap="flat" w="38100">
            <a:solidFill>
              <a:srgbClr val="000000"/>
            </a:solidFill>
            <a:prstDash val="solid"/>
            <a:headEnd type="none" len="sm" w="sm"/>
            <a:tailEnd type="arrow" len="sm" w="med"/>
          </a:ln>
        </p:spPr>
      </p:sp>
      <p:sp>
        <p:nvSpPr>
          <p:cNvPr name="TextBox 6" id="6"/>
          <p:cNvSpPr txBox="true"/>
          <p:nvPr/>
        </p:nvSpPr>
        <p:spPr>
          <a:xfrm rot="0">
            <a:off x="6594255" y="1959364"/>
            <a:ext cx="1980762" cy="488369"/>
          </a:xfrm>
          <a:prstGeom prst="rect">
            <a:avLst/>
          </a:prstGeom>
        </p:spPr>
        <p:txBody>
          <a:bodyPr anchor="t" rtlCol="false" tIns="0" lIns="0" bIns="0" rIns="0">
            <a:spAutoFit/>
          </a:bodyPr>
          <a:lstStyle/>
          <a:p>
            <a:pPr algn="ctr">
              <a:lnSpc>
                <a:spcPts val="1951"/>
              </a:lnSpc>
              <a:spcBef>
                <a:spcPct val="0"/>
              </a:spcBef>
            </a:pPr>
            <a:r>
              <a:rPr lang="en-US" b="true" sz="1393">
                <a:solidFill>
                  <a:srgbClr val="000000"/>
                </a:solidFill>
                <a:latin typeface="Canva Sans Bold"/>
                <a:ea typeface="Canva Sans Bold"/>
                <a:cs typeface="Canva Sans Bold"/>
                <a:sym typeface="Canva Sans Bold"/>
              </a:rPr>
              <a:t>Enter Current Body measurement</a:t>
            </a:r>
          </a:p>
        </p:txBody>
      </p:sp>
      <p:sp>
        <p:nvSpPr>
          <p:cNvPr name="AutoShape 7" id="7"/>
          <p:cNvSpPr/>
          <p:nvPr/>
        </p:nvSpPr>
        <p:spPr>
          <a:xfrm flipV="true">
            <a:off x="10780945" y="617052"/>
            <a:ext cx="5509035" cy="1370887"/>
          </a:xfrm>
          <a:prstGeom prst="line">
            <a:avLst/>
          </a:prstGeom>
          <a:ln cap="flat" w="38100">
            <a:solidFill>
              <a:srgbClr val="000000"/>
            </a:solidFill>
            <a:prstDash val="solid"/>
            <a:headEnd type="none" len="sm" w="sm"/>
            <a:tailEnd type="arrow" len="sm" w="med"/>
          </a:ln>
        </p:spPr>
      </p:sp>
      <p:sp>
        <p:nvSpPr>
          <p:cNvPr name="AutoShape 8" id="8"/>
          <p:cNvSpPr/>
          <p:nvPr/>
        </p:nvSpPr>
        <p:spPr>
          <a:xfrm flipH="true">
            <a:off x="6906974" y="1987939"/>
            <a:ext cx="2780279" cy="5336342"/>
          </a:xfrm>
          <a:prstGeom prst="line">
            <a:avLst/>
          </a:prstGeom>
          <a:ln cap="flat" w="38100">
            <a:solidFill>
              <a:srgbClr val="000000"/>
            </a:solidFill>
            <a:prstDash val="solid"/>
            <a:headEnd type="none" len="sm" w="sm"/>
            <a:tailEnd type="arrow" len="sm" w="med"/>
          </a:ln>
        </p:spPr>
      </p:sp>
      <p:sp>
        <p:nvSpPr>
          <p:cNvPr name="AutoShape 9" id="9"/>
          <p:cNvSpPr/>
          <p:nvPr/>
        </p:nvSpPr>
        <p:spPr>
          <a:xfrm>
            <a:off x="10234099" y="2573086"/>
            <a:ext cx="3224427" cy="3448707"/>
          </a:xfrm>
          <a:prstGeom prst="line">
            <a:avLst/>
          </a:prstGeom>
          <a:ln cap="flat" w="38100">
            <a:solidFill>
              <a:srgbClr val="000000"/>
            </a:solidFill>
            <a:prstDash val="solid"/>
            <a:headEnd type="none" len="sm" w="sm"/>
            <a:tailEnd type="arrow" len="sm" w="med"/>
          </a:ln>
        </p:spPr>
      </p:sp>
      <p:grpSp>
        <p:nvGrpSpPr>
          <p:cNvPr name="Group 10" id="10"/>
          <p:cNvGrpSpPr/>
          <p:nvPr/>
        </p:nvGrpSpPr>
        <p:grpSpPr>
          <a:xfrm rot="0">
            <a:off x="12739368" y="5143500"/>
            <a:ext cx="5051560" cy="5402885"/>
            <a:chOff x="0" y="0"/>
            <a:chExt cx="6735413" cy="7203847"/>
          </a:xfrm>
        </p:grpSpPr>
        <p:sp>
          <p:nvSpPr>
            <p:cNvPr name="Freeform 11" id="11"/>
            <p:cNvSpPr/>
            <p:nvPr/>
          </p:nvSpPr>
          <p:spPr>
            <a:xfrm flipH="false" flipV="false" rot="0">
              <a:off x="2701120" y="0"/>
              <a:ext cx="764955" cy="638390"/>
            </a:xfrm>
            <a:custGeom>
              <a:avLst/>
              <a:gdLst/>
              <a:ahLst/>
              <a:cxnLst/>
              <a:rect r="r" b="b" t="t" l="l"/>
              <a:pathLst>
                <a:path h="638390" w="764955">
                  <a:moveTo>
                    <a:pt x="0" y="0"/>
                  </a:moveTo>
                  <a:lnTo>
                    <a:pt x="764955" y="0"/>
                  </a:lnTo>
                  <a:lnTo>
                    <a:pt x="764955" y="638390"/>
                  </a:lnTo>
                  <a:lnTo>
                    <a:pt x="0" y="6383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2" id="12"/>
            <p:cNvSpPr/>
            <p:nvPr/>
          </p:nvSpPr>
          <p:spPr>
            <a:xfrm flipH="false" flipV="false" rot="0">
              <a:off x="2734865" y="1475683"/>
              <a:ext cx="731210" cy="616319"/>
            </a:xfrm>
            <a:custGeom>
              <a:avLst/>
              <a:gdLst/>
              <a:ahLst/>
              <a:cxnLst/>
              <a:rect r="r" b="b" t="t" l="l"/>
              <a:pathLst>
                <a:path h="616319" w="731210">
                  <a:moveTo>
                    <a:pt x="0" y="0"/>
                  </a:moveTo>
                  <a:lnTo>
                    <a:pt x="731210" y="0"/>
                  </a:lnTo>
                  <a:lnTo>
                    <a:pt x="731210" y="616319"/>
                  </a:lnTo>
                  <a:lnTo>
                    <a:pt x="0" y="6163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AutoShape 13" id="13"/>
            <p:cNvSpPr/>
            <p:nvPr/>
          </p:nvSpPr>
          <p:spPr>
            <a:xfrm>
              <a:off x="3083597" y="638390"/>
              <a:ext cx="16873" cy="837292"/>
            </a:xfrm>
            <a:prstGeom prst="line">
              <a:avLst/>
            </a:prstGeom>
            <a:ln cap="flat" w="26436">
              <a:solidFill>
                <a:srgbClr val="000000"/>
              </a:solidFill>
              <a:prstDash val="solid"/>
              <a:headEnd type="none" len="sm" w="sm"/>
              <a:tailEnd type="arrow" len="sm" w="med"/>
            </a:ln>
          </p:spPr>
        </p:sp>
        <p:sp>
          <p:nvSpPr>
            <p:cNvPr name="AutoShape 14" id="14"/>
            <p:cNvSpPr/>
            <p:nvPr/>
          </p:nvSpPr>
          <p:spPr>
            <a:xfrm>
              <a:off x="3156168" y="2092002"/>
              <a:ext cx="21468" cy="865791"/>
            </a:xfrm>
            <a:prstGeom prst="line">
              <a:avLst/>
            </a:prstGeom>
            <a:ln cap="flat" w="26436">
              <a:solidFill>
                <a:srgbClr val="000000"/>
              </a:solidFill>
              <a:prstDash val="solid"/>
              <a:headEnd type="none" len="sm" w="sm"/>
              <a:tailEnd type="arrow" len="sm" w="med"/>
            </a:ln>
          </p:spPr>
        </p:sp>
        <p:sp>
          <p:nvSpPr>
            <p:cNvPr name="Freeform 15" id="15"/>
            <p:cNvSpPr/>
            <p:nvPr/>
          </p:nvSpPr>
          <p:spPr>
            <a:xfrm flipH="false" flipV="false" rot="0">
              <a:off x="2818640" y="2957793"/>
              <a:ext cx="717994" cy="717994"/>
            </a:xfrm>
            <a:custGeom>
              <a:avLst/>
              <a:gdLst/>
              <a:ahLst/>
              <a:cxnLst/>
              <a:rect r="r" b="b" t="t" l="l"/>
              <a:pathLst>
                <a:path h="717994" w="717994">
                  <a:moveTo>
                    <a:pt x="0" y="0"/>
                  </a:moveTo>
                  <a:lnTo>
                    <a:pt x="717994" y="0"/>
                  </a:lnTo>
                  <a:lnTo>
                    <a:pt x="717994" y="717994"/>
                  </a:lnTo>
                  <a:lnTo>
                    <a:pt x="0" y="717994"/>
                  </a:lnTo>
                  <a:lnTo>
                    <a:pt x="0" y="0"/>
                  </a:lnTo>
                  <a:close/>
                </a:path>
              </a:pathLst>
            </a:custGeom>
            <a:blipFill>
              <a:blip r:embed="rId10"/>
              <a:stretch>
                <a:fillRect l="0" t="0" r="0" b="0"/>
              </a:stretch>
            </a:blipFill>
            <a:ln cap="sq">
              <a:noFill/>
              <a:prstDash val="solid"/>
              <a:miter/>
            </a:ln>
          </p:spPr>
        </p:sp>
        <p:sp>
          <p:nvSpPr>
            <p:cNvPr name="AutoShape 16" id="16"/>
            <p:cNvSpPr/>
            <p:nvPr/>
          </p:nvSpPr>
          <p:spPr>
            <a:xfrm>
              <a:off x="3177637" y="3675787"/>
              <a:ext cx="0" cy="663257"/>
            </a:xfrm>
            <a:prstGeom prst="line">
              <a:avLst/>
            </a:prstGeom>
            <a:ln cap="flat" w="26436">
              <a:solidFill>
                <a:srgbClr val="000000"/>
              </a:solidFill>
              <a:prstDash val="solid"/>
              <a:headEnd type="none" len="sm" w="sm"/>
              <a:tailEnd type="arrow" len="sm" w="med"/>
            </a:ln>
          </p:spPr>
        </p:sp>
        <p:sp>
          <p:nvSpPr>
            <p:cNvPr name="Freeform 17" id="17"/>
            <p:cNvSpPr/>
            <p:nvPr/>
          </p:nvSpPr>
          <p:spPr>
            <a:xfrm flipH="false" flipV="false" rot="0">
              <a:off x="2800291" y="4339044"/>
              <a:ext cx="754691" cy="754691"/>
            </a:xfrm>
            <a:custGeom>
              <a:avLst/>
              <a:gdLst/>
              <a:ahLst/>
              <a:cxnLst/>
              <a:rect r="r" b="b" t="t" l="l"/>
              <a:pathLst>
                <a:path h="754691" w="754691">
                  <a:moveTo>
                    <a:pt x="0" y="0"/>
                  </a:moveTo>
                  <a:lnTo>
                    <a:pt x="754691" y="0"/>
                  </a:lnTo>
                  <a:lnTo>
                    <a:pt x="754691" y="754690"/>
                  </a:lnTo>
                  <a:lnTo>
                    <a:pt x="0" y="75469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8" id="18"/>
            <p:cNvSpPr/>
            <p:nvPr/>
          </p:nvSpPr>
          <p:spPr>
            <a:xfrm flipH="false" flipV="false" rot="0">
              <a:off x="4678380" y="5582642"/>
              <a:ext cx="712592" cy="675498"/>
            </a:xfrm>
            <a:custGeom>
              <a:avLst/>
              <a:gdLst/>
              <a:ahLst/>
              <a:cxnLst/>
              <a:rect r="r" b="b" t="t" l="l"/>
              <a:pathLst>
                <a:path h="675498" w="712592">
                  <a:moveTo>
                    <a:pt x="0" y="0"/>
                  </a:moveTo>
                  <a:lnTo>
                    <a:pt x="712592" y="0"/>
                  </a:lnTo>
                  <a:lnTo>
                    <a:pt x="712592" y="675499"/>
                  </a:lnTo>
                  <a:lnTo>
                    <a:pt x="0" y="67549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AutoShape 19" id="19"/>
            <p:cNvSpPr/>
            <p:nvPr/>
          </p:nvSpPr>
          <p:spPr>
            <a:xfrm flipH="true" flipV="true">
              <a:off x="3177637" y="5093734"/>
              <a:ext cx="1500743" cy="826657"/>
            </a:xfrm>
            <a:prstGeom prst="line">
              <a:avLst/>
            </a:prstGeom>
            <a:ln cap="flat" w="26436">
              <a:solidFill>
                <a:srgbClr val="000000"/>
              </a:solidFill>
              <a:prstDash val="solid"/>
              <a:headEnd type="none" len="sm" w="sm"/>
              <a:tailEnd type="triangle" len="med" w="lg"/>
            </a:ln>
          </p:spPr>
        </p:sp>
        <p:sp>
          <p:nvSpPr>
            <p:cNvPr name="Freeform 20" id="20"/>
            <p:cNvSpPr/>
            <p:nvPr/>
          </p:nvSpPr>
          <p:spPr>
            <a:xfrm flipH="false" flipV="false" rot="2558077">
              <a:off x="3490823" y="4756083"/>
              <a:ext cx="1307294" cy="926990"/>
            </a:xfrm>
            <a:custGeom>
              <a:avLst/>
              <a:gdLst/>
              <a:ahLst/>
              <a:cxnLst/>
              <a:rect r="r" b="b" t="t" l="l"/>
              <a:pathLst>
                <a:path h="926990" w="1307294">
                  <a:moveTo>
                    <a:pt x="0" y="0"/>
                  </a:moveTo>
                  <a:lnTo>
                    <a:pt x="1307294" y="0"/>
                  </a:lnTo>
                  <a:lnTo>
                    <a:pt x="1307294" y="926990"/>
                  </a:lnTo>
                  <a:lnTo>
                    <a:pt x="0" y="92699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21" id="21"/>
            <p:cNvSpPr/>
            <p:nvPr/>
          </p:nvSpPr>
          <p:spPr>
            <a:xfrm flipH="false" flipV="false" rot="0">
              <a:off x="728206" y="5717574"/>
              <a:ext cx="725290" cy="623749"/>
            </a:xfrm>
            <a:custGeom>
              <a:avLst/>
              <a:gdLst/>
              <a:ahLst/>
              <a:cxnLst/>
              <a:rect r="r" b="b" t="t" l="l"/>
              <a:pathLst>
                <a:path h="623749" w="725290">
                  <a:moveTo>
                    <a:pt x="0" y="0"/>
                  </a:moveTo>
                  <a:lnTo>
                    <a:pt x="725289" y="0"/>
                  </a:lnTo>
                  <a:lnTo>
                    <a:pt x="725289" y="623750"/>
                  </a:lnTo>
                  <a:lnTo>
                    <a:pt x="0" y="62375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AutoShape 22" id="22"/>
            <p:cNvSpPr/>
            <p:nvPr/>
          </p:nvSpPr>
          <p:spPr>
            <a:xfrm flipH="true">
              <a:off x="1090851" y="4716389"/>
              <a:ext cx="1709441" cy="1001185"/>
            </a:xfrm>
            <a:prstGeom prst="line">
              <a:avLst/>
            </a:prstGeom>
            <a:ln cap="flat" w="26436">
              <a:solidFill>
                <a:srgbClr val="000000"/>
              </a:solidFill>
              <a:prstDash val="solid"/>
              <a:headEnd type="none" len="sm" w="sm"/>
              <a:tailEnd type="arrow" len="sm" w="med"/>
            </a:ln>
          </p:spPr>
        </p:sp>
        <p:sp>
          <p:nvSpPr>
            <p:cNvPr name="TextBox 23" id="23"/>
            <p:cNvSpPr txBox="true"/>
            <p:nvPr/>
          </p:nvSpPr>
          <p:spPr>
            <a:xfrm rot="0">
              <a:off x="3514839" y="202239"/>
              <a:ext cx="1442183" cy="313365"/>
            </a:xfrm>
            <a:prstGeom prst="rect">
              <a:avLst/>
            </a:prstGeom>
          </p:spPr>
          <p:txBody>
            <a:bodyPr anchor="t" rtlCol="false" tIns="0" lIns="0" bIns="0" rIns="0">
              <a:spAutoFit/>
            </a:bodyPr>
            <a:lstStyle/>
            <a:p>
              <a:pPr algn="ctr">
                <a:lnSpc>
                  <a:spcPts val="1306"/>
                </a:lnSpc>
                <a:spcBef>
                  <a:spcPct val="0"/>
                </a:spcBef>
              </a:pPr>
              <a:r>
                <a:rPr lang="en-US" sz="1088">
                  <a:solidFill>
                    <a:srgbClr val="253439"/>
                  </a:solidFill>
                  <a:latin typeface="Biski"/>
                  <a:ea typeface="Biski"/>
                  <a:cs typeface="Biski"/>
                  <a:sym typeface="Biski"/>
                </a:rPr>
                <a:t>User Interface</a:t>
              </a:r>
            </a:p>
          </p:txBody>
        </p:sp>
        <p:sp>
          <p:nvSpPr>
            <p:cNvPr name="TextBox 24" id="24"/>
            <p:cNvSpPr txBox="true"/>
            <p:nvPr/>
          </p:nvSpPr>
          <p:spPr>
            <a:xfrm rot="0">
              <a:off x="2986522" y="924183"/>
              <a:ext cx="1442183" cy="247482"/>
            </a:xfrm>
            <a:prstGeom prst="rect">
              <a:avLst/>
            </a:prstGeom>
          </p:spPr>
          <p:txBody>
            <a:bodyPr anchor="t" rtlCol="false" tIns="0" lIns="0" bIns="0" rIns="0">
              <a:spAutoFit/>
            </a:bodyPr>
            <a:lstStyle/>
            <a:p>
              <a:pPr algn="ctr">
                <a:lnSpc>
                  <a:spcPts val="1431"/>
                </a:lnSpc>
                <a:spcBef>
                  <a:spcPct val="0"/>
                </a:spcBef>
              </a:pPr>
              <a:r>
                <a:rPr lang="en-US" sz="1192">
                  <a:solidFill>
                    <a:srgbClr val="E12424"/>
                  </a:solidFill>
                  <a:latin typeface="Lancelot"/>
                  <a:ea typeface="Lancelot"/>
                  <a:cs typeface="Lancelot"/>
                  <a:sym typeface="Lancelot"/>
                </a:rPr>
                <a:t>captured video</a:t>
              </a:r>
            </a:p>
          </p:txBody>
        </p:sp>
        <p:sp>
          <p:nvSpPr>
            <p:cNvPr name="TextBox 25" id="25"/>
            <p:cNvSpPr txBox="true"/>
            <p:nvPr/>
          </p:nvSpPr>
          <p:spPr>
            <a:xfrm rot="0">
              <a:off x="3563602" y="1583632"/>
              <a:ext cx="1539710" cy="313365"/>
            </a:xfrm>
            <a:prstGeom prst="rect">
              <a:avLst/>
            </a:prstGeom>
          </p:spPr>
          <p:txBody>
            <a:bodyPr anchor="t" rtlCol="false" tIns="0" lIns="0" bIns="0" rIns="0">
              <a:spAutoFit/>
            </a:bodyPr>
            <a:lstStyle/>
            <a:p>
              <a:pPr algn="ctr">
                <a:lnSpc>
                  <a:spcPts val="1306"/>
                </a:lnSpc>
                <a:spcBef>
                  <a:spcPct val="0"/>
                </a:spcBef>
              </a:pPr>
              <a:r>
                <a:rPr lang="en-US" sz="1088">
                  <a:solidFill>
                    <a:srgbClr val="253439"/>
                  </a:solidFill>
                  <a:latin typeface="Biski"/>
                  <a:ea typeface="Biski"/>
                  <a:cs typeface="Biski"/>
                  <a:sym typeface="Biski"/>
                </a:rPr>
                <a:t>camera module</a:t>
              </a:r>
            </a:p>
          </p:txBody>
        </p:sp>
        <p:sp>
          <p:nvSpPr>
            <p:cNvPr name="TextBox 26" id="26"/>
            <p:cNvSpPr txBox="true"/>
            <p:nvPr/>
          </p:nvSpPr>
          <p:spPr>
            <a:xfrm rot="0">
              <a:off x="3556636" y="3173384"/>
              <a:ext cx="2463136" cy="313365"/>
            </a:xfrm>
            <a:prstGeom prst="rect">
              <a:avLst/>
            </a:prstGeom>
          </p:spPr>
          <p:txBody>
            <a:bodyPr anchor="t" rtlCol="false" tIns="0" lIns="0" bIns="0" rIns="0">
              <a:spAutoFit/>
            </a:bodyPr>
            <a:lstStyle/>
            <a:p>
              <a:pPr algn="ctr">
                <a:lnSpc>
                  <a:spcPts val="1306"/>
                </a:lnSpc>
                <a:spcBef>
                  <a:spcPct val="0"/>
                </a:spcBef>
              </a:pPr>
              <a:r>
                <a:rPr lang="en-US" sz="1088">
                  <a:solidFill>
                    <a:srgbClr val="253439"/>
                  </a:solidFill>
                  <a:latin typeface="Biski"/>
                  <a:ea typeface="Biski"/>
                  <a:cs typeface="Biski"/>
                  <a:sym typeface="Biski"/>
                </a:rPr>
                <a:t>Image Processing Module</a:t>
              </a:r>
            </a:p>
          </p:txBody>
        </p:sp>
        <p:sp>
          <p:nvSpPr>
            <p:cNvPr name="TextBox 27" id="27"/>
            <p:cNvSpPr txBox="true"/>
            <p:nvPr/>
          </p:nvSpPr>
          <p:spPr>
            <a:xfrm rot="0">
              <a:off x="3793480" y="4512082"/>
              <a:ext cx="884900" cy="313365"/>
            </a:xfrm>
            <a:prstGeom prst="rect">
              <a:avLst/>
            </a:prstGeom>
          </p:spPr>
          <p:txBody>
            <a:bodyPr anchor="t" rtlCol="false" tIns="0" lIns="0" bIns="0" rIns="0">
              <a:spAutoFit/>
            </a:bodyPr>
            <a:lstStyle/>
            <a:p>
              <a:pPr algn="l">
                <a:lnSpc>
                  <a:spcPts val="1306"/>
                </a:lnSpc>
                <a:spcBef>
                  <a:spcPct val="0"/>
                </a:spcBef>
              </a:pPr>
              <a:r>
                <a:rPr lang="en-US" sz="1088">
                  <a:solidFill>
                    <a:srgbClr val="253439"/>
                  </a:solidFill>
                  <a:latin typeface="Biski"/>
                  <a:ea typeface="Biski"/>
                  <a:cs typeface="Biski"/>
                  <a:sym typeface="Biski"/>
                </a:rPr>
                <a:t>AI model</a:t>
              </a:r>
            </a:p>
          </p:txBody>
        </p:sp>
        <p:sp>
          <p:nvSpPr>
            <p:cNvPr name="TextBox 28" id="28"/>
            <p:cNvSpPr txBox="true"/>
            <p:nvPr/>
          </p:nvSpPr>
          <p:spPr>
            <a:xfrm rot="0">
              <a:off x="5463672" y="5716084"/>
              <a:ext cx="1271741" cy="313365"/>
            </a:xfrm>
            <a:prstGeom prst="rect">
              <a:avLst/>
            </a:prstGeom>
          </p:spPr>
          <p:txBody>
            <a:bodyPr anchor="t" rtlCol="false" tIns="0" lIns="0" bIns="0" rIns="0">
              <a:spAutoFit/>
            </a:bodyPr>
            <a:lstStyle/>
            <a:p>
              <a:pPr algn="l">
                <a:lnSpc>
                  <a:spcPts val="1306"/>
                </a:lnSpc>
                <a:spcBef>
                  <a:spcPct val="0"/>
                </a:spcBef>
              </a:pPr>
              <a:r>
                <a:rPr lang="en-US" sz="1088">
                  <a:solidFill>
                    <a:srgbClr val="253439"/>
                  </a:solidFill>
                  <a:latin typeface="Biski"/>
                  <a:ea typeface="Biski"/>
                  <a:cs typeface="Biski"/>
                  <a:sym typeface="Biski"/>
                </a:rPr>
                <a:t>Data Storage</a:t>
              </a:r>
            </a:p>
          </p:txBody>
        </p:sp>
        <p:sp>
          <p:nvSpPr>
            <p:cNvPr name="TextBox 29" id="29"/>
            <p:cNvSpPr txBox="true"/>
            <p:nvPr/>
          </p:nvSpPr>
          <p:spPr>
            <a:xfrm rot="0">
              <a:off x="1090851" y="6339833"/>
              <a:ext cx="1746138" cy="313365"/>
            </a:xfrm>
            <a:prstGeom prst="rect">
              <a:avLst/>
            </a:prstGeom>
          </p:spPr>
          <p:txBody>
            <a:bodyPr anchor="t" rtlCol="false" tIns="0" lIns="0" bIns="0" rIns="0">
              <a:spAutoFit/>
            </a:bodyPr>
            <a:lstStyle/>
            <a:p>
              <a:pPr algn="l">
                <a:lnSpc>
                  <a:spcPts val="1306"/>
                </a:lnSpc>
                <a:spcBef>
                  <a:spcPct val="0"/>
                </a:spcBef>
              </a:pPr>
              <a:r>
                <a:rPr lang="en-US" sz="1088">
                  <a:solidFill>
                    <a:srgbClr val="253439"/>
                  </a:solidFill>
                  <a:latin typeface="Biski"/>
                  <a:ea typeface="Biski"/>
                  <a:cs typeface="Biski"/>
                  <a:sym typeface="Biski"/>
                </a:rPr>
                <a:t>Feedback Module</a:t>
              </a:r>
            </a:p>
          </p:txBody>
        </p:sp>
        <p:sp>
          <p:nvSpPr>
            <p:cNvPr name="AutoShape 30" id="30"/>
            <p:cNvSpPr/>
            <p:nvPr/>
          </p:nvSpPr>
          <p:spPr>
            <a:xfrm flipV="true">
              <a:off x="728206" y="319195"/>
              <a:ext cx="1972914" cy="5710254"/>
            </a:xfrm>
            <a:prstGeom prst="line">
              <a:avLst/>
            </a:prstGeom>
            <a:ln cap="flat" w="26436">
              <a:solidFill>
                <a:srgbClr val="000000"/>
              </a:solidFill>
              <a:prstDash val="solid"/>
              <a:headEnd type="none" len="sm" w="sm"/>
              <a:tailEnd type="arrow" len="sm" w="med"/>
            </a:ln>
          </p:spPr>
        </p:sp>
        <p:sp>
          <p:nvSpPr>
            <p:cNvPr name="AutoShape 31" id="31"/>
            <p:cNvSpPr/>
            <p:nvPr/>
          </p:nvSpPr>
          <p:spPr>
            <a:xfrm flipH="true" flipV="true">
              <a:off x="3177637" y="5093734"/>
              <a:ext cx="1857039" cy="1164406"/>
            </a:xfrm>
            <a:prstGeom prst="line">
              <a:avLst/>
            </a:prstGeom>
            <a:ln cap="flat" w="26436">
              <a:solidFill>
                <a:srgbClr val="000000"/>
              </a:solidFill>
              <a:prstDash val="solid"/>
              <a:headEnd type="none" len="sm" w="sm"/>
              <a:tailEnd type="triangle" len="med" w="lg"/>
            </a:ln>
          </p:spPr>
        </p:sp>
        <p:sp>
          <p:nvSpPr>
            <p:cNvPr name="TextBox 32" id="32"/>
            <p:cNvSpPr txBox="true"/>
            <p:nvPr/>
          </p:nvSpPr>
          <p:spPr>
            <a:xfrm rot="0">
              <a:off x="2986522" y="2412902"/>
              <a:ext cx="1442183" cy="247482"/>
            </a:xfrm>
            <a:prstGeom prst="rect">
              <a:avLst/>
            </a:prstGeom>
          </p:spPr>
          <p:txBody>
            <a:bodyPr anchor="t" rtlCol="false" tIns="0" lIns="0" bIns="0" rIns="0">
              <a:spAutoFit/>
            </a:bodyPr>
            <a:lstStyle/>
            <a:p>
              <a:pPr algn="ctr">
                <a:lnSpc>
                  <a:spcPts val="1431"/>
                </a:lnSpc>
                <a:spcBef>
                  <a:spcPct val="0"/>
                </a:spcBef>
              </a:pPr>
              <a:r>
                <a:rPr lang="en-US" sz="1192">
                  <a:solidFill>
                    <a:srgbClr val="E12424"/>
                  </a:solidFill>
                  <a:latin typeface="Lancelot"/>
                  <a:ea typeface="Lancelot"/>
                  <a:cs typeface="Lancelot"/>
                  <a:sym typeface="Lancelot"/>
                </a:rPr>
                <a:t>Streams video</a:t>
              </a:r>
            </a:p>
          </p:txBody>
        </p:sp>
        <p:sp>
          <p:nvSpPr>
            <p:cNvPr name="TextBox 33" id="33"/>
            <p:cNvSpPr txBox="true"/>
            <p:nvPr/>
          </p:nvSpPr>
          <p:spPr>
            <a:xfrm rot="0">
              <a:off x="3195985" y="3831489"/>
              <a:ext cx="1442183" cy="247482"/>
            </a:xfrm>
            <a:prstGeom prst="rect">
              <a:avLst/>
            </a:prstGeom>
          </p:spPr>
          <p:txBody>
            <a:bodyPr anchor="t" rtlCol="false" tIns="0" lIns="0" bIns="0" rIns="0">
              <a:spAutoFit/>
            </a:bodyPr>
            <a:lstStyle/>
            <a:p>
              <a:pPr algn="ctr">
                <a:lnSpc>
                  <a:spcPts val="1431"/>
                </a:lnSpc>
                <a:spcBef>
                  <a:spcPct val="0"/>
                </a:spcBef>
              </a:pPr>
              <a:r>
                <a:rPr lang="en-US" sz="1192">
                  <a:solidFill>
                    <a:srgbClr val="E12424"/>
                  </a:solidFill>
                  <a:latin typeface="Lancelot"/>
                  <a:ea typeface="Lancelot"/>
                  <a:cs typeface="Lancelot"/>
                  <a:sym typeface="Lancelot"/>
                </a:rPr>
                <a:t>extracts key points</a:t>
              </a:r>
            </a:p>
          </p:txBody>
        </p:sp>
        <p:sp>
          <p:nvSpPr>
            <p:cNvPr name="TextBox 34" id="34"/>
            <p:cNvSpPr txBox="true"/>
            <p:nvPr/>
          </p:nvSpPr>
          <p:spPr>
            <a:xfrm rot="0">
              <a:off x="4382221" y="6415637"/>
              <a:ext cx="1442183" cy="247482"/>
            </a:xfrm>
            <a:prstGeom prst="rect">
              <a:avLst/>
            </a:prstGeom>
          </p:spPr>
          <p:txBody>
            <a:bodyPr anchor="t" rtlCol="false" tIns="0" lIns="0" bIns="0" rIns="0">
              <a:spAutoFit/>
            </a:bodyPr>
            <a:lstStyle/>
            <a:p>
              <a:pPr algn="ctr">
                <a:lnSpc>
                  <a:spcPts val="1431"/>
                </a:lnSpc>
                <a:spcBef>
                  <a:spcPct val="0"/>
                </a:spcBef>
              </a:pPr>
              <a:r>
                <a:rPr lang="en-US" sz="1192">
                  <a:solidFill>
                    <a:srgbClr val="E12424"/>
                  </a:solidFill>
                  <a:latin typeface="Lancelot"/>
                  <a:ea typeface="Lancelot"/>
                  <a:cs typeface="Lancelot"/>
                  <a:sym typeface="Lancelot"/>
                </a:rPr>
                <a:t>Stored User Data</a:t>
              </a:r>
            </a:p>
          </p:txBody>
        </p:sp>
        <p:sp>
          <p:nvSpPr>
            <p:cNvPr name="TextBox 35" id="35"/>
            <p:cNvSpPr txBox="true"/>
            <p:nvPr/>
          </p:nvSpPr>
          <p:spPr>
            <a:xfrm rot="0">
              <a:off x="4235930" y="4965231"/>
              <a:ext cx="1358032" cy="233597"/>
            </a:xfrm>
            <a:prstGeom prst="rect">
              <a:avLst/>
            </a:prstGeom>
          </p:spPr>
          <p:txBody>
            <a:bodyPr anchor="t" rtlCol="false" tIns="0" lIns="0" bIns="0" rIns="0">
              <a:spAutoFit/>
            </a:bodyPr>
            <a:lstStyle/>
            <a:p>
              <a:pPr algn="ctr">
                <a:lnSpc>
                  <a:spcPts val="1347"/>
                </a:lnSpc>
                <a:spcBef>
                  <a:spcPct val="0"/>
                </a:spcBef>
              </a:pPr>
              <a:r>
                <a:rPr lang="en-US" sz="1123">
                  <a:solidFill>
                    <a:srgbClr val="E12424"/>
                  </a:solidFill>
                  <a:latin typeface="Lancelot"/>
                  <a:ea typeface="Lancelot"/>
                  <a:cs typeface="Lancelot"/>
                  <a:sym typeface="Lancelot"/>
                </a:rPr>
                <a:t>saves Analysis</a:t>
              </a:r>
            </a:p>
          </p:txBody>
        </p:sp>
        <p:sp>
          <p:nvSpPr>
            <p:cNvPr name="TextBox 36" id="36"/>
            <p:cNvSpPr txBox="true"/>
            <p:nvPr/>
          </p:nvSpPr>
          <p:spPr>
            <a:xfrm rot="0">
              <a:off x="3195985" y="6019924"/>
              <a:ext cx="1442183" cy="247482"/>
            </a:xfrm>
            <a:prstGeom prst="rect">
              <a:avLst/>
            </a:prstGeom>
          </p:spPr>
          <p:txBody>
            <a:bodyPr anchor="t" rtlCol="false" tIns="0" lIns="0" bIns="0" rIns="0">
              <a:spAutoFit/>
            </a:bodyPr>
            <a:lstStyle/>
            <a:p>
              <a:pPr algn="ctr">
                <a:lnSpc>
                  <a:spcPts val="1431"/>
                </a:lnSpc>
                <a:spcBef>
                  <a:spcPct val="0"/>
                </a:spcBef>
              </a:pPr>
              <a:r>
                <a:rPr lang="en-US" sz="1192">
                  <a:solidFill>
                    <a:srgbClr val="E12424"/>
                  </a:solidFill>
                  <a:latin typeface="Lancelot"/>
                  <a:ea typeface="Lancelot"/>
                  <a:cs typeface="Lancelot"/>
                  <a:sym typeface="Lancelot"/>
                </a:rPr>
                <a:t>Retrives Data</a:t>
              </a:r>
            </a:p>
          </p:txBody>
        </p:sp>
        <p:sp>
          <p:nvSpPr>
            <p:cNvPr name="TextBox 37" id="37"/>
            <p:cNvSpPr txBox="true"/>
            <p:nvPr/>
          </p:nvSpPr>
          <p:spPr>
            <a:xfrm rot="-1791189">
              <a:off x="1340717" y="4860769"/>
              <a:ext cx="1358032" cy="233597"/>
            </a:xfrm>
            <a:prstGeom prst="rect">
              <a:avLst/>
            </a:prstGeom>
          </p:spPr>
          <p:txBody>
            <a:bodyPr anchor="t" rtlCol="false" tIns="0" lIns="0" bIns="0" rIns="0">
              <a:spAutoFit/>
            </a:bodyPr>
            <a:lstStyle/>
            <a:p>
              <a:pPr algn="ctr">
                <a:lnSpc>
                  <a:spcPts val="1347"/>
                </a:lnSpc>
                <a:spcBef>
                  <a:spcPct val="0"/>
                </a:spcBef>
              </a:pPr>
              <a:r>
                <a:rPr lang="en-US" sz="1123">
                  <a:solidFill>
                    <a:srgbClr val="E12424"/>
                  </a:solidFill>
                  <a:latin typeface="Lancelot"/>
                  <a:ea typeface="Lancelot"/>
                  <a:cs typeface="Lancelot"/>
                  <a:sym typeface="Lancelot"/>
                </a:rPr>
                <a:t>Analyzes Data</a:t>
              </a:r>
            </a:p>
          </p:txBody>
        </p:sp>
        <p:sp>
          <p:nvSpPr>
            <p:cNvPr name="TextBox 38" id="38"/>
            <p:cNvSpPr txBox="true"/>
            <p:nvPr/>
          </p:nvSpPr>
          <p:spPr>
            <a:xfrm rot="0">
              <a:off x="529091" y="2082477"/>
              <a:ext cx="1358032" cy="233597"/>
            </a:xfrm>
            <a:prstGeom prst="rect">
              <a:avLst/>
            </a:prstGeom>
          </p:spPr>
          <p:txBody>
            <a:bodyPr anchor="t" rtlCol="false" tIns="0" lIns="0" bIns="0" rIns="0">
              <a:spAutoFit/>
            </a:bodyPr>
            <a:lstStyle/>
            <a:p>
              <a:pPr algn="ctr">
                <a:lnSpc>
                  <a:spcPts val="1347"/>
                </a:lnSpc>
                <a:spcBef>
                  <a:spcPct val="0"/>
                </a:spcBef>
              </a:pPr>
              <a:r>
                <a:rPr lang="en-US" sz="1123">
                  <a:solidFill>
                    <a:srgbClr val="E12424"/>
                  </a:solidFill>
                  <a:latin typeface="Lancelot"/>
                  <a:ea typeface="Lancelot"/>
                  <a:cs typeface="Lancelot"/>
                  <a:sym typeface="Lancelot"/>
                </a:rPr>
                <a:t>Display Feedback</a:t>
              </a:r>
            </a:p>
          </p:txBody>
        </p:sp>
      </p:grpSp>
      <p:sp>
        <p:nvSpPr>
          <p:cNvPr name="Freeform 39" id="39"/>
          <p:cNvSpPr/>
          <p:nvPr/>
        </p:nvSpPr>
        <p:spPr>
          <a:xfrm flipH="false" flipV="false" rot="0">
            <a:off x="308718" y="6601006"/>
            <a:ext cx="7086530" cy="3578698"/>
          </a:xfrm>
          <a:custGeom>
            <a:avLst/>
            <a:gdLst/>
            <a:ahLst/>
            <a:cxnLst/>
            <a:rect r="r" b="b" t="t" l="l"/>
            <a:pathLst>
              <a:path h="3578698" w="7086530">
                <a:moveTo>
                  <a:pt x="0" y="0"/>
                </a:moveTo>
                <a:lnTo>
                  <a:pt x="7086530" y="0"/>
                </a:lnTo>
                <a:lnTo>
                  <a:pt x="7086530" y="3578698"/>
                </a:lnTo>
                <a:lnTo>
                  <a:pt x="0" y="3578698"/>
                </a:lnTo>
                <a:lnTo>
                  <a:pt x="0" y="0"/>
                </a:lnTo>
                <a:close/>
              </a:path>
            </a:pathLst>
          </a:custGeom>
          <a:blipFill>
            <a:blip r:embed="rId19"/>
            <a:stretch>
              <a:fillRect l="0" t="0" r="0" b="0"/>
            </a:stretch>
          </a:blipFill>
        </p:spPr>
      </p:sp>
      <p:sp>
        <p:nvSpPr>
          <p:cNvPr name="TextBox 40" id="40"/>
          <p:cNvSpPr txBox="true"/>
          <p:nvPr/>
        </p:nvSpPr>
        <p:spPr>
          <a:xfrm rot="0">
            <a:off x="9649153" y="1036679"/>
            <a:ext cx="1093692" cy="240773"/>
          </a:xfrm>
          <a:prstGeom prst="rect">
            <a:avLst/>
          </a:prstGeom>
        </p:spPr>
        <p:txBody>
          <a:bodyPr anchor="t" rtlCol="false" tIns="0" lIns="0" bIns="0" rIns="0">
            <a:spAutoFit/>
          </a:bodyPr>
          <a:lstStyle/>
          <a:p>
            <a:pPr algn="ctr">
              <a:lnSpc>
                <a:spcPts val="1951"/>
              </a:lnSpc>
              <a:spcBef>
                <a:spcPct val="0"/>
              </a:spcBef>
            </a:pPr>
            <a:r>
              <a:rPr lang="en-US" b="true" sz="1393">
                <a:solidFill>
                  <a:srgbClr val="000000"/>
                </a:solidFill>
                <a:latin typeface="Canva Sans Bold"/>
                <a:ea typeface="Canva Sans Bold"/>
                <a:cs typeface="Canva Sans Bold"/>
                <a:sym typeface="Canva Sans Bold"/>
              </a:rPr>
              <a:t>USER</a:t>
            </a:r>
          </a:p>
        </p:txBody>
      </p:sp>
    </p:spTree>
  </p:cSld>
  <p:clrMapOvr>
    <a:masterClrMapping/>
  </p:clrMapOvr>
</p:sld>
</file>

<file path=ppt/slides/slide9.xml><?xml version="1.0" encoding="utf-8"?>
<p:sld xmlns:p="http://schemas.openxmlformats.org/presentationml/2006/main" xmlns:a="http://schemas.openxmlformats.org/drawingml/2006/main">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1095375" y="449664"/>
            <a:ext cx="0" cy="1247775"/>
          </a:xfrm>
          <a:prstGeom prst="line">
            <a:avLst/>
          </a:prstGeom>
          <a:ln cap="flat" w="133350">
            <a:solidFill>
              <a:srgbClr val="D15353"/>
            </a:solidFill>
            <a:prstDash val="solid"/>
            <a:headEnd type="none" len="sm" w="sm"/>
            <a:tailEnd type="none" len="sm" w="sm"/>
          </a:ln>
        </p:spPr>
      </p:sp>
      <p:sp>
        <p:nvSpPr>
          <p:cNvPr name="TextBox 3" id="3"/>
          <p:cNvSpPr txBox="true"/>
          <p:nvPr/>
        </p:nvSpPr>
        <p:spPr>
          <a:xfrm rot="0">
            <a:off x="1287940" y="641384"/>
            <a:ext cx="6842193"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METHODOALOGY</a:t>
            </a:r>
          </a:p>
        </p:txBody>
      </p:sp>
      <p:graphicFrame>
        <p:nvGraphicFramePr>
          <p:cNvPr name="Table 4" id="4"/>
          <p:cNvGraphicFramePr>
            <a:graphicFrameLocks noGrp="true"/>
          </p:cNvGraphicFramePr>
          <p:nvPr/>
        </p:nvGraphicFramePr>
        <p:xfrm>
          <a:off x="1028700" y="2402198"/>
          <a:ext cx="16230600" cy="5238750"/>
        </p:xfrm>
        <a:graphic>
          <a:graphicData uri="http://schemas.openxmlformats.org/drawingml/2006/table">
            <a:tbl>
              <a:tblPr/>
              <a:tblGrid>
                <a:gridCol w="6271607"/>
                <a:gridCol w="9958993"/>
              </a:tblGrid>
              <a:tr h="1024765">
                <a:tc>
                  <a:txBody>
                    <a:bodyPr anchor="t" rtlCol="false"/>
                    <a:lstStyle/>
                    <a:p>
                      <a:pPr algn="ctr">
                        <a:lnSpc>
                          <a:spcPts val="4759"/>
                        </a:lnSpc>
                        <a:defRPr/>
                      </a:pPr>
                      <a:r>
                        <a:rPr lang="en-US" sz="3399" b="true">
                          <a:solidFill>
                            <a:srgbClr val="000000"/>
                          </a:solidFill>
                          <a:latin typeface="Aileron Bold"/>
                          <a:ea typeface="Aileron Bold"/>
                          <a:cs typeface="Aileron Bold"/>
                          <a:sym typeface="Aileron Bold"/>
                        </a:rPr>
                        <a:t>Layer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27ACA0"/>
                    </a:solidFill>
                  </a:tcPr>
                </a:tc>
                <a:tc>
                  <a:txBody>
                    <a:bodyPr anchor="t" rtlCol="false"/>
                    <a:lstStyle/>
                    <a:p>
                      <a:pPr algn="ctr">
                        <a:lnSpc>
                          <a:spcPts val="4759"/>
                        </a:lnSpc>
                        <a:defRPr/>
                      </a:pPr>
                      <a:r>
                        <a:rPr lang="en-US" sz="3399" b="true">
                          <a:solidFill>
                            <a:srgbClr val="000000"/>
                          </a:solidFill>
                          <a:latin typeface="Aileron Bold"/>
                          <a:ea typeface="Aileron Bold"/>
                          <a:cs typeface="Aileron Bold"/>
                          <a:sym typeface="Aileron Bold"/>
                        </a:rPr>
                        <a:t>Technologies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27ACA0"/>
                    </a:solidFill>
                  </a:tcPr>
                </a:tc>
              </a:tr>
              <a:tr h="852374">
                <a:tc>
                  <a:txBody>
                    <a:bodyPr anchor="t" rtlCol="false"/>
                    <a:lstStyle/>
                    <a:p>
                      <a:pPr algn="l">
                        <a:lnSpc>
                          <a:spcPts val="3499"/>
                        </a:lnSpc>
                        <a:defRPr/>
                      </a:pPr>
                      <a:r>
                        <a:rPr lang="en-US" sz="2499">
                          <a:solidFill>
                            <a:srgbClr val="000000"/>
                          </a:solidFill>
                          <a:latin typeface="Aileron"/>
                          <a:ea typeface="Aileron"/>
                          <a:cs typeface="Aileron"/>
                          <a:sym typeface="Aileron"/>
                        </a:rPr>
                        <a:t>Front-End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Aileron"/>
                          <a:ea typeface="Aileron"/>
                          <a:cs typeface="Aileron"/>
                          <a:sym typeface="Aileron"/>
                        </a:rPr>
                        <a:t>JAVA</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33220">
                <a:tc>
                  <a:txBody>
                    <a:bodyPr anchor="t" rtlCol="false"/>
                    <a:lstStyle/>
                    <a:p>
                      <a:pPr algn="l">
                        <a:lnSpc>
                          <a:spcPts val="3359"/>
                        </a:lnSpc>
                        <a:defRPr/>
                      </a:pPr>
                      <a:r>
                        <a:rPr lang="en-US" sz="2399">
                          <a:solidFill>
                            <a:srgbClr val="000000"/>
                          </a:solidFill>
                          <a:latin typeface="Aileron"/>
                          <a:ea typeface="Aileron"/>
                          <a:cs typeface="Aileron"/>
                          <a:sym typeface="Aileron"/>
                        </a:rPr>
                        <a:t>Back-End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Aileron"/>
                          <a:ea typeface="Aileron"/>
                          <a:cs typeface="Aileron"/>
                          <a:sym typeface="Aileron"/>
                        </a:rPr>
                        <a:t>Python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42797">
                <a:tc>
                  <a:txBody>
                    <a:bodyPr anchor="t" rtlCol="false"/>
                    <a:lstStyle/>
                    <a:p>
                      <a:pPr algn="l">
                        <a:lnSpc>
                          <a:spcPts val="3359"/>
                        </a:lnSpc>
                        <a:defRPr/>
                      </a:pPr>
                      <a:r>
                        <a:rPr lang="en-US" sz="2399">
                          <a:solidFill>
                            <a:srgbClr val="000000"/>
                          </a:solidFill>
                          <a:latin typeface="Aileron"/>
                          <a:ea typeface="Aileron"/>
                          <a:cs typeface="Aileron"/>
                          <a:sym typeface="Aileron"/>
                        </a:rPr>
                        <a:t>Database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Aileron"/>
                          <a:ea typeface="Aileron"/>
                          <a:cs typeface="Aileron"/>
                          <a:sym typeface="Aileron"/>
                        </a:rPr>
                        <a:t>Firebase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42797">
                <a:tc>
                  <a:txBody>
                    <a:bodyPr anchor="t" rtlCol="false"/>
                    <a:lstStyle/>
                    <a:p>
                      <a:pPr algn="l">
                        <a:lnSpc>
                          <a:spcPts val="3359"/>
                        </a:lnSpc>
                        <a:defRPr/>
                      </a:pPr>
                      <a:r>
                        <a:rPr lang="en-US" sz="2399">
                          <a:solidFill>
                            <a:srgbClr val="000000"/>
                          </a:solidFill>
                          <a:latin typeface="Aileron"/>
                          <a:ea typeface="Aileron"/>
                          <a:cs typeface="Aileron"/>
                          <a:sym typeface="Aileron"/>
                        </a:rPr>
                        <a:t>AI/ML</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Aileron"/>
                          <a:ea typeface="Aileron"/>
                          <a:cs typeface="Aileron"/>
                          <a:sym typeface="Aileron"/>
                        </a:rPr>
                        <a:t>TensorFlow (machine learning framework.)</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42797">
                <a:tc>
                  <a:txBody>
                    <a:bodyPr anchor="t" rtlCol="false"/>
                    <a:lstStyle/>
                    <a:p>
                      <a:pPr algn="l">
                        <a:lnSpc>
                          <a:spcPts val="3359"/>
                        </a:lnSpc>
                        <a:defRPr/>
                      </a:pPr>
                      <a:r>
                        <a:rPr lang="en-US" sz="2399">
                          <a:solidFill>
                            <a:srgbClr val="000000"/>
                          </a:solidFill>
                          <a:latin typeface="Aileron"/>
                          <a:ea typeface="Aileron"/>
                          <a:cs typeface="Aileron"/>
                          <a:sym typeface="Aileron"/>
                        </a:rPr>
                        <a:t>Data analytics &amp; </a:t>
                      </a:r>
                      <a:r>
                        <a:rPr lang="en-US" sz="2399">
                          <a:solidFill>
                            <a:srgbClr val="000000"/>
                          </a:solidFill>
                          <a:latin typeface="Aileron"/>
                          <a:ea typeface="Aileron"/>
                          <a:cs typeface="Aileron"/>
                          <a:sym typeface="Aileron"/>
                        </a:rPr>
                        <a:t>Visualization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Aileron"/>
                          <a:ea typeface="Aileron"/>
                          <a:cs typeface="Aileron"/>
                          <a:sym typeface="Aileron"/>
                        </a:rPr>
                        <a:t>Matplotlib / Pandas </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4531139" y="5172791"/>
            <a:ext cx="6863077" cy="1060831"/>
          </a:xfrm>
          <a:prstGeom prst="rect">
            <a:avLst/>
          </a:prstGeom>
        </p:spPr>
        <p:txBody>
          <a:bodyPr anchor="t" rtlCol="false" tIns="0" lIns="0" bIns="0" rIns="0">
            <a:spAutoFit/>
          </a:bodyPr>
          <a:lstStyle/>
          <a:p>
            <a:pPr algn="l">
              <a:lnSpc>
                <a:spcPts val="8162"/>
              </a:lnSpc>
            </a:pPr>
            <a:r>
              <a:rPr lang="en-US" b="true" sz="7700">
                <a:solidFill>
                  <a:srgbClr val="253439"/>
                </a:solidFill>
                <a:latin typeface="Glacial Indifference Bold"/>
                <a:ea typeface="Glacial Indifference Bold"/>
                <a:cs typeface="Glacial Indifference Bold"/>
                <a:sym typeface="Glacial Indifference Bold"/>
              </a:rPr>
              <a:t>COMPONENTS</a:t>
            </a:r>
          </a:p>
        </p:txBody>
      </p:sp>
      <p:sp>
        <p:nvSpPr>
          <p:cNvPr name="TextBox 3" id="3"/>
          <p:cNvSpPr txBox="true"/>
          <p:nvPr/>
        </p:nvSpPr>
        <p:spPr>
          <a:xfrm rot="0">
            <a:off x="4531139" y="4126946"/>
            <a:ext cx="7216494" cy="941070"/>
          </a:xfrm>
          <a:prstGeom prst="rect">
            <a:avLst/>
          </a:prstGeom>
        </p:spPr>
        <p:txBody>
          <a:bodyPr anchor="t" rtlCol="false" tIns="0" lIns="0" bIns="0" rIns="0">
            <a:spAutoFit/>
          </a:bodyPr>
          <a:lstStyle/>
          <a:p>
            <a:pPr algn="l">
              <a:lnSpc>
                <a:spcPts val="7260"/>
              </a:lnSpc>
            </a:pPr>
            <a:r>
              <a:rPr lang="en-US" sz="6600" spc="211">
                <a:solidFill>
                  <a:srgbClr val="000000"/>
                </a:solidFill>
                <a:latin typeface="HK Grotesk"/>
                <a:ea typeface="HK Grotesk"/>
                <a:cs typeface="HK Grotesk"/>
                <a:sym typeface="HK Grotesk"/>
              </a:rPr>
              <a:t>INDIVIDUAL</a:t>
            </a:r>
          </a:p>
        </p:txBody>
      </p:sp>
      <p:sp>
        <p:nvSpPr>
          <p:cNvPr name="AutoShape 4" id="4"/>
          <p:cNvSpPr/>
          <p:nvPr/>
        </p:nvSpPr>
        <p:spPr>
          <a:xfrm flipH="true">
            <a:off x="3938048" y="4053378"/>
            <a:ext cx="0" cy="2180244"/>
          </a:xfrm>
          <a:prstGeom prst="line">
            <a:avLst/>
          </a:prstGeom>
          <a:ln cap="flat" w="133350">
            <a:solidFill>
              <a:srgbClr val="D15353"/>
            </a:solidFill>
            <a:prstDash val="solid"/>
            <a:headEnd type="none" len="sm" w="sm"/>
            <a:tailEnd type="none" len="sm" w="sm"/>
          </a:ln>
        </p:spPr>
      </p:sp>
      <p:sp>
        <p:nvSpPr>
          <p:cNvPr name="Freeform 5" id="5"/>
          <p:cNvSpPr/>
          <p:nvPr/>
        </p:nvSpPr>
        <p:spPr>
          <a:xfrm flipH="false" flipV="false" rot="-10800000">
            <a:off x="8928749" y="356481"/>
            <a:ext cx="11173984" cy="7393795"/>
          </a:xfrm>
          <a:custGeom>
            <a:avLst/>
            <a:gdLst/>
            <a:ahLst/>
            <a:cxnLst/>
            <a:rect r="r" b="b" t="t" l="l"/>
            <a:pathLst>
              <a:path h="7393795" w="11173984">
                <a:moveTo>
                  <a:pt x="0" y="0"/>
                </a:moveTo>
                <a:lnTo>
                  <a:pt x="11173984" y="0"/>
                </a:lnTo>
                <a:lnTo>
                  <a:pt x="11173984" y="7393794"/>
                </a:lnTo>
                <a:lnTo>
                  <a:pt x="0" y="7393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4431566">
            <a:off x="9835340" y="5984875"/>
            <a:ext cx="10875091" cy="7196018"/>
          </a:xfrm>
          <a:custGeom>
            <a:avLst/>
            <a:gdLst/>
            <a:ahLst/>
            <a:cxnLst/>
            <a:rect r="r" b="b" t="t" l="l"/>
            <a:pathLst>
              <a:path h="7196018" w="10875091">
                <a:moveTo>
                  <a:pt x="0" y="0"/>
                </a:moveTo>
                <a:lnTo>
                  <a:pt x="10875091" y="0"/>
                </a:lnTo>
                <a:lnTo>
                  <a:pt x="10875091" y="7196018"/>
                </a:lnTo>
                <a:lnTo>
                  <a:pt x="0" y="71960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95445" y="1873370"/>
            <a:ext cx="2928246" cy="4407931"/>
          </a:xfrm>
          <a:custGeom>
            <a:avLst/>
            <a:gdLst/>
            <a:ahLst/>
            <a:cxnLst/>
            <a:rect r="r" b="b" t="t" l="l"/>
            <a:pathLst>
              <a:path h="4407931" w="2928246">
                <a:moveTo>
                  <a:pt x="0" y="0"/>
                </a:moveTo>
                <a:lnTo>
                  <a:pt x="2928246" y="0"/>
                </a:lnTo>
                <a:lnTo>
                  <a:pt x="2928246" y="4407931"/>
                </a:lnTo>
                <a:lnTo>
                  <a:pt x="0" y="4407931"/>
                </a:lnTo>
                <a:lnTo>
                  <a:pt x="0" y="0"/>
                </a:lnTo>
                <a:close/>
              </a:path>
            </a:pathLst>
          </a:custGeom>
          <a:blipFill>
            <a:blip r:embed="rId4"/>
            <a:stretch>
              <a:fillRect l="-22442" t="-21655" r="-16578" b="-1482"/>
            </a:stretch>
          </a:blipFill>
        </p:spPr>
      </p:sp>
      <p:sp>
        <p:nvSpPr>
          <p:cNvPr name="Freeform 4" id="4"/>
          <p:cNvSpPr/>
          <p:nvPr/>
        </p:nvSpPr>
        <p:spPr>
          <a:xfrm flipH="false" flipV="false" rot="0">
            <a:off x="1028700" y="2070856"/>
            <a:ext cx="9853246" cy="2006479"/>
          </a:xfrm>
          <a:custGeom>
            <a:avLst/>
            <a:gdLst/>
            <a:ahLst/>
            <a:cxnLst/>
            <a:rect r="r" b="b" t="t" l="l"/>
            <a:pathLst>
              <a:path h="2006479" w="9853246">
                <a:moveTo>
                  <a:pt x="0" y="0"/>
                </a:moveTo>
                <a:lnTo>
                  <a:pt x="9853246" y="0"/>
                </a:lnTo>
                <a:lnTo>
                  <a:pt x="9853246" y="2006479"/>
                </a:lnTo>
                <a:lnTo>
                  <a:pt x="0" y="20064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028700" y="411146"/>
            <a:ext cx="5485924" cy="1111283"/>
          </a:xfrm>
          <a:prstGeom prst="rect">
            <a:avLst/>
          </a:prstGeom>
        </p:spPr>
        <p:txBody>
          <a:bodyPr anchor="t" rtlCol="false" tIns="0" lIns="0" bIns="0" rIns="0">
            <a:spAutoFit/>
          </a:bodyPr>
          <a:lstStyle/>
          <a:p>
            <a:pPr algn="ctr">
              <a:lnSpc>
                <a:spcPts val="9098"/>
              </a:lnSpc>
              <a:spcBef>
                <a:spcPct val="0"/>
              </a:spcBef>
            </a:pPr>
            <a:r>
              <a:rPr lang="en-US" b="true" sz="6498">
                <a:solidFill>
                  <a:srgbClr val="000000"/>
                </a:solidFill>
                <a:latin typeface="HK Grotesk Bold"/>
                <a:ea typeface="HK Grotesk Bold"/>
                <a:cs typeface="HK Grotesk Bold"/>
                <a:sym typeface="HK Grotesk Bold"/>
              </a:rPr>
              <a:t>Component 01</a:t>
            </a:r>
          </a:p>
        </p:txBody>
      </p:sp>
      <p:sp>
        <p:nvSpPr>
          <p:cNvPr name="TextBox 6" id="6"/>
          <p:cNvSpPr txBox="true"/>
          <p:nvPr/>
        </p:nvSpPr>
        <p:spPr>
          <a:xfrm rot="0">
            <a:off x="12626501" y="6759085"/>
            <a:ext cx="3466133" cy="516800"/>
          </a:xfrm>
          <a:prstGeom prst="rect">
            <a:avLst/>
          </a:prstGeom>
        </p:spPr>
        <p:txBody>
          <a:bodyPr anchor="t" rtlCol="false" tIns="0" lIns="0" bIns="0" rIns="0">
            <a:spAutoFit/>
          </a:bodyPr>
          <a:lstStyle/>
          <a:p>
            <a:pPr algn="ctr">
              <a:lnSpc>
                <a:spcPts val="4098"/>
              </a:lnSpc>
              <a:spcBef>
                <a:spcPct val="0"/>
              </a:spcBef>
            </a:pPr>
            <a:r>
              <a:rPr lang="en-US" b="true" sz="3415" i="true">
                <a:solidFill>
                  <a:srgbClr val="000000"/>
                </a:solidFill>
                <a:latin typeface="Aileron Bold Italics"/>
                <a:ea typeface="Aileron Bold Italics"/>
                <a:cs typeface="Aileron Bold Italics"/>
                <a:sym typeface="Aileron Bold Italics"/>
              </a:rPr>
              <a:t>Edirisuriya M.G.R</a:t>
            </a:r>
          </a:p>
        </p:txBody>
      </p:sp>
      <p:sp>
        <p:nvSpPr>
          <p:cNvPr name="TextBox 7" id="7"/>
          <p:cNvSpPr txBox="true"/>
          <p:nvPr/>
        </p:nvSpPr>
        <p:spPr>
          <a:xfrm rot="0">
            <a:off x="13077808" y="7275924"/>
            <a:ext cx="2563520" cy="516800"/>
          </a:xfrm>
          <a:prstGeom prst="rect">
            <a:avLst/>
          </a:prstGeom>
        </p:spPr>
        <p:txBody>
          <a:bodyPr anchor="t" rtlCol="false" tIns="0" lIns="0" bIns="0" rIns="0">
            <a:spAutoFit/>
          </a:bodyPr>
          <a:lstStyle/>
          <a:p>
            <a:pPr algn="ctr">
              <a:lnSpc>
                <a:spcPts val="4098"/>
              </a:lnSpc>
              <a:spcBef>
                <a:spcPct val="0"/>
              </a:spcBef>
            </a:pPr>
            <a:r>
              <a:rPr lang="en-US" b="true" sz="3415" i="true">
                <a:solidFill>
                  <a:srgbClr val="000000"/>
                </a:solidFill>
                <a:latin typeface="Aileron Bold Italics"/>
                <a:ea typeface="Aileron Bold Italics"/>
                <a:cs typeface="Aileron Bold Italics"/>
                <a:sym typeface="Aileron Bold Italics"/>
              </a:rPr>
              <a:t>IT21380846</a:t>
            </a:r>
          </a:p>
        </p:txBody>
      </p:sp>
      <p:sp>
        <p:nvSpPr>
          <p:cNvPr name="TextBox 8" id="8"/>
          <p:cNvSpPr txBox="true"/>
          <p:nvPr/>
        </p:nvSpPr>
        <p:spPr>
          <a:xfrm rot="0">
            <a:off x="1474725" y="2611178"/>
            <a:ext cx="8572865" cy="925836"/>
          </a:xfrm>
          <a:prstGeom prst="rect">
            <a:avLst/>
          </a:prstGeom>
        </p:spPr>
        <p:txBody>
          <a:bodyPr anchor="t" rtlCol="false" tIns="0" lIns="0" bIns="0" rIns="0">
            <a:spAutoFit/>
          </a:bodyPr>
          <a:lstStyle/>
          <a:p>
            <a:pPr algn="ctr">
              <a:lnSpc>
                <a:spcPts val="3696"/>
              </a:lnSpc>
              <a:spcBef>
                <a:spcPct val="0"/>
              </a:spcBef>
            </a:pPr>
            <a:r>
              <a:rPr lang="en-US" b="true" sz="3080">
                <a:solidFill>
                  <a:srgbClr val="000000"/>
                </a:solidFill>
                <a:latin typeface="Aileron Bold"/>
                <a:ea typeface="Aileron Bold"/>
                <a:cs typeface="Aileron Bold"/>
                <a:sym typeface="Aileron Bold"/>
              </a:rPr>
              <a:t>AI-Powered Dynamic Body Composition Analysis and Health Forecasting.</a:t>
            </a:r>
            <a:r>
              <a:rPr lang="en-US" b="true" sz="3080">
                <a:solidFill>
                  <a:srgbClr val="000000"/>
                </a:solidFill>
                <a:latin typeface="Aileron Bold"/>
                <a:ea typeface="Aileron Bold"/>
                <a:cs typeface="Aileron Bold"/>
                <a:sym typeface="Aileron Bold"/>
              </a:rPr>
              <a:t>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6979616">
            <a:off x="-2806960" y="-1213622"/>
            <a:ext cx="11173984" cy="7393795"/>
          </a:xfrm>
          <a:custGeom>
            <a:avLst/>
            <a:gdLst/>
            <a:ahLst/>
            <a:cxnLst/>
            <a:rect r="r" b="b" t="t" l="l"/>
            <a:pathLst>
              <a:path h="7393795" w="11173984">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2109242" y="2868001"/>
            <a:ext cx="0" cy="1247775"/>
          </a:xfrm>
          <a:prstGeom prst="line">
            <a:avLst/>
          </a:prstGeom>
          <a:ln cap="flat" w="133350">
            <a:gradFill>
              <a:gsLst>
                <a:gs pos="0">
                  <a:srgbClr val="FDF7EF">
                    <a:alpha val="100000"/>
                  </a:srgbClr>
                </a:gs>
                <a:gs pos="100000">
                  <a:srgbClr val="FFFFFF">
                    <a:alpha val="100000"/>
                  </a:srgbClr>
                </a:gs>
              </a:gsLst>
              <a:lin ang="0"/>
            </a:gradFill>
            <a:prstDash val="solid"/>
            <a:headEnd type="none" len="sm" w="sm"/>
            <a:tailEnd type="none" len="sm" w="sm"/>
          </a:ln>
        </p:spPr>
      </p:sp>
      <p:sp>
        <p:nvSpPr>
          <p:cNvPr name="Freeform 4" id="4"/>
          <p:cNvSpPr/>
          <p:nvPr/>
        </p:nvSpPr>
        <p:spPr>
          <a:xfrm flipH="false" flipV="false" rot="0">
            <a:off x="15454465" y="1628211"/>
            <a:ext cx="1441034" cy="1441034"/>
          </a:xfrm>
          <a:custGeom>
            <a:avLst/>
            <a:gdLst/>
            <a:ahLst/>
            <a:cxnLst/>
            <a:rect r="r" b="b" t="t" l="l"/>
            <a:pathLst>
              <a:path h="1441034" w="1441034">
                <a:moveTo>
                  <a:pt x="0" y="0"/>
                </a:moveTo>
                <a:lnTo>
                  <a:pt x="1441035" y="0"/>
                </a:lnTo>
                <a:lnTo>
                  <a:pt x="1441035" y="1441034"/>
                </a:lnTo>
                <a:lnTo>
                  <a:pt x="0" y="1441034"/>
                </a:lnTo>
                <a:lnTo>
                  <a:pt x="0" y="0"/>
                </a:lnTo>
                <a:close/>
              </a:path>
            </a:pathLst>
          </a:custGeom>
          <a:blipFill>
            <a:blip r:embed="rId4"/>
            <a:stretch>
              <a:fillRect l="0" t="0" r="0" b="0"/>
            </a:stretch>
          </a:blipFill>
        </p:spPr>
      </p:sp>
      <p:sp>
        <p:nvSpPr>
          <p:cNvPr name="Freeform 5" id="5"/>
          <p:cNvSpPr/>
          <p:nvPr/>
        </p:nvSpPr>
        <p:spPr>
          <a:xfrm flipH="false" flipV="false" rot="0">
            <a:off x="1659507" y="7499927"/>
            <a:ext cx="1758373" cy="1758373"/>
          </a:xfrm>
          <a:custGeom>
            <a:avLst/>
            <a:gdLst/>
            <a:ahLst/>
            <a:cxnLst/>
            <a:rect r="r" b="b" t="t" l="l"/>
            <a:pathLst>
              <a:path h="1758373" w="1758373">
                <a:moveTo>
                  <a:pt x="0" y="0"/>
                </a:moveTo>
                <a:lnTo>
                  <a:pt x="1758374" y="0"/>
                </a:lnTo>
                <a:lnTo>
                  <a:pt x="1758374" y="1758373"/>
                </a:lnTo>
                <a:lnTo>
                  <a:pt x="0" y="1758373"/>
                </a:lnTo>
                <a:lnTo>
                  <a:pt x="0" y="0"/>
                </a:lnTo>
                <a:close/>
              </a:path>
            </a:pathLst>
          </a:custGeom>
          <a:blipFill>
            <a:blip r:embed="rId5"/>
            <a:stretch>
              <a:fillRect l="0" t="0" r="0" b="0"/>
            </a:stretch>
          </a:blipFill>
        </p:spPr>
      </p:sp>
      <p:sp>
        <p:nvSpPr>
          <p:cNvPr name="Freeform 6" id="6"/>
          <p:cNvSpPr/>
          <p:nvPr/>
        </p:nvSpPr>
        <p:spPr>
          <a:xfrm flipH="false" flipV="false" rot="0">
            <a:off x="4784417" y="2178060"/>
            <a:ext cx="9960314" cy="7443071"/>
          </a:xfrm>
          <a:custGeom>
            <a:avLst/>
            <a:gdLst/>
            <a:ahLst/>
            <a:cxnLst/>
            <a:rect r="r" b="b" t="t" l="l"/>
            <a:pathLst>
              <a:path h="7443071" w="9960314">
                <a:moveTo>
                  <a:pt x="0" y="0"/>
                </a:moveTo>
                <a:lnTo>
                  <a:pt x="9960314" y="0"/>
                </a:lnTo>
                <a:lnTo>
                  <a:pt x="9960314" y="7443071"/>
                </a:lnTo>
                <a:lnTo>
                  <a:pt x="0" y="74430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7785810" y="1019175"/>
            <a:ext cx="5007291" cy="854811"/>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INTRODUCTION</a:t>
            </a:r>
          </a:p>
        </p:txBody>
      </p:sp>
      <p:sp>
        <p:nvSpPr>
          <p:cNvPr name="TextBox 8" id="8"/>
          <p:cNvSpPr txBox="true"/>
          <p:nvPr/>
        </p:nvSpPr>
        <p:spPr>
          <a:xfrm rot="0">
            <a:off x="5993738" y="3705555"/>
            <a:ext cx="7490346" cy="4673558"/>
          </a:xfrm>
          <a:prstGeom prst="rect">
            <a:avLst/>
          </a:prstGeom>
        </p:spPr>
        <p:txBody>
          <a:bodyPr anchor="t" rtlCol="false" tIns="0" lIns="0" bIns="0" rIns="0">
            <a:spAutoFit/>
          </a:bodyPr>
          <a:lstStyle/>
          <a:p>
            <a:pPr algn="ctr">
              <a:lnSpc>
                <a:spcPts val="3360"/>
              </a:lnSpc>
              <a:spcBef>
                <a:spcPct val="0"/>
              </a:spcBef>
            </a:pPr>
            <a:r>
              <a:rPr lang="en-US" sz="2800">
                <a:solidFill>
                  <a:srgbClr val="253439"/>
                </a:solidFill>
                <a:latin typeface="Glacial Indifference"/>
                <a:ea typeface="Glacial Indifference"/>
                <a:cs typeface="Glacial Indifference"/>
                <a:sym typeface="Glacial Indifference"/>
              </a:rPr>
              <a:t>THIS RESEARCH PRESENTS AN AI-POWERED FITNESS APP THAT PERSONALIZES WORKOUT PLANS BASED ON USER BIOMETRICS AND FITNESS GOALS. USERS INPUT THEIR AGE, HEIGHT, WEIGHT, AND EXERCISE PURPOSE, WHILE THE SYSTEM AUTOMATICALLY CAPTURES HEART RATE AND BLOOD PRESSURE VIA A FINGER-TOUCH CAMERA SENSOR. USING MACHINE LEARNING, THE APP SUGGESTS CUSTOMIZED WORKOUTS, ENSURING SAFE AND EFFECTIVE TRAINING.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044681">
            <a:off x="9941276" y="-2635999"/>
            <a:ext cx="10478021" cy="6933278"/>
          </a:xfrm>
          <a:custGeom>
            <a:avLst/>
            <a:gdLst/>
            <a:ahLst/>
            <a:cxnLst/>
            <a:rect r="r" b="b" t="t" l="l"/>
            <a:pathLst>
              <a:path h="6933278" w="10478021">
                <a:moveTo>
                  <a:pt x="0" y="0"/>
                </a:moveTo>
                <a:lnTo>
                  <a:pt x="10478022" y="0"/>
                </a:lnTo>
                <a:lnTo>
                  <a:pt x="10478022" y="6933278"/>
                </a:lnTo>
                <a:lnTo>
                  <a:pt x="0" y="69332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30038" y="3290278"/>
            <a:ext cx="10581808" cy="5278930"/>
            <a:chOff x="0" y="0"/>
            <a:chExt cx="2786978" cy="1390336"/>
          </a:xfrm>
        </p:grpSpPr>
        <p:sp>
          <p:nvSpPr>
            <p:cNvPr name="Freeform 4" id="4"/>
            <p:cNvSpPr/>
            <p:nvPr/>
          </p:nvSpPr>
          <p:spPr>
            <a:xfrm flipH="false" flipV="false" rot="0">
              <a:off x="0" y="0"/>
              <a:ext cx="2786978" cy="1390336"/>
            </a:xfrm>
            <a:custGeom>
              <a:avLst/>
              <a:gdLst/>
              <a:ahLst/>
              <a:cxnLst/>
              <a:rect r="r" b="b" t="t" l="l"/>
              <a:pathLst>
                <a:path h="1390336" w="2786978">
                  <a:moveTo>
                    <a:pt x="0" y="0"/>
                  </a:moveTo>
                  <a:lnTo>
                    <a:pt x="2786978" y="0"/>
                  </a:lnTo>
                  <a:lnTo>
                    <a:pt x="2786978" y="1390336"/>
                  </a:lnTo>
                  <a:lnTo>
                    <a:pt x="0" y="1390336"/>
                  </a:lnTo>
                  <a:close/>
                </a:path>
              </a:pathLst>
            </a:custGeom>
            <a:gradFill rotWithShape="true">
              <a:gsLst>
                <a:gs pos="0">
                  <a:srgbClr val="CDFFD8">
                    <a:alpha val="100000"/>
                  </a:srgbClr>
                </a:gs>
                <a:gs pos="100000">
                  <a:srgbClr val="94B9FF">
                    <a:alpha val="100000"/>
                  </a:srgbClr>
                </a:gs>
              </a:gsLst>
              <a:lin ang="0"/>
            </a:gradFill>
          </p:spPr>
        </p:sp>
        <p:sp>
          <p:nvSpPr>
            <p:cNvPr name="TextBox 5" id="5"/>
            <p:cNvSpPr txBox="true"/>
            <p:nvPr/>
          </p:nvSpPr>
          <p:spPr>
            <a:xfrm>
              <a:off x="0" y="-28575"/>
              <a:ext cx="2786978" cy="1418911"/>
            </a:xfrm>
            <a:prstGeom prst="rect">
              <a:avLst/>
            </a:prstGeom>
          </p:spPr>
          <p:txBody>
            <a:bodyPr anchor="ctr" rtlCol="false" tIns="50800" lIns="50800" bIns="50800" rIns="50800"/>
            <a:lstStyle/>
            <a:p>
              <a:pPr algn="ctr">
                <a:lnSpc>
                  <a:spcPts val="1951"/>
                </a:lnSpc>
              </a:pPr>
            </a:p>
          </p:txBody>
        </p:sp>
      </p:grpSp>
      <p:sp>
        <p:nvSpPr>
          <p:cNvPr name="TextBox 6" id="6"/>
          <p:cNvSpPr txBox="true"/>
          <p:nvPr/>
        </p:nvSpPr>
        <p:spPr>
          <a:xfrm rot="0">
            <a:off x="1630038" y="1194590"/>
            <a:ext cx="6842193"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RESEARCH PROBLEM</a:t>
            </a:r>
          </a:p>
        </p:txBody>
      </p:sp>
      <p:sp>
        <p:nvSpPr>
          <p:cNvPr name="TextBox 7" id="7"/>
          <p:cNvSpPr txBox="true"/>
          <p:nvPr/>
        </p:nvSpPr>
        <p:spPr>
          <a:xfrm rot="0">
            <a:off x="2017602" y="4088790"/>
            <a:ext cx="9395000" cy="3130952"/>
          </a:xfrm>
          <a:prstGeom prst="rect">
            <a:avLst/>
          </a:prstGeom>
        </p:spPr>
        <p:txBody>
          <a:bodyPr anchor="t" rtlCol="false" tIns="0" lIns="0" bIns="0" rIns="0">
            <a:spAutoFit/>
          </a:bodyPr>
          <a:lstStyle/>
          <a:p>
            <a:pPr algn="ctr">
              <a:lnSpc>
                <a:spcPts val="4136"/>
              </a:lnSpc>
              <a:spcBef>
                <a:spcPct val="0"/>
              </a:spcBef>
            </a:pPr>
            <a:r>
              <a:rPr lang="en-US" b="true" sz="3446">
                <a:solidFill>
                  <a:srgbClr val="253439"/>
                </a:solidFill>
                <a:latin typeface="Glacial Indifference Bold"/>
                <a:ea typeface="Glacial Indifference Bold"/>
                <a:cs typeface="Glacial Indifference Bold"/>
                <a:sym typeface="Glacial Indifference Bold"/>
              </a:rPr>
              <a:t>UNLIKE TRADITIONAL SYSTEMS THAT OFFER STATIC WORKOUT ROUTINES, THE CHALLENGE LIES IN CREATING AN AI SYSTEM CAPABLE OF DYNAMICALLY ADAPTING TO USER PROGRESS AND PREFERENCES WHILE MAINTAINING PRECISION AND USER SATISFACTION.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9007569">
            <a:off x="7810419" y="-5064825"/>
            <a:ext cx="16518482" cy="9851022"/>
          </a:xfrm>
          <a:custGeom>
            <a:avLst/>
            <a:gdLst/>
            <a:ahLst/>
            <a:cxnLst/>
            <a:rect r="r" b="b" t="t" l="l"/>
            <a:pathLst>
              <a:path h="9851022" w="16518482">
                <a:moveTo>
                  <a:pt x="0" y="0"/>
                </a:moveTo>
                <a:lnTo>
                  <a:pt x="16518481" y="0"/>
                </a:lnTo>
                <a:lnTo>
                  <a:pt x="16518481" y="9851022"/>
                </a:lnTo>
                <a:lnTo>
                  <a:pt x="0" y="98510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54354" y="1959355"/>
            <a:ext cx="7810719" cy="7753914"/>
          </a:xfrm>
          <a:custGeom>
            <a:avLst/>
            <a:gdLst/>
            <a:ahLst/>
            <a:cxnLst/>
            <a:rect r="r" b="b" t="t" l="l"/>
            <a:pathLst>
              <a:path h="7753914" w="7810719">
                <a:moveTo>
                  <a:pt x="0" y="0"/>
                </a:moveTo>
                <a:lnTo>
                  <a:pt x="7810719" y="0"/>
                </a:lnTo>
                <a:lnTo>
                  <a:pt x="7810719" y="7753914"/>
                </a:lnTo>
                <a:lnTo>
                  <a:pt x="0" y="77539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14935" y="867254"/>
            <a:ext cx="6842193"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B2B2B"/>
                </a:solidFill>
                <a:latin typeface="Glacial Indifference Bold"/>
                <a:ea typeface="Glacial Indifference Bold"/>
                <a:cs typeface="Glacial Indifference Bold"/>
                <a:sym typeface="Glacial Indifference Bold"/>
              </a:rPr>
              <a:t>MAIN OBJECTIVES</a:t>
            </a:r>
          </a:p>
        </p:txBody>
      </p:sp>
      <p:sp>
        <p:nvSpPr>
          <p:cNvPr name="TextBox 5" id="5"/>
          <p:cNvSpPr txBox="true"/>
          <p:nvPr/>
        </p:nvSpPr>
        <p:spPr>
          <a:xfrm rot="0">
            <a:off x="4532919" y="3287822"/>
            <a:ext cx="6453588" cy="4731820"/>
          </a:xfrm>
          <a:prstGeom prst="rect">
            <a:avLst/>
          </a:prstGeom>
        </p:spPr>
        <p:txBody>
          <a:bodyPr anchor="t" rtlCol="false" tIns="0" lIns="0" bIns="0" rIns="0">
            <a:spAutoFit/>
          </a:bodyPr>
          <a:lstStyle/>
          <a:p>
            <a:pPr algn="ctr">
              <a:lnSpc>
                <a:spcPts val="3793"/>
              </a:lnSpc>
              <a:spcBef>
                <a:spcPct val="0"/>
              </a:spcBef>
            </a:pPr>
            <a:r>
              <a:rPr lang="en-US" sz="3161">
                <a:solidFill>
                  <a:srgbClr val="253439"/>
                </a:solidFill>
                <a:latin typeface="Glacial Indifference"/>
                <a:ea typeface="Glacial Indifference"/>
                <a:cs typeface="Glacial Indifference"/>
                <a:sym typeface="Glacial Indifference"/>
              </a:rPr>
              <a:t>THE MAIN OBJECTIVES OF AN AI-DRIVEN PERSONALIZED WORKOUT SYSTEM CAN BE CATEGORIZED INTO USER-CENTRIC, TECHNOLOGICAL, AND BUSINESS OBJECTIVES. THESE OBJECTIVES ENSURE THE SYSTEM ALIGNS WITH USER NEEDS, LEVERAGES STATE-OF-THE-ART TECHNOLOGIES, AND ACHIEVES COMMERCIAL SUCCESS.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6979616">
            <a:off x="7572326" y="7531592"/>
            <a:ext cx="11173984" cy="7393795"/>
          </a:xfrm>
          <a:custGeom>
            <a:avLst/>
            <a:gdLst/>
            <a:ahLst/>
            <a:cxnLst/>
            <a:rect r="r" b="b" t="t" l="l"/>
            <a:pathLst>
              <a:path h="7393795" w="11173984">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2109242" y="2868001"/>
            <a:ext cx="0" cy="1247775"/>
          </a:xfrm>
          <a:prstGeom prst="line">
            <a:avLst/>
          </a:prstGeom>
          <a:ln cap="flat" w="133350">
            <a:gradFill>
              <a:gsLst>
                <a:gs pos="0">
                  <a:srgbClr val="FDF7EF">
                    <a:alpha val="100000"/>
                  </a:srgbClr>
                </a:gs>
                <a:gs pos="100000">
                  <a:srgbClr val="FFFFFF">
                    <a:alpha val="100000"/>
                  </a:srgbClr>
                </a:gs>
              </a:gsLst>
              <a:lin ang="0"/>
            </a:gradFill>
            <a:prstDash val="solid"/>
            <a:headEnd type="none" len="sm" w="sm"/>
            <a:tailEnd type="none" len="sm" w="sm"/>
          </a:ln>
        </p:spPr>
      </p:sp>
      <p:sp>
        <p:nvSpPr>
          <p:cNvPr name="Freeform 4" id="4"/>
          <p:cNvSpPr/>
          <p:nvPr/>
        </p:nvSpPr>
        <p:spPr>
          <a:xfrm flipH="false" flipV="false" rot="0">
            <a:off x="14652158" y="745815"/>
            <a:ext cx="2607142" cy="2607142"/>
          </a:xfrm>
          <a:custGeom>
            <a:avLst/>
            <a:gdLst/>
            <a:ahLst/>
            <a:cxnLst/>
            <a:rect r="r" b="b" t="t" l="l"/>
            <a:pathLst>
              <a:path h="2607142" w="2607142">
                <a:moveTo>
                  <a:pt x="0" y="0"/>
                </a:moveTo>
                <a:lnTo>
                  <a:pt x="2607142" y="0"/>
                </a:lnTo>
                <a:lnTo>
                  <a:pt x="2607142" y="2607142"/>
                </a:lnTo>
                <a:lnTo>
                  <a:pt x="0" y="2607142"/>
                </a:lnTo>
                <a:lnTo>
                  <a:pt x="0" y="0"/>
                </a:lnTo>
                <a:close/>
              </a:path>
            </a:pathLst>
          </a:custGeom>
          <a:blipFill>
            <a:blip r:embed="rId4"/>
            <a:stretch>
              <a:fillRect l="0" t="0" r="0" b="0"/>
            </a:stretch>
          </a:blipFill>
        </p:spPr>
      </p:sp>
      <p:sp>
        <p:nvSpPr>
          <p:cNvPr name="Freeform 5" id="5"/>
          <p:cNvSpPr/>
          <p:nvPr/>
        </p:nvSpPr>
        <p:spPr>
          <a:xfrm flipH="false" flipV="false" rot="0">
            <a:off x="1154653" y="2868001"/>
            <a:ext cx="12887600" cy="5764272"/>
          </a:xfrm>
          <a:custGeom>
            <a:avLst/>
            <a:gdLst/>
            <a:ahLst/>
            <a:cxnLst/>
            <a:rect r="r" b="b" t="t" l="l"/>
            <a:pathLst>
              <a:path h="5764272" w="12887600">
                <a:moveTo>
                  <a:pt x="0" y="0"/>
                </a:moveTo>
                <a:lnTo>
                  <a:pt x="12887601" y="0"/>
                </a:lnTo>
                <a:lnTo>
                  <a:pt x="12887601" y="5764272"/>
                </a:lnTo>
                <a:lnTo>
                  <a:pt x="0" y="57642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630038" y="1194590"/>
            <a:ext cx="6842193"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LITERATURE REVIEW</a:t>
            </a:r>
          </a:p>
        </p:txBody>
      </p:sp>
      <p:sp>
        <p:nvSpPr>
          <p:cNvPr name="TextBox 7" id="7"/>
          <p:cNvSpPr txBox="true"/>
          <p:nvPr/>
        </p:nvSpPr>
        <p:spPr>
          <a:xfrm rot="0">
            <a:off x="1809599" y="4115776"/>
            <a:ext cx="11101422" cy="2867025"/>
          </a:xfrm>
          <a:prstGeom prst="rect">
            <a:avLst/>
          </a:prstGeom>
        </p:spPr>
        <p:txBody>
          <a:bodyPr anchor="t" rtlCol="false" tIns="0" lIns="0" bIns="0" rIns="0">
            <a:spAutoFit/>
          </a:bodyPr>
          <a:lstStyle/>
          <a:p>
            <a:pPr algn="just">
              <a:lnSpc>
                <a:spcPts val="3228"/>
              </a:lnSpc>
              <a:spcBef>
                <a:spcPct val="0"/>
              </a:spcBef>
            </a:pPr>
            <a:r>
              <a:rPr lang="en-US" b="true" sz="2690" i="true">
                <a:solidFill>
                  <a:srgbClr val="253439"/>
                </a:solidFill>
                <a:latin typeface="Aileron Bold Italics"/>
                <a:ea typeface="Aileron Bold Italics"/>
                <a:cs typeface="Aileron Bold Italics"/>
                <a:sym typeface="Aileron Bold Italics"/>
              </a:rPr>
              <a:t>AI-driven personalized workout systems have demonstrated significant potential in delivering effective and engaging fitness solutions. Current literature underscores the importance of personalization, real-time adaptability, and continuous optimization. Future work should address existing challenges like data privacy, user trust, and hybrid AI models, paving the way for broader adoption and improved outcomes.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8809248">
            <a:off x="7392403" y="-5702790"/>
            <a:ext cx="15806184" cy="9426233"/>
          </a:xfrm>
          <a:custGeom>
            <a:avLst/>
            <a:gdLst/>
            <a:ahLst/>
            <a:cxnLst/>
            <a:rect r="r" b="b" t="t" l="l"/>
            <a:pathLst>
              <a:path h="9426233" w="15806184">
                <a:moveTo>
                  <a:pt x="0" y="0"/>
                </a:moveTo>
                <a:lnTo>
                  <a:pt x="15806184" y="0"/>
                </a:lnTo>
                <a:lnTo>
                  <a:pt x="15806184" y="9426233"/>
                </a:lnTo>
                <a:lnTo>
                  <a:pt x="0" y="94262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92544" y="3447132"/>
            <a:ext cx="2947693" cy="4114800"/>
          </a:xfrm>
          <a:custGeom>
            <a:avLst/>
            <a:gdLst/>
            <a:ahLst/>
            <a:cxnLst/>
            <a:rect r="r" b="b" t="t" l="l"/>
            <a:pathLst>
              <a:path h="4114800" w="2947693">
                <a:moveTo>
                  <a:pt x="0" y="0"/>
                </a:moveTo>
                <a:lnTo>
                  <a:pt x="2947693" y="0"/>
                </a:lnTo>
                <a:lnTo>
                  <a:pt x="294769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431166" y="536254"/>
            <a:ext cx="5245959" cy="9214492"/>
          </a:xfrm>
          <a:custGeom>
            <a:avLst/>
            <a:gdLst/>
            <a:ahLst/>
            <a:cxnLst/>
            <a:rect r="r" b="b" t="t" l="l"/>
            <a:pathLst>
              <a:path h="9214492" w="5245959">
                <a:moveTo>
                  <a:pt x="0" y="0"/>
                </a:moveTo>
                <a:lnTo>
                  <a:pt x="5245958" y="0"/>
                </a:lnTo>
                <a:lnTo>
                  <a:pt x="5245958" y="9214492"/>
                </a:lnTo>
                <a:lnTo>
                  <a:pt x="0" y="9214492"/>
                </a:lnTo>
                <a:lnTo>
                  <a:pt x="0" y="0"/>
                </a:lnTo>
                <a:close/>
              </a:path>
            </a:pathLst>
          </a:custGeom>
          <a:blipFill>
            <a:blip r:embed="rId6"/>
            <a:stretch>
              <a:fillRect l="0" t="0" r="0" b="0"/>
            </a:stretch>
          </a:blipFill>
        </p:spPr>
      </p:sp>
      <p:sp>
        <p:nvSpPr>
          <p:cNvPr name="TextBox 5" id="5"/>
          <p:cNvSpPr txBox="true"/>
          <p:nvPr/>
        </p:nvSpPr>
        <p:spPr>
          <a:xfrm rot="0">
            <a:off x="529857" y="1332630"/>
            <a:ext cx="6325374"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FLOW CHART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99383" y="2121745"/>
            <a:ext cx="12746918" cy="2317621"/>
          </a:xfrm>
          <a:custGeom>
            <a:avLst/>
            <a:gdLst/>
            <a:ahLst/>
            <a:cxnLst/>
            <a:rect r="r" b="b" t="t" l="l"/>
            <a:pathLst>
              <a:path h="2317621" w="12746918">
                <a:moveTo>
                  <a:pt x="0" y="0"/>
                </a:moveTo>
                <a:lnTo>
                  <a:pt x="12746918" y="0"/>
                </a:lnTo>
                <a:lnTo>
                  <a:pt x="12746918" y="2317621"/>
                </a:lnTo>
                <a:lnTo>
                  <a:pt x="0" y="23176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0498" y="596540"/>
            <a:ext cx="7230837"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TOOLS AND LIBRARIES</a:t>
            </a:r>
          </a:p>
        </p:txBody>
      </p:sp>
      <p:sp>
        <p:nvSpPr>
          <p:cNvPr name="TextBox 4" id="4"/>
          <p:cNvSpPr txBox="true"/>
          <p:nvPr/>
        </p:nvSpPr>
        <p:spPr>
          <a:xfrm rot="0">
            <a:off x="1529214" y="3008510"/>
            <a:ext cx="12164243" cy="438150"/>
          </a:xfrm>
          <a:prstGeom prst="rect">
            <a:avLst/>
          </a:prstGeom>
        </p:spPr>
        <p:txBody>
          <a:bodyPr anchor="t" rtlCol="false" tIns="0" lIns="0" bIns="0" rIns="0">
            <a:spAutoFit/>
          </a:bodyPr>
          <a:lstStyle/>
          <a:p>
            <a:pPr algn="ctr" marL="626650" indent="-313325" lvl="1">
              <a:lnSpc>
                <a:spcPts val="3483"/>
              </a:lnSpc>
              <a:buFont typeface="Arial"/>
              <a:buChar char="•"/>
            </a:pPr>
            <a:r>
              <a:rPr lang="en-US" b="true" sz="2902">
                <a:solidFill>
                  <a:srgbClr val="253439"/>
                </a:solidFill>
                <a:latin typeface="Glacial Indifference Bold"/>
                <a:ea typeface="Glacial Indifference Bold"/>
                <a:cs typeface="Glacial Indifference Bold"/>
                <a:sym typeface="Glacial Indifference Bold"/>
              </a:rPr>
              <a:t>PANDAS: </a:t>
            </a:r>
            <a:r>
              <a:rPr lang="en-US" sz="2902">
                <a:solidFill>
                  <a:srgbClr val="253439"/>
                </a:solidFill>
                <a:latin typeface="Glacial Indifference"/>
                <a:ea typeface="Glacial Indifference"/>
                <a:cs typeface="Glacial Indifference"/>
                <a:sym typeface="Glacial Indifference"/>
              </a:rPr>
              <a:t>FOR DATA ORGANIZATION, STRUCTURING, AND CSV EXPORT.</a:t>
            </a:r>
          </a:p>
        </p:txBody>
      </p:sp>
      <p:sp>
        <p:nvSpPr>
          <p:cNvPr name="Freeform 5" id="5"/>
          <p:cNvSpPr/>
          <p:nvPr/>
        </p:nvSpPr>
        <p:spPr>
          <a:xfrm flipH="false" flipV="false" rot="0">
            <a:off x="3819064" y="4608437"/>
            <a:ext cx="12746918" cy="2317621"/>
          </a:xfrm>
          <a:custGeom>
            <a:avLst/>
            <a:gdLst/>
            <a:ahLst/>
            <a:cxnLst/>
            <a:rect r="r" b="b" t="t" l="l"/>
            <a:pathLst>
              <a:path h="2317621" w="12746918">
                <a:moveTo>
                  <a:pt x="0" y="0"/>
                </a:moveTo>
                <a:lnTo>
                  <a:pt x="12746918" y="0"/>
                </a:lnTo>
                <a:lnTo>
                  <a:pt x="12746918" y="2317621"/>
                </a:lnTo>
                <a:lnTo>
                  <a:pt x="0" y="23176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76369" y="7095129"/>
            <a:ext cx="12746918" cy="2317621"/>
          </a:xfrm>
          <a:custGeom>
            <a:avLst/>
            <a:gdLst/>
            <a:ahLst/>
            <a:cxnLst/>
            <a:rect r="r" b="b" t="t" l="l"/>
            <a:pathLst>
              <a:path h="2317621" w="12746918">
                <a:moveTo>
                  <a:pt x="0" y="0"/>
                </a:moveTo>
                <a:lnTo>
                  <a:pt x="12746918" y="0"/>
                </a:lnTo>
                <a:lnTo>
                  <a:pt x="12746918" y="2317621"/>
                </a:lnTo>
                <a:lnTo>
                  <a:pt x="0" y="23176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110402" y="5548172"/>
            <a:ext cx="12140900" cy="438150"/>
          </a:xfrm>
          <a:prstGeom prst="rect">
            <a:avLst/>
          </a:prstGeom>
        </p:spPr>
        <p:txBody>
          <a:bodyPr anchor="t" rtlCol="false" tIns="0" lIns="0" bIns="0" rIns="0">
            <a:spAutoFit/>
          </a:bodyPr>
          <a:lstStyle/>
          <a:p>
            <a:pPr algn="ctr" marL="626650" indent="-313325" lvl="1">
              <a:lnSpc>
                <a:spcPts val="3483"/>
              </a:lnSpc>
              <a:buFont typeface="Arial"/>
              <a:buChar char="•"/>
            </a:pPr>
            <a:r>
              <a:rPr lang="en-US" b="true" sz="2902">
                <a:solidFill>
                  <a:srgbClr val="253439"/>
                </a:solidFill>
                <a:latin typeface="Glacial Indifference Bold"/>
                <a:ea typeface="Glacial Indifference Bold"/>
                <a:cs typeface="Glacial Indifference Bold"/>
                <a:sym typeface="Glacial Indifference Bold"/>
              </a:rPr>
              <a:t>NUMPY: </a:t>
            </a:r>
            <a:r>
              <a:rPr lang="en-US" sz="2902">
                <a:solidFill>
                  <a:srgbClr val="253439"/>
                </a:solidFill>
                <a:latin typeface="Glacial Indifference"/>
                <a:ea typeface="Glacial Indifference"/>
                <a:cs typeface="Glacial Indifference"/>
                <a:sym typeface="Glacial Indifference"/>
              </a:rPr>
              <a:t>FOR RANDOM NUMBER GENERATION AND CALCULATIONS.</a:t>
            </a:r>
          </a:p>
        </p:txBody>
      </p:sp>
      <p:sp>
        <p:nvSpPr>
          <p:cNvPr name="TextBox 8" id="8"/>
          <p:cNvSpPr txBox="true"/>
          <p:nvPr/>
        </p:nvSpPr>
        <p:spPr>
          <a:xfrm rot="0">
            <a:off x="1276369" y="7815789"/>
            <a:ext cx="12746918" cy="438150"/>
          </a:xfrm>
          <a:prstGeom prst="rect">
            <a:avLst/>
          </a:prstGeom>
        </p:spPr>
        <p:txBody>
          <a:bodyPr anchor="t" rtlCol="false" tIns="0" lIns="0" bIns="0" rIns="0">
            <a:spAutoFit/>
          </a:bodyPr>
          <a:lstStyle/>
          <a:p>
            <a:pPr algn="ctr" marL="626650" indent="-313325" lvl="1">
              <a:lnSpc>
                <a:spcPts val="3483"/>
              </a:lnSpc>
              <a:buFont typeface="Arial"/>
              <a:buChar char="•"/>
            </a:pPr>
            <a:r>
              <a:rPr lang="en-US" b="true" sz="2902">
                <a:solidFill>
                  <a:srgbClr val="253439"/>
                </a:solidFill>
                <a:latin typeface="Glacial Indifference Bold"/>
                <a:ea typeface="Glacial Indifference Bold"/>
                <a:cs typeface="Glacial Indifference Bold"/>
                <a:sym typeface="Glacial Indifference Bold"/>
              </a:rPr>
              <a:t>PYTHON CONTROL STRUCTURES: </a:t>
            </a:r>
            <a:r>
              <a:rPr lang="en-US" sz="2902">
                <a:solidFill>
                  <a:srgbClr val="253439"/>
                </a:solidFill>
                <a:latin typeface="Glacial Indifference"/>
                <a:ea typeface="Glacial Indifference"/>
                <a:cs typeface="Glacial Indifference"/>
                <a:sym typeface="Glacial Indifference"/>
              </a:rPr>
              <a:t>FOR LOGICAL DECISION-MAKING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2109242" y="2868001"/>
            <a:ext cx="0" cy="1247775"/>
          </a:xfrm>
          <a:prstGeom prst="line">
            <a:avLst/>
          </a:prstGeom>
          <a:ln cap="flat" w="133350">
            <a:gradFill>
              <a:gsLst>
                <a:gs pos="0">
                  <a:srgbClr val="FDF7EF">
                    <a:alpha val="100000"/>
                  </a:srgbClr>
                </a:gs>
                <a:gs pos="100000">
                  <a:srgbClr val="FFFFFF">
                    <a:alpha val="100000"/>
                  </a:srgbClr>
                </a:gs>
              </a:gsLst>
              <a:lin ang="0"/>
            </a:gradFill>
            <a:prstDash val="solid"/>
            <a:headEnd type="none" len="sm" w="sm"/>
            <a:tailEnd type="none" len="sm" w="sm"/>
          </a:ln>
        </p:spPr>
      </p:sp>
      <p:graphicFrame>
        <p:nvGraphicFramePr>
          <p:cNvPr name="Table 3" id="3"/>
          <p:cNvGraphicFramePr>
            <a:graphicFrameLocks noGrp="true"/>
          </p:cNvGraphicFramePr>
          <p:nvPr/>
        </p:nvGraphicFramePr>
        <p:xfrm>
          <a:off x="1514274" y="1828992"/>
          <a:ext cx="11991179" cy="6610381"/>
        </p:xfrm>
        <a:graphic>
          <a:graphicData uri="http://schemas.openxmlformats.org/drawingml/2006/table">
            <a:tbl>
              <a:tblPr/>
              <a:tblGrid>
                <a:gridCol w="4603064"/>
                <a:gridCol w="7388115"/>
              </a:tblGrid>
              <a:tr h="1071432">
                <a:tc>
                  <a:txBody>
                    <a:bodyPr anchor="t" rtlCol="false"/>
                    <a:lstStyle/>
                    <a:p>
                      <a:pPr algn="ctr">
                        <a:lnSpc>
                          <a:spcPts val="5039"/>
                        </a:lnSpc>
                        <a:defRPr/>
                      </a:pPr>
                      <a:r>
                        <a:rPr lang="en-US" sz="3599" b="true">
                          <a:solidFill>
                            <a:srgbClr val="000000"/>
                          </a:solidFill>
                          <a:latin typeface="Aileron Bold"/>
                          <a:ea typeface="Aileron Bold"/>
                          <a:cs typeface="Aileron Bold"/>
                          <a:sym typeface="Aileron Bold"/>
                        </a:rPr>
                        <a:t>Layer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27ACA0"/>
                    </a:solidFill>
                  </a:tcPr>
                </a:tc>
                <a:tc>
                  <a:txBody>
                    <a:bodyPr anchor="t" rtlCol="false"/>
                    <a:lstStyle/>
                    <a:p>
                      <a:pPr algn="ctr">
                        <a:lnSpc>
                          <a:spcPts val="5179"/>
                        </a:lnSpc>
                        <a:defRPr/>
                      </a:pPr>
                      <a:r>
                        <a:rPr lang="en-US" sz="3699" b="true">
                          <a:solidFill>
                            <a:srgbClr val="000000"/>
                          </a:solidFill>
                          <a:latin typeface="Aileron Bold"/>
                          <a:ea typeface="Aileron Bold"/>
                          <a:cs typeface="Aileron Bold"/>
                          <a:sym typeface="Aileron Bold"/>
                        </a:rPr>
                        <a:t>Technologies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27ACA0"/>
                    </a:solidFill>
                  </a:tcPr>
                </a:tc>
              </a:tr>
              <a:tr h="889671">
                <a:tc>
                  <a:txBody>
                    <a:bodyPr anchor="t" rtlCol="false"/>
                    <a:lstStyle/>
                    <a:p>
                      <a:pPr algn="l">
                        <a:lnSpc>
                          <a:spcPts val="3779"/>
                        </a:lnSpc>
                        <a:defRPr/>
                      </a:pPr>
                      <a:r>
                        <a:rPr lang="en-US" sz="2699">
                          <a:solidFill>
                            <a:srgbClr val="000000"/>
                          </a:solidFill>
                          <a:latin typeface="Aileron"/>
                          <a:ea typeface="Aileron"/>
                          <a:cs typeface="Aileron"/>
                          <a:sym typeface="Aileron"/>
                        </a:rPr>
                        <a:t>Front-End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639"/>
                        </a:lnSpc>
                        <a:defRPr/>
                      </a:pPr>
                      <a:r>
                        <a:rPr lang="en-US" sz="2599">
                          <a:solidFill>
                            <a:srgbClr val="000000"/>
                          </a:solidFill>
                          <a:latin typeface="Aileron"/>
                          <a:ea typeface="Aileron"/>
                          <a:cs typeface="Aileron"/>
                          <a:sym typeface="Aileron"/>
                        </a:rPr>
                        <a:t>Java </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70538">
                <a:tc>
                  <a:txBody>
                    <a:bodyPr anchor="t" rtlCol="false"/>
                    <a:lstStyle/>
                    <a:p>
                      <a:pPr algn="l">
                        <a:lnSpc>
                          <a:spcPts val="3639"/>
                        </a:lnSpc>
                        <a:defRPr/>
                      </a:pPr>
                      <a:r>
                        <a:rPr lang="en-US" sz="2599">
                          <a:solidFill>
                            <a:srgbClr val="000000"/>
                          </a:solidFill>
                          <a:latin typeface="Aileron"/>
                          <a:ea typeface="Aileron"/>
                          <a:cs typeface="Aileron"/>
                          <a:sym typeface="Aileron"/>
                        </a:rPr>
                        <a:t>Back-End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639"/>
                        </a:lnSpc>
                        <a:defRPr/>
                      </a:pPr>
                      <a:r>
                        <a:rPr lang="en-US" sz="2599">
                          <a:solidFill>
                            <a:srgbClr val="000000"/>
                          </a:solidFill>
                          <a:latin typeface="Aileron"/>
                          <a:ea typeface="Aileron"/>
                          <a:cs typeface="Aileron"/>
                          <a:sym typeface="Aileron"/>
                        </a:rPr>
                        <a:t>Python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70538">
                <a:tc>
                  <a:txBody>
                    <a:bodyPr anchor="t" rtlCol="false"/>
                    <a:lstStyle/>
                    <a:p>
                      <a:pPr algn="l">
                        <a:lnSpc>
                          <a:spcPts val="3639"/>
                        </a:lnSpc>
                        <a:defRPr/>
                      </a:pPr>
                      <a:r>
                        <a:rPr lang="en-US" sz="2599">
                          <a:solidFill>
                            <a:srgbClr val="000000"/>
                          </a:solidFill>
                          <a:latin typeface="Aileron"/>
                          <a:ea typeface="Aileron"/>
                          <a:cs typeface="Aileron"/>
                          <a:sym typeface="Aileron"/>
                        </a:rPr>
                        <a:t>Database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639"/>
                        </a:lnSpc>
                        <a:defRPr/>
                      </a:pPr>
                      <a:r>
                        <a:rPr lang="en-US" sz="2599">
                          <a:solidFill>
                            <a:srgbClr val="000000"/>
                          </a:solidFill>
                          <a:latin typeface="Aileron"/>
                          <a:ea typeface="Aileron"/>
                          <a:cs typeface="Aileron"/>
                          <a:sym typeface="Aileron"/>
                        </a:rPr>
                        <a:t> Firebase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70538">
                <a:tc>
                  <a:txBody>
                    <a:bodyPr anchor="t" rtlCol="false"/>
                    <a:lstStyle/>
                    <a:p>
                      <a:pPr algn="l">
                        <a:lnSpc>
                          <a:spcPts val="3639"/>
                        </a:lnSpc>
                        <a:defRPr/>
                      </a:pPr>
                      <a:r>
                        <a:rPr lang="en-US" sz="2599">
                          <a:solidFill>
                            <a:srgbClr val="000000"/>
                          </a:solidFill>
                          <a:latin typeface="Aileron"/>
                          <a:ea typeface="Aileron"/>
                          <a:cs typeface="Aileron"/>
                          <a:sym typeface="Aileron"/>
                        </a:rPr>
                        <a:t>ML</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639"/>
                        </a:lnSpc>
                        <a:defRPr/>
                      </a:pPr>
                      <a:r>
                        <a:rPr lang="en-US" sz="2599">
                          <a:solidFill>
                            <a:srgbClr val="000000"/>
                          </a:solidFill>
                          <a:latin typeface="Aileron"/>
                          <a:ea typeface="Aileron"/>
                          <a:cs typeface="Aileron"/>
                          <a:sym typeface="Aileron"/>
                        </a:rPr>
                        <a:t>TensorFlow</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167126">
                <a:tc>
                  <a:txBody>
                    <a:bodyPr anchor="t" rtlCol="false"/>
                    <a:lstStyle/>
                    <a:p>
                      <a:pPr algn="l">
                        <a:lnSpc>
                          <a:spcPts val="3639"/>
                        </a:lnSpc>
                        <a:defRPr/>
                      </a:pPr>
                      <a:r>
                        <a:rPr lang="en-US" sz="2599">
                          <a:solidFill>
                            <a:srgbClr val="000000"/>
                          </a:solidFill>
                          <a:latin typeface="Aileron"/>
                          <a:ea typeface="Aileron"/>
                          <a:cs typeface="Aileron"/>
                          <a:sym typeface="Aileron"/>
                        </a:rPr>
                        <a:t>Cloud Services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639"/>
                        </a:lnSpc>
                        <a:defRPr/>
                      </a:pPr>
                      <a:r>
                        <a:rPr lang="en-US" sz="2599">
                          <a:solidFill>
                            <a:srgbClr val="000000"/>
                          </a:solidFill>
                          <a:latin typeface="Aileron"/>
                          <a:ea typeface="Aileron"/>
                          <a:cs typeface="Aileron"/>
                          <a:sym typeface="Aileron"/>
                        </a:rPr>
                        <a:t>Firebase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70538">
                <a:tc>
                  <a:txBody>
                    <a:bodyPr anchor="t" rtlCol="false"/>
                    <a:lstStyle/>
                    <a:p>
                      <a:pPr algn="l">
                        <a:lnSpc>
                          <a:spcPts val="3639"/>
                        </a:lnSpc>
                        <a:defRPr/>
                      </a:pPr>
                      <a:r>
                        <a:rPr lang="en-US" sz="2599">
                          <a:solidFill>
                            <a:srgbClr val="000000"/>
                          </a:solidFill>
                          <a:latin typeface="Aileron"/>
                          <a:ea typeface="Aileron"/>
                          <a:cs typeface="Aileron"/>
                          <a:sym typeface="Aileron"/>
                        </a:rPr>
                        <a:t>Security</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639"/>
                        </a:lnSpc>
                        <a:defRPr/>
                      </a:pPr>
                      <a:r>
                        <a:rPr lang="en-US" sz="2599">
                          <a:solidFill>
                            <a:srgbClr val="000000"/>
                          </a:solidFill>
                          <a:latin typeface="Aileron"/>
                          <a:ea typeface="Aileron"/>
                          <a:cs typeface="Aileron"/>
                          <a:sym typeface="Aileron"/>
                        </a:rPr>
                        <a:t>Used https , Because host in web</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14516801" y="1828992"/>
            <a:ext cx="3087045" cy="3087045"/>
          </a:xfrm>
          <a:custGeom>
            <a:avLst/>
            <a:gdLst/>
            <a:ahLst/>
            <a:cxnLst/>
            <a:rect r="r" b="b" t="t" l="l"/>
            <a:pathLst>
              <a:path h="3087045" w="3087045">
                <a:moveTo>
                  <a:pt x="0" y="0"/>
                </a:moveTo>
                <a:lnTo>
                  <a:pt x="3087045" y="0"/>
                </a:lnTo>
                <a:lnTo>
                  <a:pt x="3087045" y="3087045"/>
                </a:lnTo>
                <a:lnTo>
                  <a:pt x="0" y="3087045"/>
                </a:lnTo>
                <a:lnTo>
                  <a:pt x="0" y="0"/>
                </a:lnTo>
                <a:close/>
              </a:path>
            </a:pathLst>
          </a:custGeom>
          <a:blipFill>
            <a:blip r:embed="rId2"/>
            <a:stretch>
              <a:fillRect l="0" t="0" r="0" b="0"/>
            </a:stretch>
          </a:blipFill>
        </p:spPr>
      </p:sp>
      <p:sp>
        <p:nvSpPr>
          <p:cNvPr name="TextBox 5" id="5"/>
          <p:cNvSpPr txBox="true"/>
          <p:nvPr/>
        </p:nvSpPr>
        <p:spPr>
          <a:xfrm rot="0">
            <a:off x="1514274" y="596540"/>
            <a:ext cx="6842193"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TECHNOLOGIES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246852" y="2498951"/>
          <a:ext cx="13197089" cy="5715000"/>
        </p:xfrm>
        <a:graphic>
          <a:graphicData uri="http://schemas.openxmlformats.org/drawingml/2006/table">
            <a:tbl>
              <a:tblPr/>
              <a:tblGrid>
                <a:gridCol w="5006577"/>
                <a:gridCol w="8190512"/>
              </a:tblGrid>
              <a:tr h="939715">
                <a:tc>
                  <a:txBody>
                    <a:bodyPr anchor="t" rtlCol="false"/>
                    <a:lstStyle/>
                    <a:p>
                      <a:pPr algn="ctr">
                        <a:lnSpc>
                          <a:spcPts val="4059"/>
                        </a:lnSpc>
                        <a:defRPr/>
                      </a:pPr>
                      <a:r>
                        <a:rPr lang="en-US" sz="2899" b="true">
                          <a:solidFill>
                            <a:srgbClr val="000000"/>
                          </a:solidFill>
                          <a:latin typeface="Aileron Bold"/>
                          <a:ea typeface="Aileron Bold"/>
                          <a:cs typeface="Aileron Bold"/>
                          <a:sym typeface="Aileron Bold"/>
                        </a:rPr>
                        <a:t>Methodology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7ACA0"/>
                    </a:solidFill>
                  </a:tcPr>
                </a:tc>
                <a:tc>
                  <a:txBody>
                    <a:bodyPr anchor="t" rtlCol="false"/>
                    <a:lstStyle/>
                    <a:p>
                      <a:pPr algn="ctr">
                        <a:lnSpc>
                          <a:spcPts val="4059"/>
                        </a:lnSpc>
                        <a:defRPr/>
                      </a:pPr>
                      <a:r>
                        <a:rPr lang="en-US" sz="2899" b="true">
                          <a:solidFill>
                            <a:srgbClr val="000000"/>
                          </a:solidFill>
                          <a:latin typeface="Aileron Bold"/>
                          <a:ea typeface="Aileron Bold"/>
                          <a:cs typeface="Aileron Bold"/>
                          <a:sym typeface="Aileron Bold"/>
                        </a:rPr>
                        <a:t>Purpose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7ACA0"/>
                    </a:solidFill>
                  </a:tcPr>
                </a:tc>
              </a:tr>
              <a:tr h="1304094">
                <a:tc>
                  <a:txBody>
                    <a:bodyPr anchor="t" rtlCol="false"/>
                    <a:lstStyle/>
                    <a:p>
                      <a:pPr algn="l">
                        <a:lnSpc>
                          <a:spcPts val="3499"/>
                        </a:lnSpc>
                        <a:defRPr/>
                      </a:pPr>
                      <a:r>
                        <a:rPr lang="en-US" sz="2499">
                          <a:solidFill>
                            <a:srgbClr val="000000"/>
                          </a:solidFill>
                          <a:latin typeface="Aileron"/>
                          <a:ea typeface="Aileron"/>
                          <a:cs typeface="Aileron"/>
                          <a:sym typeface="Aileron"/>
                        </a:rPr>
                        <a:t>Rule-Based Logic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Aileron"/>
                          <a:ea typeface="Aileron"/>
                          <a:cs typeface="Aileron"/>
                          <a:sym typeface="Aileron"/>
                        </a:rPr>
                        <a:t>Assign workout plans based on BP , Heart rate, gender  and intensity.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63003">
                <a:tc>
                  <a:txBody>
                    <a:bodyPr anchor="t" rtlCol="false"/>
                    <a:lstStyle/>
                    <a:p>
                      <a:pPr algn="l">
                        <a:lnSpc>
                          <a:spcPts val="3499"/>
                        </a:lnSpc>
                        <a:defRPr/>
                      </a:pPr>
                      <a:r>
                        <a:rPr lang="en-US" sz="2499">
                          <a:solidFill>
                            <a:srgbClr val="000000"/>
                          </a:solidFill>
                          <a:latin typeface="Aileron"/>
                          <a:ea typeface="Aileron"/>
                          <a:cs typeface="Aileron"/>
                          <a:sym typeface="Aileron"/>
                        </a:rPr>
                        <a:t>Randomized Data Generation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Aileron"/>
                          <a:ea typeface="Aileron"/>
                          <a:cs typeface="Aileron"/>
                          <a:sym typeface="Aileron"/>
                        </a:rPr>
                        <a:t>Simulate user profiles with realistic attribute ranges.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4094">
                <a:tc>
                  <a:txBody>
                    <a:bodyPr anchor="t" rtlCol="false"/>
                    <a:lstStyle/>
                    <a:p>
                      <a:pPr algn="l">
                        <a:lnSpc>
                          <a:spcPts val="3499"/>
                        </a:lnSpc>
                        <a:defRPr/>
                      </a:pPr>
                      <a:r>
                        <a:rPr lang="en-US" sz="2499">
                          <a:solidFill>
                            <a:srgbClr val="000000"/>
                          </a:solidFill>
                          <a:latin typeface="Aileron"/>
                          <a:ea typeface="Aileron"/>
                          <a:cs typeface="Aileron"/>
                          <a:sym typeface="Aileron"/>
                        </a:rPr>
                        <a:t>Data Structuring with pandas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Aileron"/>
                          <a:ea typeface="Aileron"/>
                          <a:cs typeface="Aileron"/>
                          <a:sym typeface="Aileron"/>
                        </a:rPr>
                        <a:t>Organize data into a tabular format for easy storage and manipulation.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4094">
                <a:tc>
                  <a:txBody>
                    <a:bodyPr anchor="t" rtlCol="false"/>
                    <a:lstStyle/>
                    <a:p>
                      <a:pPr algn="l">
                        <a:lnSpc>
                          <a:spcPts val="3499"/>
                        </a:lnSpc>
                        <a:defRPr/>
                      </a:pPr>
                      <a:r>
                        <a:rPr lang="en-US" sz="2499">
                          <a:solidFill>
                            <a:srgbClr val="000000"/>
                          </a:solidFill>
                          <a:latin typeface="Aileron"/>
                          <a:ea typeface="Aileron"/>
                          <a:cs typeface="Aileron"/>
                          <a:sym typeface="Aileron"/>
                        </a:rPr>
                        <a:t>CSV Export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Aileron"/>
                          <a:ea typeface="Aileron"/>
                          <a:cs typeface="Aileron"/>
                          <a:sym typeface="Aileron"/>
                        </a:rPr>
                        <a:t>Save generated data for further analysis or model training.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3" id="3"/>
          <p:cNvSpPr/>
          <p:nvPr/>
        </p:nvSpPr>
        <p:spPr>
          <a:xfrm flipH="false" flipV="false" rot="0">
            <a:off x="7793103" y="623966"/>
            <a:ext cx="1350897" cy="1350897"/>
          </a:xfrm>
          <a:custGeom>
            <a:avLst/>
            <a:gdLst/>
            <a:ahLst/>
            <a:cxnLst/>
            <a:rect r="r" b="b" t="t" l="l"/>
            <a:pathLst>
              <a:path h="1350897" w="1350897">
                <a:moveTo>
                  <a:pt x="0" y="0"/>
                </a:moveTo>
                <a:lnTo>
                  <a:pt x="1350897" y="0"/>
                </a:lnTo>
                <a:lnTo>
                  <a:pt x="1350897" y="1350897"/>
                </a:lnTo>
                <a:lnTo>
                  <a:pt x="0" y="1350897"/>
                </a:lnTo>
                <a:lnTo>
                  <a:pt x="0" y="0"/>
                </a:lnTo>
                <a:close/>
              </a:path>
            </a:pathLst>
          </a:custGeom>
          <a:blipFill>
            <a:blip r:embed="rId2"/>
            <a:stretch>
              <a:fillRect l="0" t="0" r="0" b="0"/>
            </a:stretch>
          </a:blipFill>
        </p:spPr>
      </p:sp>
      <p:sp>
        <p:nvSpPr>
          <p:cNvPr name="TextBox 4" id="4"/>
          <p:cNvSpPr txBox="true"/>
          <p:nvPr/>
        </p:nvSpPr>
        <p:spPr>
          <a:xfrm rot="0">
            <a:off x="1314935" y="867254"/>
            <a:ext cx="6842193"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METHODOLOGIES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94988" y="1697562"/>
            <a:ext cx="11301259" cy="6258072"/>
          </a:xfrm>
          <a:custGeom>
            <a:avLst/>
            <a:gdLst/>
            <a:ahLst/>
            <a:cxnLst/>
            <a:rect r="r" b="b" t="t" l="l"/>
            <a:pathLst>
              <a:path h="6258072" w="11301259">
                <a:moveTo>
                  <a:pt x="0" y="0"/>
                </a:moveTo>
                <a:lnTo>
                  <a:pt x="11301259" y="0"/>
                </a:lnTo>
                <a:lnTo>
                  <a:pt x="11301259" y="6258072"/>
                </a:lnTo>
                <a:lnTo>
                  <a:pt x="0" y="6258072"/>
                </a:lnTo>
                <a:lnTo>
                  <a:pt x="0" y="0"/>
                </a:lnTo>
                <a:close/>
              </a:path>
            </a:pathLst>
          </a:custGeom>
          <a:blipFill>
            <a:blip r:embed="rId2"/>
            <a:stretch>
              <a:fillRect l="0" t="0" r="0" b="0"/>
            </a:stretch>
          </a:blipFill>
        </p:spPr>
      </p:sp>
      <p:sp>
        <p:nvSpPr>
          <p:cNvPr name="TextBox 3" id="3"/>
          <p:cNvSpPr txBox="true"/>
          <p:nvPr/>
        </p:nvSpPr>
        <p:spPr>
          <a:xfrm rot="0">
            <a:off x="1028700" y="288984"/>
            <a:ext cx="2648163" cy="739716"/>
          </a:xfrm>
          <a:prstGeom prst="rect">
            <a:avLst/>
          </a:prstGeom>
        </p:spPr>
        <p:txBody>
          <a:bodyPr anchor="t" rtlCol="false" tIns="0" lIns="0" bIns="0" rIns="0">
            <a:spAutoFit/>
          </a:bodyPr>
          <a:lstStyle/>
          <a:p>
            <a:pPr algn="ctr">
              <a:lnSpc>
                <a:spcPts val="5883"/>
              </a:lnSpc>
              <a:spcBef>
                <a:spcPct val="0"/>
              </a:spcBef>
            </a:pPr>
            <a:r>
              <a:rPr lang="en-US" b="true" sz="4902">
                <a:solidFill>
                  <a:srgbClr val="000000"/>
                </a:solidFill>
                <a:latin typeface="Glacial Indifference Bold"/>
                <a:ea typeface="Glacial Indifference Bold"/>
                <a:cs typeface="Glacial Indifference Bold"/>
                <a:sym typeface="Glacial Indifference Bold"/>
              </a:rPr>
              <a:t>DATASET</a:t>
            </a:r>
          </a:p>
        </p:txBody>
      </p:sp>
      <p:sp>
        <p:nvSpPr>
          <p:cNvPr name="TextBox 4" id="4"/>
          <p:cNvSpPr txBox="true"/>
          <p:nvPr/>
        </p:nvSpPr>
        <p:spPr>
          <a:xfrm rot="0">
            <a:off x="11944775" y="1688037"/>
            <a:ext cx="6343225" cy="847725"/>
          </a:xfrm>
          <a:prstGeom prst="rect">
            <a:avLst/>
          </a:prstGeom>
        </p:spPr>
        <p:txBody>
          <a:bodyPr anchor="t" rtlCol="false" tIns="0" lIns="0" bIns="0" rIns="0">
            <a:spAutoFit/>
          </a:bodyPr>
          <a:lstStyle/>
          <a:p>
            <a:pPr algn="l" marL="594912" indent="-297456" lvl="1">
              <a:lnSpc>
                <a:spcPts val="3306"/>
              </a:lnSpc>
              <a:buFont typeface="Arial"/>
              <a:buChar char="•"/>
            </a:pPr>
            <a:r>
              <a:rPr lang="en-US" sz="2755">
                <a:solidFill>
                  <a:srgbClr val="000000"/>
                </a:solidFill>
                <a:latin typeface="Glacial Indifference"/>
                <a:ea typeface="Glacial Indifference"/>
                <a:cs typeface="Glacial Indifference"/>
                <a:sym typeface="Glacial Indifference"/>
              </a:rPr>
              <a:t>INCLUDE FIVE HUNDRED THOUSAND &amp; ONE COLUMNS IN THIS  DATASET.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6979616">
            <a:off x="-5655327" y="-1902713"/>
            <a:ext cx="11173984" cy="7393795"/>
          </a:xfrm>
          <a:custGeom>
            <a:avLst/>
            <a:gdLst/>
            <a:ahLst/>
            <a:cxnLst/>
            <a:rect r="r" b="b" t="t" l="l"/>
            <a:pathLst>
              <a:path h="7393795" w="11173984">
                <a:moveTo>
                  <a:pt x="0" y="0"/>
                </a:moveTo>
                <a:lnTo>
                  <a:pt x="11173985" y="0"/>
                </a:lnTo>
                <a:lnTo>
                  <a:pt x="11173985" y="7393794"/>
                </a:lnTo>
                <a:lnTo>
                  <a:pt x="0" y="7393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2109242" y="2868001"/>
            <a:ext cx="0" cy="1247775"/>
          </a:xfrm>
          <a:prstGeom prst="line">
            <a:avLst/>
          </a:prstGeom>
          <a:ln cap="flat" w="133350">
            <a:gradFill>
              <a:gsLst>
                <a:gs pos="0">
                  <a:srgbClr val="FDF7EF">
                    <a:alpha val="100000"/>
                  </a:srgbClr>
                </a:gs>
                <a:gs pos="100000">
                  <a:srgbClr val="FFFFFF">
                    <a:alpha val="100000"/>
                  </a:srgbClr>
                </a:gs>
              </a:gsLst>
              <a:lin ang="0"/>
            </a:gradFill>
            <a:prstDash val="solid"/>
            <a:headEnd type="none" len="sm" w="sm"/>
            <a:tailEnd type="none" len="sm" w="sm"/>
          </a:ln>
        </p:spPr>
      </p:sp>
      <p:sp>
        <p:nvSpPr>
          <p:cNvPr name="Freeform 4" id="4"/>
          <p:cNvSpPr/>
          <p:nvPr/>
        </p:nvSpPr>
        <p:spPr>
          <a:xfrm flipH="false" flipV="false" rot="0">
            <a:off x="4290391" y="1451335"/>
            <a:ext cx="9707219" cy="8236428"/>
          </a:xfrm>
          <a:custGeom>
            <a:avLst/>
            <a:gdLst/>
            <a:ahLst/>
            <a:cxnLst/>
            <a:rect r="r" b="b" t="t" l="l"/>
            <a:pathLst>
              <a:path h="8236428" w="9707219">
                <a:moveTo>
                  <a:pt x="0" y="0"/>
                </a:moveTo>
                <a:lnTo>
                  <a:pt x="9707218" y="0"/>
                </a:lnTo>
                <a:lnTo>
                  <a:pt x="9707218" y="8236428"/>
                </a:lnTo>
                <a:lnTo>
                  <a:pt x="0" y="8236428"/>
                </a:lnTo>
                <a:lnTo>
                  <a:pt x="0" y="0"/>
                </a:lnTo>
                <a:close/>
              </a:path>
            </a:pathLst>
          </a:custGeom>
          <a:blipFill>
            <a:blip r:embed="rId4"/>
            <a:stretch>
              <a:fillRect l="0" t="0" r="0" b="0"/>
            </a:stretch>
          </a:blipFill>
        </p:spPr>
      </p:sp>
      <p:sp>
        <p:nvSpPr>
          <p:cNvPr name="TextBox 5" id="5"/>
          <p:cNvSpPr txBox="true"/>
          <p:nvPr/>
        </p:nvSpPr>
        <p:spPr>
          <a:xfrm rot="0">
            <a:off x="6179467" y="173904"/>
            <a:ext cx="6325374"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SYSTEM DIAGRAM</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999784" y="1028700"/>
            <a:ext cx="3239096" cy="7020748"/>
          </a:xfrm>
          <a:custGeom>
            <a:avLst/>
            <a:gdLst/>
            <a:ahLst/>
            <a:cxnLst/>
            <a:rect r="r" b="b" t="t" l="l"/>
            <a:pathLst>
              <a:path h="7020748" w="3239096">
                <a:moveTo>
                  <a:pt x="0" y="0"/>
                </a:moveTo>
                <a:lnTo>
                  <a:pt x="3239095" y="0"/>
                </a:lnTo>
                <a:lnTo>
                  <a:pt x="3239095" y="7020748"/>
                </a:lnTo>
                <a:lnTo>
                  <a:pt x="0" y="7020748"/>
                </a:lnTo>
                <a:lnTo>
                  <a:pt x="0" y="0"/>
                </a:lnTo>
                <a:close/>
              </a:path>
            </a:pathLst>
          </a:custGeom>
          <a:blipFill>
            <a:blip r:embed="rId2"/>
            <a:stretch>
              <a:fillRect l="0" t="-1262" r="0" b="-1262"/>
            </a:stretch>
          </a:blipFill>
        </p:spPr>
      </p:sp>
      <p:sp>
        <p:nvSpPr>
          <p:cNvPr name="Freeform 3" id="3"/>
          <p:cNvSpPr/>
          <p:nvPr/>
        </p:nvSpPr>
        <p:spPr>
          <a:xfrm flipH="false" flipV="false" rot="0">
            <a:off x="5324729" y="1028700"/>
            <a:ext cx="3159337" cy="7020748"/>
          </a:xfrm>
          <a:custGeom>
            <a:avLst/>
            <a:gdLst/>
            <a:ahLst/>
            <a:cxnLst/>
            <a:rect r="r" b="b" t="t" l="l"/>
            <a:pathLst>
              <a:path h="7020748" w="3159337">
                <a:moveTo>
                  <a:pt x="0" y="0"/>
                </a:moveTo>
                <a:lnTo>
                  <a:pt x="3159337" y="0"/>
                </a:lnTo>
                <a:lnTo>
                  <a:pt x="3159337" y="7020748"/>
                </a:lnTo>
                <a:lnTo>
                  <a:pt x="0" y="7020748"/>
                </a:lnTo>
                <a:lnTo>
                  <a:pt x="0" y="0"/>
                </a:lnTo>
                <a:close/>
              </a:path>
            </a:pathLst>
          </a:custGeom>
          <a:blipFill>
            <a:blip r:embed="rId3"/>
            <a:stretch>
              <a:fillRect l="0" t="0" r="0" b="0"/>
            </a:stretch>
          </a:blipFill>
        </p:spPr>
      </p:sp>
      <p:sp>
        <p:nvSpPr>
          <p:cNvPr name="Freeform 4" id="4"/>
          <p:cNvSpPr/>
          <p:nvPr/>
        </p:nvSpPr>
        <p:spPr>
          <a:xfrm flipH="false" flipV="false" rot="0">
            <a:off x="9395704" y="1028700"/>
            <a:ext cx="3159337" cy="7020748"/>
          </a:xfrm>
          <a:custGeom>
            <a:avLst/>
            <a:gdLst/>
            <a:ahLst/>
            <a:cxnLst/>
            <a:rect r="r" b="b" t="t" l="l"/>
            <a:pathLst>
              <a:path h="7020748" w="3159337">
                <a:moveTo>
                  <a:pt x="0" y="0"/>
                </a:moveTo>
                <a:lnTo>
                  <a:pt x="3159336" y="0"/>
                </a:lnTo>
                <a:lnTo>
                  <a:pt x="3159336" y="7020748"/>
                </a:lnTo>
                <a:lnTo>
                  <a:pt x="0" y="7020748"/>
                </a:lnTo>
                <a:lnTo>
                  <a:pt x="0" y="0"/>
                </a:lnTo>
                <a:close/>
              </a:path>
            </a:pathLst>
          </a:custGeom>
          <a:blipFill>
            <a:blip r:embed="rId4"/>
            <a:stretch>
              <a:fillRect l="0" t="0" r="0" b="0"/>
            </a:stretch>
          </a:blipFill>
        </p:spPr>
      </p:sp>
      <p:sp>
        <p:nvSpPr>
          <p:cNvPr name="Freeform 5" id="5"/>
          <p:cNvSpPr/>
          <p:nvPr/>
        </p:nvSpPr>
        <p:spPr>
          <a:xfrm flipH="false" flipV="false" rot="0">
            <a:off x="13637318" y="1028700"/>
            <a:ext cx="3159337" cy="7020748"/>
          </a:xfrm>
          <a:custGeom>
            <a:avLst/>
            <a:gdLst/>
            <a:ahLst/>
            <a:cxnLst/>
            <a:rect r="r" b="b" t="t" l="l"/>
            <a:pathLst>
              <a:path h="7020748" w="3159337">
                <a:moveTo>
                  <a:pt x="0" y="0"/>
                </a:moveTo>
                <a:lnTo>
                  <a:pt x="3159337" y="0"/>
                </a:lnTo>
                <a:lnTo>
                  <a:pt x="3159337" y="7020748"/>
                </a:lnTo>
                <a:lnTo>
                  <a:pt x="0" y="7020748"/>
                </a:lnTo>
                <a:lnTo>
                  <a:pt x="0" y="0"/>
                </a:lnTo>
                <a:close/>
              </a:path>
            </a:pathLst>
          </a:custGeom>
          <a:blipFill>
            <a:blip r:embed="rId5"/>
            <a:stretch>
              <a:fillRect l="0" t="0" r="0" b="0"/>
            </a:stretch>
          </a:blipFill>
        </p:spPr>
      </p:sp>
      <p:sp>
        <p:nvSpPr>
          <p:cNvPr name="TextBox 6" id="6"/>
          <p:cNvSpPr txBox="true"/>
          <p:nvPr/>
        </p:nvSpPr>
        <p:spPr>
          <a:xfrm rot="0">
            <a:off x="246929" y="193184"/>
            <a:ext cx="9350012" cy="617172"/>
          </a:xfrm>
          <a:prstGeom prst="rect">
            <a:avLst/>
          </a:prstGeom>
        </p:spPr>
        <p:txBody>
          <a:bodyPr anchor="t" rtlCol="false" tIns="0" lIns="0" bIns="0" rIns="0">
            <a:spAutoFit/>
          </a:bodyPr>
          <a:lstStyle/>
          <a:p>
            <a:pPr algn="l" marL="0" indent="0" lvl="0">
              <a:lnSpc>
                <a:spcPts val="4792"/>
              </a:lnSpc>
              <a:spcBef>
                <a:spcPct val="0"/>
              </a:spcBef>
            </a:pPr>
            <a:r>
              <a:rPr lang="en-US" b="true" sz="3993">
                <a:solidFill>
                  <a:srgbClr val="253439"/>
                </a:solidFill>
                <a:latin typeface="Glacial Indifference Bold"/>
                <a:ea typeface="Glacial Indifference Bold"/>
                <a:cs typeface="Glacial Indifference Bold"/>
                <a:sym typeface="Glacial Indifference Bold"/>
              </a:rPr>
              <a:t>MOBILE APP INTERFACES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757985"/>
            <a:ext cx="7286937" cy="8229600"/>
          </a:xfrm>
          <a:custGeom>
            <a:avLst/>
            <a:gdLst/>
            <a:ahLst/>
            <a:cxnLst/>
            <a:rect r="r" b="b" t="t" l="l"/>
            <a:pathLst>
              <a:path h="8229600" w="7286937">
                <a:moveTo>
                  <a:pt x="0" y="0"/>
                </a:moveTo>
                <a:lnTo>
                  <a:pt x="7286937" y="0"/>
                </a:lnTo>
                <a:lnTo>
                  <a:pt x="7286937"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744323" y="4444160"/>
            <a:ext cx="7363778" cy="847725"/>
          </a:xfrm>
          <a:prstGeom prst="rect">
            <a:avLst/>
          </a:prstGeom>
        </p:spPr>
        <p:txBody>
          <a:bodyPr anchor="t" rtlCol="false" tIns="0" lIns="0" bIns="0" rIns="0">
            <a:spAutoFit/>
          </a:bodyPr>
          <a:lstStyle/>
          <a:p>
            <a:pPr algn="ctr">
              <a:lnSpc>
                <a:spcPts val="6666"/>
              </a:lnSpc>
              <a:spcBef>
                <a:spcPct val="0"/>
              </a:spcBef>
            </a:pPr>
            <a:r>
              <a:rPr lang="en-US" b="true" sz="5555">
                <a:solidFill>
                  <a:srgbClr val="000000"/>
                </a:solidFill>
                <a:latin typeface="Glacial Indifference Bold"/>
                <a:ea typeface="Glacial Indifference Bold"/>
                <a:cs typeface="Glacial Indifference Bold"/>
                <a:sym typeface="Glacial Indifference Bold"/>
              </a:rPr>
              <a:t>RESULT &amp; DISCUSSION</a:t>
            </a:r>
          </a:p>
        </p:txBody>
      </p:sp>
      <p:sp>
        <p:nvSpPr>
          <p:cNvPr name="AutoShape 4" id="4"/>
          <p:cNvSpPr/>
          <p:nvPr/>
        </p:nvSpPr>
        <p:spPr>
          <a:xfrm>
            <a:off x="9744323" y="6127917"/>
            <a:ext cx="7363778" cy="0"/>
          </a:xfrm>
          <a:prstGeom prst="line">
            <a:avLst/>
          </a:prstGeom>
          <a:ln cap="flat" w="38100">
            <a:solidFill>
              <a:srgbClr val="000000"/>
            </a:solidFill>
            <a:prstDash val="solid"/>
            <a:headEnd type="none" len="sm" w="sm"/>
            <a:tailEnd type="arrow" len="sm" w="med"/>
          </a:ln>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775658"/>
            <a:ext cx="10558834" cy="7919126"/>
          </a:xfrm>
          <a:custGeom>
            <a:avLst/>
            <a:gdLst/>
            <a:ahLst/>
            <a:cxnLst/>
            <a:rect r="r" b="b" t="t" l="l"/>
            <a:pathLst>
              <a:path h="7919126" w="10558834">
                <a:moveTo>
                  <a:pt x="0" y="0"/>
                </a:moveTo>
                <a:lnTo>
                  <a:pt x="10558834" y="0"/>
                </a:lnTo>
                <a:lnTo>
                  <a:pt x="10558834" y="7919125"/>
                </a:lnTo>
                <a:lnTo>
                  <a:pt x="0" y="7919125"/>
                </a:lnTo>
                <a:lnTo>
                  <a:pt x="0" y="0"/>
                </a:lnTo>
                <a:close/>
              </a:path>
            </a:pathLst>
          </a:custGeom>
          <a:blipFill>
            <a:blip r:embed="rId2"/>
            <a:stretch>
              <a:fillRect l="0" t="0" r="0" b="0"/>
            </a:stretch>
          </a:blipFill>
        </p:spPr>
      </p:sp>
      <p:sp>
        <p:nvSpPr>
          <p:cNvPr name="TextBox 3" id="3"/>
          <p:cNvSpPr txBox="true"/>
          <p:nvPr/>
        </p:nvSpPr>
        <p:spPr>
          <a:xfrm rot="0">
            <a:off x="1514274" y="596540"/>
            <a:ext cx="12185338"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COMPONENT EVALUATION  METRIX</a:t>
            </a:r>
          </a:p>
        </p:txBody>
      </p:sp>
      <p:sp>
        <p:nvSpPr>
          <p:cNvPr name="TextBox 4" id="4"/>
          <p:cNvSpPr txBox="true"/>
          <p:nvPr/>
        </p:nvSpPr>
        <p:spPr>
          <a:xfrm rot="0">
            <a:off x="11587534" y="6439072"/>
            <a:ext cx="5668966" cy="1314450"/>
          </a:xfrm>
          <a:prstGeom prst="rect">
            <a:avLst/>
          </a:prstGeom>
        </p:spPr>
        <p:txBody>
          <a:bodyPr anchor="t" rtlCol="false" tIns="0" lIns="0" bIns="0" rIns="0">
            <a:spAutoFit/>
          </a:bodyPr>
          <a:lstStyle/>
          <a:p>
            <a:pPr algn="l" marL="626650" indent="-313325" lvl="1">
              <a:lnSpc>
                <a:spcPts val="3483"/>
              </a:lnSpc>
              <a:buFont typeface="Arial"/>
              <a:buChar char="•"/>
            </a:pPr>
            <a:r>
              <a:rPr lang="en-US" sz="2902">
                <a:solidFill>
                  <a:srgbClr val="253439"/>
                </a:solidFill>
                <a:latin typeface="Glacial Indifference"/>
                <a:ea typeface="Glacial Indifference"/>
                <a:cs typeface="Glacial Indifference"/>
                <a:sym typeface="Glacial Indifference"/>
              </a:rPr>
              <a:t>SPECIALLY CONSIDERING THE HEART RATE, BLOOD PRESSURE &amp; EXERCISE INTENSITY </a:t>
            </a:r>
          </a:p>
        </p:txBody>
      </p:sp>
      <p:sp>
        <p:nvSpPr>
          <p:cNvPr name="TextBox 5" id="5"/>
          <p:cNvSpPr txBox="true"/>
          <p:nvPr/>
        </p:nvSpPr>
        <p:spPr>
          <a:xfrm rot="0">
            <a:off x="11587534" y="3606171"/>
            <a:ext cx="6202922" cy="1752600"/>
          </a:xfrm>
          <a:prstGeom prst="rect">
            <a:avLst/>
          </a:prstGeom>
        </p:spPr>
        <p:txBody>
          <a:bodyPr anchor="t" rtlCol="false" tIns="0" lIns="0" bIns="0" rIns="0">
            <a:spAutoFit/>
          </a:bodyPr>
          <a:lstStyle/>
          <a:p>
            <a:pPr algn="l" marL="626650" indent="-313325" lvl="1">
              <a:lnSpc>
                <a:spcPts val="3483"/>
              </a:lnSpc>
              <a:buFont typeface="Arial"/>
              <a:buChar char="•"/>
            </a:pPr>
            <a:r>
              <a:rPr lang="en-US" sz="2902">
                <a:solidFill>
                  <a:srgbClr val="253439"/>
                </a:solidFill>
                <a:latin typeface="Glacial Indifference"/>
                <a:ea typeface="Glacial Indifference"/>
                <a:cs typeface="Glacial Indifference"/>
                <a:sym typeface="Glacial Indifference"/>
              </a:rPr>
              <a:t>USED RANDOM FOREST CLASSIFIER ALGORITHM. SO WE CAN GENERATE THESE REPORTS AS WELL.</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041498" y="1785005"/>
            <a:ext cx="10205003" cy="7633702"/>
          </a:xfrm>
          <a:custGeom>
            <a:avLst/>
            <a:gdLst/>
            <a:ahLst/>
            <a:cxnLst/>
            <a:rect r="r" b="b" t="t" l="l"/>
            <a:pathLst>
              <a:path h="7633702" w="10205003">
                <a:moveTo>
                  <a:pt x="0" y="0"/>
                </a:moveTo>
                <a:lnTo>
                  <a:pt x="10205004" y="0"/>
                </a:lnTo>
                <a:lnTo>
                  <a:pt x="10205004" y="7633701"/>
                </a:lnTo>
                <a:lnTo>
                  <a:pt x="0" y="7633701"/>
                </a:lnTo>
                <a:lnTo>
                  <a:pt x="0" y="0"/>
                </a:lnTo>
                <a:close/>
              </a:path>
            </a:pathLst>
          </a:custGeom>
          <a:blipFill>
            <a:blip r:embed="rId2"/>
            <a:stretch>
              <a:fillRect l="0" t="-131" r="0" b="-131"/>
            </a:stretch>
          </a:blipFill>
        </p:spPr>
      </p:sp>
      <p:sp>
        <p:nvSpPr>
          <p:cNvPr name="TextBox 3" id="3"/>
          <p:cNvSpPr txBox="true"/>
          <p:nvPr/>
        </p:nvSpPr>
        <p:spPr>
          <a:xfrm rot="0">
            <a:off x="1028700" y="596540"/>
            <a:ext cx="12185338"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CONFUSION  METRIX</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134090" y="1829634"/>
            <a:ext cx="11593375" cy="6940870"/>
          </a:xfrm>
          <a:custGeom>
            <a:avLst/>
            <a:gdLst/>
            <a:ahLst/>
            <a:cxnLst/>
            <a:rect r="r" b="b" t="t" l="l"/>
            <a:pathLst>
              <a:path h="6940870" w="11593375">
                <a:moveTo>
                  <a:pt x="0" y="0"/>
                </a:moveTo>
                <a:lnTo>
                  <a:pt x="11593375" y="0"/>
                </a:lnTo>
                <a:lnTo>
                  <a:pt x="11593375" y="6940870"/>
                </a:lnTo>
                <a:lnTo>
                  <a:pt x="0" y="6940870"/>
                </a:lnTo>
                <a:lnTo>
                  <a:pt x="0" y="0"/>
                </a:lnTo>
                <a:close/>
              </a:path>
            </a:pathLst>
          </a:custGeom>
          <a:blipFill>
            <a:blip r:embed="rId2"/>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60705" y="1608815"/>
            <a:ext cx="8324764" cy="6908532"/>
          </a:xfrm>
          <a:custGeom>
            <a:avLst/>
            <a:gdLst/>
            <a:ahLst/>
            <a:cxnLst/>
            <a:rect r="r" b="b" t="t" l="l"/>
            <a:pathLst>
              <a:path h="6908532" w="8324764">
                <a:moveTo>
                  <a:pt x="0" y="0"/>
                </a:moveTo>
                <a:lnTo>
                  <a:pt x="8324764" y="0"/>
                </a:lnTo>
                <a:lnTo>
                  <a:pt x="8324764" y="6908532"/>
                </a:lnTo>
                <a:lnTo>
                  <a:pt x="0" y="6908532"/>
                </a:lnTo>
                <a:lnTo>
                  <a:pt x="0" y="0"/>
                </a:lnTo>
                <a:close/>
              </a:path>
            </a:pathLst>
          </a:custGeom>
          <a:blipFill>
            <a:blip r:embed="rId2"/>
            <a:stretch>
              <a:fillRect l="0" t="0" r="-4059" b="0"/>
            </a:stretch>
          </a:blipFill>
        </p:spPr>
      </p:sp>
      <p:sp>
        <p:nvSpPr>
          <p:cNvPr name="Freeform 3" id="3"/>
          <p:cNvSpPr/>
          <p:nvPr/>
        </p:nvSpPr>
        <p:spPr>
          <a:xfrm flipH="false" flipV="false" rot="0">
            <a:off x="9163050" y="1608815"/>
            <a:ext cx="8889828" cy="6908532"/>
          </a:xfrm>
          <a:custGeom>
            <a:avLst/>
            <a:gdLst/>
            <a:ahLst/>
            <a:cxnLst/>
            <a:rect r="r" b="b" t="t" l="l"/>
            <a:pathLst>
              <a:path h="6908532" w="8889828">
                <a:moveTo>
                  <a:pt x="0" y="0"/>
                </a:moveTo>
                <a:lnTo>
                  <a:pt x="8889828" y="0"/>
                </a:lnTo>
                <a:lnTo>
                  <a:pt x="8889828" y="6908532"/>
                </a:lnTo>
                <a:lnTo>
                  <a:pt x="0" y="6908532"/>
                </a:lnTo>
                <a:lnTo>
                  <a:pt x="0" y="0"/>
                </a:lnTo>
                <a:close/>
              </a:path>
            </a:pathLst>
          </a:custGeom>
          <a:blipFill>
            <a:blip r:embed="rId3"/>
            <a:stretch>
              <a:fillRect l="-1525" t="0" r="-1576" b="0"/>
            </a:stretch>
          </a:blipFill>
        </p:spPr>
      </p:sp>
      <p:sp>
        <p:nvSpPr>
          <p:cNvPr name="TextBox 4" id="4"/>
          <p:cNvSpPr txBox="true"/>
          <p:nvPr/>
        </p:nvSpPr>
        <p:spPr>
          <a:xfrm rot="0">
            <a:off x="676998" y="387233"/>
            <a:ext cx="9068780" cy="877571"/>
          </a:xfrm>
          <a:prstGeom prst="rect">
            <a:avLst/>
          </a:prstGeom>
        </p:spPr>
        <p:txBody>
          <a:bodyPr anchor="t" rtlCol="false" tIns="0" lIns="0" bIns="0" rIns="0">
            <a:spAutoFit/>
          </a:bodyPr>
          <a:lstStyle/>
          <a:p>
            <a:pPr algn="r" marL="0" indent="0" lvl="0">
              <a:lnSpc>
                <a:spcPts val="6710"/>
              </a:lnSpc>
            </a:pPr>
            <a:r>
              <a:rPr lang="en-US" b="true" sz="6100">
                <a:solidFill>
                  <a:srgbClr val="253439"/>
                </a:solidFill>
                <a:latin typeface="Glacial Indifference Bold"/>
                <a:ea typeface="Glacial Indifference Bold"/>
                <a:cs typeface="Glacial Indifference Bold"/>
                <a:sym typeface="Glacial Indifference Bold"/>
              </a:rPr>
              <a:t>PROOF OF MODEL TRAIN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86974" y="2226363"/>
            <a:ext cx="13080777" cy="6752951"/>
          </a:xfrm>
          <a:custGeom>
            <a:avLst/>
            <a:gdLst/>
            <a:ahLst/>
            <a:cxnLst/>
            <a:rect r="r" b="b" t="t" l="l"/>
            <a:pathLst>
              <a:path h="6752951" w="13080777">
                <a:moveTo>
                  <a:pt x="0" y="0"/>
                </a:moveTo>
                <a:lnTo>
                  <a:pt x="13080777" y="0"/>
                </a:lnTo>
                <a:lnTo>
                  <a:pt x="13080777" y="6752950"/>
                </a:lnTo>
                <a:lnTo>
                  <a:pt x="0" y="6752950"/>
                </a:lnTo>
                <a:lnTo>
                  <a:pt x="0" y="0"/>
                </a:lnTo>
                <a:close/>
              </a:path>
            </a:pathLst>
          </a:custGeom>
          <a:blipFill>
            <a:blip r:embed="rId2"/>
            <a:stretch>
              <a:fillRect l="0" t="0" r="0" b="0"/>
            </a:stretch>
          </a:blipFill>
        </p:spPr>
      </p:sp>
      <p:sp>
        <p:nvSpPr>
          <p:cNvPr name="TextBox 3" id="3"/>
          <p:cNvSpPr txBox="true"/>
          <p:nvPr/>
        </p:nvSpPr>
        <p:spPr>
          <a:xfrm rot="0">
            <a:off x="761810" y="809625"/>
            <a:ext cx="5810721" cy="590550"/>
          </a:xfrm>
          <a:prstGeom prst="rect">
            <a:avLst/>
          </a:prstGeom>
        </p:spPr>
        <p:txBody>
          <a:bodyPr anchor="t" rtlCol="false" tIns="0" lIns="0" bIns="0" rIns="0">
            <a:spAutoFit/>
          </a:bodyPr>
          <a:lstStyle/>
          <a:p>
            <a:pPr algn="ctr">
              <a:lnSpc>
                <a:spcPts val="4682"/>
              </a:lnSpc>
              <a:spcBef>
                <a:spcPct val="0"/>
              </a:spcBef>
            </a:pPr>
            <a:r>
              <a:rPr lang="en-US" b="true" sz="3902">
                <a:solidFill>
                  <a:srgbClr val="000000"/>
                </a:solidFill>
                <a:latin typeface="Glacial Indifference Bold"/>
                <a:ea typeface="Glacial Indifference Bold"/>
                <a:cs typeface="Glacial Indifference Bold"/>
                <a:sym typeface="Glacial Indifference Bold"/>
              </a:rPr>
              <a:t>PROOF OF PREDICTION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029984" y="2754356"/>
            <a:ext cx="5229316" cy="4778287"/>
          </a:xfrm>
          <a:custGeom>
            <a:avLst/>
            <a:gdLst/>
            <a:ahLst/>
            <a:cxnLst/>
            <a:rect r="r" b="b" t="t" l="l"/>
            <a:pathLst>
              <a:path h="4778287" w="5229316">
                <a:moveTo>
                  <a:pt x="0" y="0"/>
                </a:moveTo>
                <a:lnTo>
                  <a:pt x="5229316" y="0"/>
                </a:lnTo>
                <a:lnTo>
                  <a:pt x="5229316" y="4778288"/>
                </a:lnTo>
                <a:lnTo>
                  <a:pt x="0" y="4778288"/>
                </a:lnTo>
                <a:lnTo>
                  <a:pt x="0" y="0"/>
                </a:lnTo>
                <a:close/>
              </a:path>
            </a:pathLst>
          </a:custGeom>
          <a:blipFill>
            <a:blip r:embed="rId2"/>
            <a:stretch>
              <a:fillRect l="0" t="0" r="0" b="0"/>
            </a:stretch>
          </a:blipFill>
        </p:spPr>
      </p:sp>
      <p:sp>
        <p:nvSpPr>
          <p:cNvPr name="TextBox 3" id="3"/>
          <p:cNvSpPr txBox="true"/>
          <p:nvPr/>
        </p:nvSpPr>
        <p:spPr>
          <a:xfrm rot="0">
            <a:off x="1345809" y="600075"/>
            <a:ext cx="3241953" cy="847725"/>
          </a:xfrm>
          <a:prstGeom prst="rect">
            <a:avLst/>
          </a:prstGeom>
        </p:spPr>
        <p:txBody>
          <a:bodyPr anchor="t" rtlCol="false" tIns="0" lIns="0" bIns="0" rIns="0">
            <a:spAutoFit/>
          </a:bodyPr>
          <a:lstStyle/>
          <a:p>
            <a:pPr algn="ctr">
              <a:lnSpc>
                <a:spcPts val="6666"/>
              </a:lnSpc>
              <a:spcBef>
                <a:spcPct val="0"/>
              </a:spcBef>
            </a:pPr>
            <a:r>
              <a:rPr lang="en-US" b="true" sz="5555">
                <a:solidFill>
                  <a:srgbClr val="000000"/>
                </a:solidFill>
                <a:latin typeface="Glacial Indifference Bold"/>
                <a:ea typeface="Glacial Indifference Bold"/>
                <a:cs typeface="Glacial Indifference Bold"/>
                <a:sym typeface="Glacial Indifference Bold"/>
              </a:rPr>
              <a:t>IN FUTURE</a:t>
            </a:r>
          </a:p>
        </p:txBody>
      </p:sp>
      <p:sp>
        <p:nvSpPr>
          <p:cNvPr name="TextBox 4" id="4"/>
          <p:cNvSpPr txBox="true"/>
          <p:nvPr/>
        </p:nvSpPr>
        <p:spPr>
          <a:xfrm rot="0">
            <a:off x="1028700" y="2696821"/>
            <a:ext cx="9070423" cy="1974267"/>
          </a:xfrm>
          <a:prstGeom prst="rect">
            <a:avLst/>
          </a:prstGeom>
        </p:spPr>
        <p:txBody>
          <a:bodyPr anchor="t" rtlCol="false" tIns="0" lIns="0" bIns="0" rIns="0">
            <a:spAutoFit/>
          </a:bodyPr>
          <a:lstStyle/>
          <a:p>
            <a:pPr algn="l" marL="929149" indent="-464575" lvl="1">
              <a:lnSpc>
                <a:spcPts val="5164"/>
              </a:lnSpc>
              <a:buFont typeface="Arial"/>
              <a:buChar char="•"/>
            </a:pPr>
            <a:r>
              <a:rPr lang="en-US" sz="4303">
                <a:solidFill>
                  <a:srgbClr val="000000"/>
                </a:solidFill>
                <a:latin typeface="Glacial Indifference"/>
                <a:ea typeface="Glacial Indifference"/>
                <a:cs typeface="Glacial Indifference"/>
                <a:sym typeface="Glacial Indifference"/>
              </a:rPr>
              <a:t>Develop the IOS version.</a:t>
            </a:r>
          </a:p>
          <a:p>
            <a:pPr algn="ctr" marL="929149" indent="-464575" lvl="1">
              <a:lnSpc>
                <a:spcPts val="5164"/>
              </a:lnSpc>
              <a:buFont typeface="Arial"/>
              <a:buChar char="•"/>
            </a:pPr>
            <a:r>
              <a:rPr lang="en-US" sz="4303">
                <a:solidFill>
                  <a:srgbClr val="000000"/>
                </a:solidFill>
                <a:latin typeface="Glacial Indifference"/>
                <a:ea typeface="Glacial Indifference"/>
                <a:cs typeface="Glacial Indifference"/>
                <a:sym typeface="Glacial Indifference"/>
              </a:rPr>
              <a:t>Integration with Wearable devices.</a:t>
            </a:r>
          </a:p>
          <a:p>
            <a:pPr algn="l" marL="929149" indent="-464575" lvl="1">
              <a:lnSpc>
                <a:spcPts val="5164"/>
              </a:lnSpc>
              <a:buFont typeface="Arial"/>
              <a:buChar char="•"/>
            </a:pPr>
            <a:r>
              <a:rPr lang="en-US" sz="4303">
                <a:solidFill>
                  <a:srgbClr val="000000"/>
                </a:solidFill>
                <a:latin typeface="Glacial Indifference"/>
                <a:ea typeface="Glacial Indifference"/>
                <a:cs typeface="Glacial Indifference"/>
                <a:sym typeface="Glacial Indifference"/>
              </a:rPr>
              <a:t>Voice-Guided Workouts</a:t>
            </a:r>
          </a:p>
        </p:txBody>
      </p:sp>
      <p:sp>
        <p:nvSpPr>
          <p:cNvPr name="TextBox 5" id="5"/>
          <p:cNvSpPr txBox="true"/>
          <p:nvPr/>
        </p:nvSpPr>
        <p:spPr>
          <a:xfrm rot="0">
            <a:off x="1345809" y="6859631"/>
            <a:ext cx="9453562" cy="847725"/>
          </a:xfrm>
          <a:prstGeom prst="rect">
            <a:avLst/>
          </a:prstGeom>
        </p:spPr>
        <p:txBody>
          <a:bodyPr anchor="t" rtlCol="false" tIns="0" lIns="0" bIns="0" rIns="0">
            <a:spAutoFit/>
          </a:bodyPr>
          <a:lstStyle/>
          <a:p>
            <a:pPr algn="ctr">
              <a:lnSpc>
                <a:spcPts val="6666"/>
              </a:lnSpc>
              <a:spcBef>
                <a:spcPct val="0"/>
              </a:spcBef>
            </a:pPr>
            <a:r>
              <a:rPr lang="en-US" sz="5555">
                <a:solidFill>
                  <a:srgbClr val="000000"/>
                </a:solidFill>
                <a:latin typeface="Glacial Indifference"/>
                <a:ea typeface="Glacial Indifference"/>
                <a:cs typeface="Glacial Indifference"/>
                <a:sym typeface="Glacial Indifference"/>
              </a:rPr>
              <a:t>Finally released into the market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115136" y="1575502"/>
            <a:ext cx="7610698" cy="6165515"/>
            <a:chOff x="0" y="0"/>
            <a:chExt cx="2004464" cy="1623839"/>
          </a:xfrm>
        </p:grpSpPr>
        <p:sp>
          <p:nvSpPr>
            <p:cNvPr name="Freeform 3" id="3"/>
            <p:cNvSpPr/>
            <p:nvPr/>
          </p:nvSpPr>
          <p:spPr>
            <a:xfrm flipH="false" flipV="false" rot="0">
              <a:off x="0" y="0"/>
              <a:ext cx="2004464" cy="1623839"/>
            </a:xfrm>
            <a:custGeom>
              <a:avLst/>
              <a:gdLst/>
              <a:ahLst/>
              <a:cxnLst/>
              <a:rect r="r" b="b" t="t" l="l"/>
              <a:pathLst>
                <a:path h="1623839" w="2004464">
                  <a:moveTo>
                    <a:pt x="0" y="0"/>
                  </a:moveTo>
                  <a:lnTo>
                    <a:pt x="2004464" y="0"/>
                  </a:lnTo>
                  <a:lnTo>
                    <a:pt x="2004464" y="1623839"/>
                  </a:lnTo>
                  <a:lnTo>
                    <a:pt x="0" y="1623839"/>
                  </a:lnTo>
                  <a:close/>
                </a:path>
              </a:pathLst>
            </a:custGeom>
            <a:gradFill rotWithShape="true">
              <a:gsLst>
                <a:gs pos="0">
                  <a:srgbClr val="A6A6A6">
                    <a:alpha val="100000"/>
                  </a:srgbClr>
                </a:gs>
                <a:gs pos="100000">
                  <a:srgbClr val="FFFFFF">
                    <a:alpha val="100000"/>
                  </a:srgbClr>
                </a:gs>
              </a:gsLst>
              <a:lin ang="0"/>
            </a:gradFill>
          </p:spPr>
        </p:sp>
        <p:sp>
          <p:nvSpPr>
            <p:cNvPr name="TextBox 4" id="4"/>
            <p:cNvSpPr txBox="true"/>
            <p:nvPr/>
          </p:nvSpPr>
          <p:spPr>
            <a:xfrm>
              <a:off x="0" y="-57150"/>
              <a:ext cx="2004464" cy="1680989"/>
            </a:xfrm>
            <a:prstGeom prst="rect">
              <a:avLst/>
            </a:prstGeom>
          </p:spPr>
          <p:txBody>
            <a:bodyPr anchor="ctr" rtlCol="false" tIns="50800" lIns="50800" bIns="50800" rIns="50800"/>
            <a:lstStyle/>
            <a:p>
              <a:pPr algn="ctr">
                <a:lnSpc>
                  <a:spcPts val="3779"/>
                </a:lnSpc>
                <a:spcBef>
                  <a:spcPct val="0"/>
                </a:spcBef>
              </a:pPr>
            </a:p>
          </p:txBody>
        </p:sp>
      </p:grpSp>
      <p:grpSp>
        <p:nvGrpSpPr>
          <p:cNvPr name="Group 5" id="5"/>
          <p:cNvGrpSpPr/>
          <p:nvPr/>
        </p:nvGrpSpPr>
        <p:grpSpPr>
          <a:xfrm rot="0">
            <a:off x="10245028" y="1575502"/>
            <a:ext cx="7283017" cy="6165515"/>
            <a:chOff x="0" y="0"/>
            <a:chExt cx="1918161" cy="1623839"/>
          </a:xfrm>
        </p:grpSpPr>
        <p:sp>
          <p:nvSpPr>
            <p:cNvPr name="Freeform 6" id="6"/>
            <p:cNvSpPr/>
            <p:nvPr/>
          </p:nvSpPr>
          <p:spPr>
            <a:xfrm flipH="false" flipV="false" rot="0">
              <a:off x="0" y="0"/>
              <a:ext cx="1918161" cy="1623839"/>
            </a:xfrm>
            <a:custGeom>
              <a:avLst/>
              <a:gdLst/>
              <a:ahLst/>
              <a:cxnLst/>
              <a:rect r="r" b="b" t="t" l="l"/>
              <a:pathLst>
                <a:path h="1623839" w="1918161">
                  <a:moveTo>
                    <a:pt x="0" y="0"/>
                  </a:moveTo>
                  <a:lnTo>
                    <a:pt x="1918161" y="0"/>
                  </a:lnTo>
                  <a:lnTo>
                    <a:pt x="1918161" y="1623839"/>
                  </a:lnTo>
                  <a:lnTo>
                    <a:pt x="0" y="1623839"/>
                  </a:lnTo>
                  <a:close/>
                </a:path>
              </a:pathLst>
            </a:custGeom>
            <a:gradFill rotWithShape="true">
              <a:gsLst>
                <a:gs pos="0">
                  <a:srgbClr val="CDFFD8">
                    <a:alpha val="100000"/>
                  </a:srgbClr>
                </a:gs>
                <a:gs pos="100000">
                  <a:srgbClr val="94B9FF">
                    <a:alpha val="100000"/>
                  </a:srgbClr>
                </a:gs>
              </a:gsLst>
              <a:lin ang="0"/>
            </a:gradFill>
          </p:spPr>
        </p:sp>
        <p:sp>
          <p:nvSpPr>
            <p:cNvPr name="TextBox 7" id="7"/>
            <p:cNvSpPr txBox="true"/>
            <p:nvPr/>
          </p:nvSpPr>
          <p:spPr>
            <a:xfrm>
              <a:off x="0" y="-38100"/>
              <a:ext cx="1918161" cy="1661939"/>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7262084" y="5759801"/>
            <a:ext cx="4292955" cy="4292955"/>
          </a:xfrm>
          <a:custGeom>
            <a:avLst/>
            <a:gdLst/>
            <a:ahLst/>
            <a:cxnLst/>
            <a:rect r="r" b="b" t="t" l="l"/>
            <a:pathLst>
              <a:path h="4292955" w="4292955">
                <a:moveTo>
                  <a:pt x="0" y="0"/>
                </a:moveTo>
                <a:lnTo>
                  <a:pt x="4292956" y="0"/>
                </a:lnTo>
                <a:lnTo>
                  <a:pt x="4292956" y="4292955"/>
                </a:lnTo>
                <a:lnTo>
                  <a:pt x="0" y="4292955"/>
                </a:lnTo>
                <a:lnTo>
                  <a:pt x="0" y="0"/>
                </a:lnTo>
                <a:close/>
              </a:path>
            </a:pathLst>
          </a:custGeom>
          <a:blipFill>
            <a:blip r:embed="rId2"/>
            <a:stretch>
              <a:fillRect l="0" t="0" r="0" b="0"/>
            </a:stretch>
          </a:blipFill>
        </p:spPr>
      </p:sp>
      <p:sp>
        <p:nvSpPr>
          <p:cNvPr name="TextBox 9" id="9"/>
          <p:cNvSpPr txBox="true"/>
          <p:nvPr/>
        </p:nvSpPr>
        <p:spPr>
          <a:xfrm rot="0">
            <a:off x="1222487" y="336723"/>
            <a:ext cx="6911431" cy="704850"/>
          </a:xfrm>
          <a:prstGeom prst="rect">
            <a:avLst/>
          </a:prstGeom>
        </p:spPr>
        <p:txBody>
          <a:bodyPr anchor="t" rtlCol="false" tIns="0" lIns="0" bIns="0" rIns="0">
            <a:spAutoFit/>
          </a:bodyPr>
          <a:lstStyle/>
          <a:p>
            <a:pPr algn="l" marL="0" indent="0" lvl="0">
              <a:lnSpc>
                <a:spcPts val="5586"/>
              </a:lnSpc>
              <a:spcBef>
                <a:spcPct val="0"/>
              </a:spcBef>
            </a:pPr>
            <a:r>
              <a:rPr lang="en-US" b="true" sz="4655">
                <a:solidFill>
                  <a:srgbClr val="253439"/>
                </a:solidFill>
                <a:latin typeface="Glacial Indifference Bold"/>
                <a:ea typeface="Glacial Indifference Bold"/>
                <a:cs typeface="Glacial Indifference Bold"/>
                <a:sym typeface="Glacial Indifference Bold"/>
              </a:rPr>
              <a:t>COMMERCIALIZATION</a:t>
            </a:r>
          </a:p>
        </p:txBody>
      </p:sp>
      <p:sp>
        <p:nvSpPr>
          <p:cNvPr name="TextBox 10" id="10"/>
          <p:cNvSpPr txBox="true"/>
          <p:nvPr/>
        </p:nvSpPr>
        <p:spPr>
          <a:xfrm rot="0">
            <a:off x="1274630" y="1836692"/>
            <a:ext cx="6715959" cy="657225"/>
          </a:xfrm>
          <a:prstGeom prst="rect">
            <a:avLst/>
          </a:prstGeom>
        </p:spPr>
        <p:txBody>
          <a:bodyPr anchor="t" rtlCol="false" tIns="0" lIns="0" bIns="0" rIns="0">
            <a:spAutoFit/>
          </a:bodyPr>
          <a:lstStyle/>
          <a:p>
            <a:pPr algn="ctr">
              <a:lnSpc>
                <a:spcPts val="5160"/>
              </a:lnSpc>
              <a:spcBef>
                <a:spcPct val="0"/>
              </a:spcBef>
            </a:pPr>
            <a:r>
              <a:rPr lang="en-US" b="true" sz="4300">
                <a:solidFill>
                  <a:srgbClr val="253439"/>
                </a:solidFill>
                <a:latin typeface="Glacial Indifference Bold"/>
                <a:ea typeface="Glacial Indifference Bold"/>
                <a:cs typeface="Glacial Indifference Bold"/>
                <a:sym typeface="Glacial Indifference Bold"/>
              </a:rPr>
              <a:t>REAL WORLD APPLICATION</a:t>
            </a:r>
          </a:p>
        </p:txBody>
      </p:sp>
      <p:sp>
        <p:nvSpPr>
          <p:cNvPr name="TextBox 11" id="11"/>
          <p:cNvSpPr txBox="true"/>
          <p:nvPr/>
        </p:nvSpPr>
        <p:spPr>
          <a:xfrm rot="0">
            <a:off x="11314992" y="1836692"/>
            <a:ext cx="5342798" cy="657225"/>
          </a:xfrm>
          <a:prstGeom prst="rect">
            <a:avLst/>
          </a:prstGeom>
        </p:spPr>
        <p:txBody>
          <a:bodyPr anchor="t" rtlCol="false" tIns="0" lIns="0" bIns="0" rIns="0">
            <a:spAutoFit/>
          </a:bodyPr>
          <a:lstStyle/>
          <a:p>
            <a:pPr algn="ctr">
              <a:lnSpc>
                <a:spcPts val="5160"/>
              </a:lnSpc>
              <a:spcBef>
                <a:spcPct val="0"/>
              </a:spcBef>
            </a:pPr>
            <a:r>
              <a:rPr lang="en-US" b="true" sz="4300">
                <a:solidFill>
                  <a:srgbClr val="253439"/>
                </a:solidFill>
                <a:latin typeface="Glacial Indifference Bold"/>
                <a:ea typeface="Glacial Indifference Bold"/>
                <a:cs typeface="Glacial Indifference Bold"/>
                <a:sym typeface="Glacial Indifference Bold"/>
              </a:rPr>
              <a:t>TARGET AUDIENCE </a:t>
            </a:r>
          </a:p>
        </p:txBody>
      </p:sp>
      <p:sp>
        <p:nvSpPr>
          <p:cNvPr name="TextBox 12" id="12"/>
          <p:cNvSpPr txBox="true"/>
          <p:nvPr/>
        </p:nvSpPr>
        <p:spPr>
          <a:xfrm rot="0">
            <a:off x="1115136" y="3153067"/>
            <a:ext cx="6551533" cy="1495425"/>
          </a:xfrm>
          <a:prstGeom prst="rect">
            <a:avLst/>
          </a:prstGeom>
        </p:spPr>
        <p:txBody>
          <a:bodyPr anchor="t" rtlCol="false" tIns="0" lIns="0" bIns="0" rIns="0">
            <a:spAutoFit/>
          </a:bodyPr>
          <a:lstStyle/>
          <a:p>
            <a:pPr algn="l" marL="702492" indent="-351246" lvl="1">
              <a:lnSpc>
                <a:spcPts val="3904"/>
              </a:lnSpc>
              <a:buFont typeface="Arial"/>
              <a:buChar char="•"/>
            </a:pPr>
            <a:r>
              <a:rPr lang="en-US" b="true" sz="3253">
                <a:solidFill>
                  <a:srgbClr val="253439"/>
                </a:solidFill>
                <a:latin typeface="Glacial Indifference Bold"/>
                <a:ea typeface="Glacial Indifference Bold"/>
                <a:cs typeface="Glacial Indifference Bold"/>
                <a:sym typeface="Glacial Indifference Bold"/>
              </a:rPr>
              <a:t>Personal Fitness Coaching.</a:t>
            </a:r>
          </a:p>
          <a:p>
            <a:pPr algn="ctr" marL="702492" indent="-351246" lvl="1">
              <a:lnSpc>
                <a:spcPts val="3904"/>
              </a:lnSpc>
              <a:buFont typeface="Arial"/>
              <a:buChar char="•"/>
            </a:pPr>
            <a:r>
              <a:rPr lang="en-US" b="true" sz="3253">
                <a:solidFill>
                  <a:srgbClr val="253439"/>
                </a:solidFill>
                <a:latin typeface="Glacial Indifference Bold"/>
                <a:ea typeface="Glacial Indifference Bold"/>
                <a:cs typeface="Glacial Indifference Bold"/>
                <a:sym typeface="Glacial Indifference Bold"/>
              </a:rPr>
              <a:t>Telehealth or Remote Training.</a:t>
            </a:r>
          </a:p>
          <a:p>
            <a:pPr algn="l" marL="702492" indent="-351246" lvl="1">
              <a:lnSpc>
                <a:spcPts val="3904"/>
              </a:lnSpc>
              <a:buFont typeface="Arial"/>
              <a:buChar char="•"/>
            </a:pPr>
            <a:r>
              <a:rPr lang="en-US" b="true" sz="3253">
                <a:solidFill>
                  <a:srgbClr val="253439"/>
                </a:solidFill>
                <a:latin typeface="Glacial Indifference Bold"/>
                <a:ea typeface="Glacial Indifference Bold"/>
                <a:cs typeface="Glacial Indifference Bold"/>
                <a:sym typeface="Glacial Indifference Bold"/>
              </a:rPr>
              <a:t>Fitness Startups &amp; Gyms.</a:t>
            </a:r>
          </a:p>
        </p:txBody>
      </p:sp>
      <p:sp>
        <p:nvSpPr>
          <p:cNvPr name="TextBox 13" id="13"/>
          <p:cNvSpPr txBox="true"/>
          <p:nvPr/>
        </p:nvSpPr>
        <p:spPr>
          <a:xfrm rot="0">
            <a:off x="1297015" y="5407376"/>
            <a:ext cx="6693575" cy="352425"/>
          </a:xfrm>
          <a:prstGeom prst="rect">
            <a:avLst/>
          </a:prstGeom>
        </p:spPr>
        <p:txBody>
          <a:bodyPr anchor="t" rtlCol="false" tIns="0" lIns="0" bIns="0" rIns="0">
            <a:spAutoFit/>
          </a:bodyPr>
          <a:lstStyle/>
          <a:p>
            <a:pPr algn="ctr">
              <a:lnSpc>
                <a:spcPts val="2760"/>
              </a:lnSpc>
              <a:spcBef>
                <a:spcPct val="0"/>
              </a:spcBef>
            </a:pPr>
            <a:r>
              <a:rPr lang="en-US" b="true" sz="2300">
                <a:solidFill>
                  <a:srgbClr val="253439"/>
                </a:solidFill>
                <a:latin typeface="Glacial Indifference Bold"/>
                <a:ea typeface="Glacial Indifference Bold"/>
                <a:cs typeface="Glacial Indifference Bold"/>
                <a:sym typeface="Glacial Indifference Bold"/>
              </a:rPr>
              <a:t>THESE FEATURE SOLVES ACTUAL USER PROBLEMS</a:t>
            </a:r>
          </a:p>
        </p:txBody>
      </p:sp>
      <p:sp>
        <p:nvSpPr>
          <p:cNvPr name="TextBox 14" id="14"/>
          <p:cNvSpPr txBox="true"/>
          <p:nvPr/>
        </p:nvSpPr>
        <p:spPr>
          <a:xfrm rot="0">
            <a:off x="10905178" y="2843505"/>
            <a:ext cx="5914611" cy="628650"/>
          </a:xfrm>
          <a:prstGeom prst="rect">
            <a:avLst/>
          </a:prstGeom>
        </p:spPr>
        <p:txBody>
          <a:bodyPr anchor="t" rtlCol="false" tIns="0" lIns="0" bIns="0" rIns="0">
            <a:spAutoFit/>
          </a:bodyPr>
          <a:lstStyle/>
          <a:p>
            <a:pPr algn="ctr">
              <a:lnSpc>
                <a:spcPts val="4920"/>
              </a:lnSpc>
              <a:spcBef>
                <a:spcPct val="0"/>
              </a:spcBef>
            </a:pPr>
            <a:r>
              <a:rPr lang="en-US" sz="4100">
                <a:solidFill>
                  <a:srgbClr val="253439"/>
                </a:solidFill>
                <a:latin typeface="Glacial Indifference"/>
                <a:ea typeface="Glacial Indifference"/>
                <a:cs typeface="Glacial Indifference"/>
                <a:sym typeface="Glacial Indifference"/>
              </a:rPr>
              <a:t>Wh</a:t>
            </a:r>
            <a:r>
              <a:rPr lang="en-US" sz="4100">
                <a:solidFill>
                  <a:srgbClr val="253439"/>
                </a:solidFill>
                <a:latin typeface="Glacial Indifference"/>
                <a:ea typeface="Glacial Indifference"/>
                <a:cs typeface="Glacial Indifference"/>
                <a:sym typeface="Glacial Indifference"/>
              </a:rPr>
              <a:t>o will use or buy this?</a:t>
            </a:r>
          </a:p>
        </p:txBody>
      </p:sp>
      <p:sp>
        <p:nvSpPr>
          <p:cNvPr name="TextBox 15" id="15"/>
          <p:cNvSpPr txBox="true"/>
          <p:nvPr/>
        </p:nvSpPr>
        <p:spPr>
          <a:xfrm rot="0">
            <a:off x="10602135" y="3905542"/>
            <a:ext cx="6520696" cy="1943100"/>
          </a:xfrm>
          <a:prstGeom prst="rect">
            <a:avLst/>
          </a:prstGeom>
        </p:spPr>
        <p:txBody>
          <a:bodyPr anchor="t" rtlCol="false" tIns="0" lIns="0" bIns="0" rIns="0">
            <a:spAutoFit/>
          </a:bodyPr>
          <a:lstStyle/>
          <a:p>
            <a:pPr algn="l" marL="690919" indent="-345460" lvl="1">
              <a:lnSpc>
                <a:spcPts val="3840"/>
              </a:lnSpc>
              <a:buFont typeface="Arial"/>
              <a:buChar char="•"/>
            </a:pPr>
            <a:r>
              <a:rPr lang="en-US" b="true" sz="3200">
                <a:solidFill>
                  <a:srgbClr val="253439"/>
                </a:solidFill>
                <a:latin typeface="Glacial Indifference Bold"/>
                <a:ea typeface="Glacial Indifference Bold"/>
                <a:cs typeface="Glacial Indifference Bold"/>
                <a:sym typeface="Glacial Indifference Bold"/>
              </a:rPr>
              <a:t>Fi</a:t>
            </a:r>
            <a:r>
              <a:rPr lang="en-US" b="true" sz="3200">
                <a:solidFill>
                  <a:srgbClr val="253439"/>
                </a:solidFill>
                <a:latin typeface="Glacial Indifference Bold"/>
                <a:ea typeface="Glacial Indifference Bold"/>
                <a:cs typeface="Glacial Indifference Bold"/>
                <a:sym typeface="Glacial Indifference Bold"/>
              </a:rPr>
              <a:t>tness Enthusiasts</a:t>
            </a:r>
          </a:p>
          <a:p>
            <a:pPr algn="l" marL="690919" indent="-345460" lvl="1">
              <a:lnSpc>
                <a:spcPts val="3840"/>
              </a:lnSpc>
              <a:buFont typeface="Arial"/>
              <a:buChar char="•"/>
            </a:pPr>
            <a:r>
              <a:rPr lang="en-US" b="true" sz="3200">
                <a:solidFill>
                  <a:srgbClr val="253439"/>
                </a:solidFill>
                <a:latin typeface="Glacial Indifference Bold"/>
                <a:ea typeface="Glacial Indifference Bold"/>
                <a:cs typeface="Glacial Indifference Bold"/>
                <a:sym typeface="Glacial Indifference Bold"/>
              </a:rPr>
              <a:t>Beginner to Intermediate Users</a:t>
            </a:r>
          </a:p>
          <a:p>
            <a:pPr algn="l" marL="690919" indent="-345460" lvl="1">
              <a:lnSpc>
                <a:spcPts val="3840"/>
              </a:lnSpc>
              <a:buFont typeface="Arial"/>
              <a:buChar char="•"/>
            </a:pPr>
            <a:r>
              <a:rPr lang="en-US" b="true" sz="3200">
                <a:solidFill>
                  <a:srgbClr val="253439"/>
                </a:solidFill>
                <a:latin typeface="Glacial Indifference Bold"/>
                <a:ea typeface="Glacial Indifference Bold"/>
                <a:cs typeface="Glacial Indifference Bold"/>
                <a:sym typeface="Glacial Indifference Bold"/>
              </a:rPr>
              <a:t>Trainers and Coaches</a:t>
            </a:r>
          </a:p>
          <a:p>
            <a:pPr algn="l" marL="690919" indent="-345460" lvl="1">
              <a:lnSpc>
                <a:spcPts val="3840"/>
              </a:lnSpc>
              <a:buFont typeface="Arial"/>
              <a:buChar char="•"/>
            </a:pPr>
            <a:r>
              <a:rPr lang="en-US" b="true" sz="3200">
                <a:solidFill>
                  <a:srgbClr val="253439"/>
                </a:solidFill>
                <a:latin typeface="Glacial Indifference Bold"/>
                <a:ea typeface="Glacial Indifference Bold"/>
                <a:cs typeface="Glacial Indifference Bold"/>
                <a:sym typeface="Glacial Indifference Bold"/>
              </a:rPr>
              <a:t>Busy Professionals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438050" y="1705448"/>
            <a:ext cx="5522531" cy="6162402"/>
            <a:chOff x="0" y="0"/>
            <a:chExt cx="1454494" cy="1623019"/>
          </a:xfrm>
        </p:grpSpPr>
        <p:sp>
          <p:nvSpPr>
            <p:cNvPr name="Freeform 3" id="3"/>
            <p:cNvSpPr/>
            <p:nvPr/>
          </p:nvSpPr>
          <p:spPr>
            <a:xfrm flipH="false" flipV="false" rot="0">
              <a:off x="0" y="0"/>
              <a:ext cx="1454494" cy="1623019"/>
            </a:xfrm>
            <a:custGeom>
              <a:avLst/>
              <a:gdLst/>
              <a:ahLst/>
              <a:cxnLst/>
              <a:rect r="r" b="b" t="t" l="l"/>
              <a:pathLst>
                <a:path h="1623019" w="1454494">
                  <a:moveTo>
                    <a:pt x="0" y="0"/>
                  </a:moveTo>
                  <a:lnTo>
                    <a:pt x="1454494" y="0"/>
                  </a:lnTo>
                  <a:lnTo>
                    <a:pt x="1454494" y="1623019"/>
                  </a:lnTo>
                  <a:lnTo>
                    <a:pt x="0" y="1623019"/>
                  </a:lnTo>
                  <a:close/>
                </a:path>
              </a:pathLst>
            </a:custGeom>
            <a:gradFill rotWithShape="true">
              <a:gsLst>
                <a:gs pos="0">
                  <a:srgbClr val="CDFFD8">
                    <a:alpha val="100000"/>
                  </a:srgbClr>
                </a:gs>
                <a:gs pos="100000">
                  <a:srgbClr val="94B9FF">
                    <a:alpha val="100000"/>
                  </a:srgbClr>
                </a:gs>
              </a:gsLst>
              <a:lin ang="0"/>
            </a:gradFill>
          </p:spPr>
        </p:sp>
        <p:sp>
          <p:nvSpPr>
            <p:cNvPr name="TextBox 4" id="4"/>
            <p:cNvSpPr txBox="true"/>
            <p:nvPr/>
          </p:nvSpPr>
          <p:spPr>
            <a:xfrm>
              <a:off x="0" y="0"/>
              <a:ext cx="1454494" cy="1623019"/>
            </a:xfrm>
            <a:prstGeom prst="rect">
              <a:avLst/>
            </a:prstGeom>
          </p:spPr>
          <p:txBody>
            <a:bodyPr anchor="ctr" rtlCol="false" tIns="50800" lIns="50800" bIns="50800" rIns="50800"/>
            <a:lstStyle/>
            <a:p>
              <a:pPr algn="l" marL="410256" indent="-205128" lvl="1">
                <a:lnSpc>
                  <a:spcPts val="2280"/>
                </a:lnSpc>
                <a:buFont typeface="Arial"/>
                <a:buChar char="•"/>
              </a:pPr>
              <a:r>
                <a:rPr lang="en-US" sz="1900">
                  <a:solidFill>
                    <a:srgbClr val="000000"/>
                  </a:solidFill>
                  <a:latin typeface="Glacial Indifference"/>
                  <a:ea typeface="Glacial Indifference"/>
                  <a:cs typeface="Glacial Indifference"/>
                  <a:sym typeface="Glacial Indifference"/>
                </a:rPr>
                <a:t>WHO. (2022). PHYSICAL ACTIVITY. </a:t>
              </a:r>
              <a:r>
                <a:rPr lang="en-US" sz="1900" u="sng">
                  <a:solidFill>
                    <a:srgbClr val="000000"/>
                  </a:solidFill>
                  <a:latin typeface="Glacial Indifference"/>
                  <a:ea typeface="Glacial Indifference"/>
                  <a:cs typeface="Glacial Indifference"/>
                  <a:sym typeface="Glacial Indifference"/>
                  <a:hlinkClick r:id="rId2" tooltip="https://www.who.int/news-room/fact-sheets/detail/physical-activity"/>
                </a:rPr>
                <a:t>https://www.who.int/news-room/fact-sheets/detail/physical-activity</a:t>
              </a:r>
            </a:p>
            <a:p>
              <a:pPr algn="l">
                <a:lnSpc>
                  <a:spcPts val="2280"/>
                </a:lnSpc>
              </a:pPr>
            </a:p>
            <a:p>
              <a:pPr algn="l" marL="410256" indent="-205128" lvl="1">
                <a:lnSpc>
                  <a:spcPts val="2280"/>
                </a:lnSpc>
                <a:buFont typeface="Arial"/>
                <a:buChar char="•"/>
              </a:pPr>
              <a:r>
                <a:rPr lang="en-US" sz="1900">
                  <a:solidFill>
                    <a:srgbClr val="000000"/>
                  </a:solidFill>
                  <a:latin typeface="Glacial Indifference"/>
                  <a:ea typeface="Glacial Indifference"/>
                  <a:cs typeface="Glacial Indifference"/>
                  <a:sym typeface="Glacial Indifference"/>
                </a:rPr>
                <a:t>ACSM. (2023). American College of Sports Medicine Guidelines for Exercise Testing and Prescription.</a:t>
              </a:r>
            </a:p>
            <a:p>
              <a:pPr algn="l">
                <a:lnSpc>
                  <a:spcPts val="2280"/>
                </a:lnSpc>
              </a:pPr>
            </a:p>
            <a:p>
              <a:pPr algn="l" marL="410256" indent="-205128" lvl="1">
                <a:lnSpc>
                  <a:spcPts val="2280"/>
                </a:lnSpc>
                <a:buFont typeface="Arial"/>
                <a:buChar char="•"/>
              </a:pPr>
              <a:r>
                <a:rPr lang="en-US" sz="1900">
                  <a:solidFill>
                    <a:srgbClr val="000000"/>
                  </a:solidFill>
                  <a:latin typeface="Glacial Indifference"/>
                  <a:ea typeface="Glacial Indifference"/>
                  <a:cs typeface="Glacial Indifference"/>
                  <a:sym typeface="Glacial Indifference"/>
                </a:rPr>
                <a:t>Thomas, J. R., Nelson, J. K., &amp; Silverman, S. J. (2015). Research Methods in Physical Activity.</a:t>
              </a:r>
            </a:p>
            <a:p>
              <a:pPr algn="l">
                <a:lnSpc>
                  <a:spcPts val="2760"/>
                </a:lnSpc>
              </a:pPr>
            </a:p>
          </p:txBody>
        </p:sp>
      </p:grpSp>
      <p:grpSp>
        <p:nvGrpSpPr>
          <p:cNvPr name="Group 5" id="5"/>
          <p:cNvGrpSpPr/>
          <p:nvPr/>
        </p:nvGrpSpPr>
        <p:grpSpPr>
          <a:xfrm rot="0">
            <a:off x="6768456" y="3095898"/>
            <a:ext cx="5276427" cy="6162402"/>
            <a:chOff x="0" y="0"/>
            <a:chExt cx="1389676" cy="1623019"/>
          </a:xfrm>
        </p:grpSpPr>
        <p:sp>
          <p:nvSpPr>
            <p:cNvPr name="Freeform 6" id="6"/>
            <p:cNvSpPr/>
            <p:nvPr/>
          </p:nvSpPr>
          <p:spPr>
            <a:xfrm flipH="false" flipV="false" rot="0">
              <a:off x="0" y="0"/>
              <a:ext cx="1389676" cy="1623019"/>
            </a:xfrm>
            <a:custGeom>
              <a:avLst/>
              <a:gdLst/>
              <a:ahLst/>
              <a:cxnLst/>
              <a:rect r="r" b="b" t="t" l="l"/>
              <a:pathLst>
                <a:path h="1623019" w="1389676">
                  <a:moveTo>
                    <a:pt x="0" y="0"/>
                  </a:moveTo>
                  <a:lnTo>
                    <a:pt x="1389676" y="0"/>
                  </a:lnTo>
                  <a:lnTo>
                    <a:pt x="1389676" y="1623019"/>
                  </a:lnTo>
                  <a:lnTo>
                    <a:pt x="0" y="1623019"/>
                  </a:lnTo>
                  <a:close/>
                </a:path>
              </a:pathLst>
            </a:custGeom>
            <a:gradFill rotWithShape="true">
              <a:gsLst>
                <a:gs pos="0">
                  <a:srgbClr val="A6A6A6">
                    <a:alpha val="100000"/>
                  </a:srgbClr>
                </a:gs>
                <a:gs pos="100000">
                  <a:srgbClr val="FFFFFF">
                    <a:alpha val="100000"/>
                  </a:srgbClr>
                </a:gs>
              </a:gsLst>
              <a:lin ang="0"/>
            </a:gradFill>
          </p:spPr>
        </p:sp>
        <p:sp>
          <p:nvSpPr>
            <p:cNvPr name="TextBox 7" id="7"/>
            <p:cNvSpPr txBox="true"/>
            <p:nvPr/>
          </p:nvSpPr>
          <p:spPr>
            <a:xfrm>
              <a:off x="0" y="-9525"/>
              <a:ext cx="1389676" cy="1632544"/>
            </a:xfrm>
            <a:prstGeom prst="rect">
              <a:avLst/>
            </a:prstGeom>
          </p:spPr>
          <p:txBody>
            <a:bodyPr anchor="ctr" rtlCol="false" tIns="50800" lIns="50800" bIns="50800" rIns="50800"/>
            <a:lstStyle/>
            <a:p>
              <a:pPr algn="ctr">
                <a:lnSpc>
                  <a:spcPts val="2760"/>
                </a:lnSpc>
              </a:pPr>
            </a:p>
          </p:txBody>
        </p:sp>
      </p:grpSp>
      <p:grpSp>
        <p:nvGrpSpPr>
          <p:cNvPr name="Group 8" id="8"/>
          <p:cNvGrpSpPr/>
          <p:nvPr/>
        </p:nvGrpSpPr>
        <p:grpSpPr>
          <a:xfrm rot="0">
            <a:off x="12509963" y="1705448"/>
            <a:ext cx="5374869" cy="6162402"/>
            <a:chOff x="0" y="0"/>
            <a:chExt cx="1415603" cy="1623019"/>
          </a:xfrm>
        </p:grpSpPr>
        <p:sp>
          <p:nvSpPr>
            <p:cNvPr name="Freeform 9" id="9"/>
            <p:cNvSpPr/>
            <p:nvPr/>
          </p:nvSpPr>
          <p:spPr>
            <a:xfrm flipH="false" flipV="false" rot="0">
              <a:off x="0" y="0"/>
              <a:ext cx="1415603" cy="1623019"/>
            </a:xfrm>
            <a:custGeom>
              <a:avLst/>
              <a:gdLst/>
              <a:ahLst/>
              <a:cxnLst/>
              <a:rect r="r" b="b" t="t" l="l"/>
              <a:pathLst>
                <a:path h="1623019" w="1415603">
                  <a:moveTo>
                    <a:pt x="0" y="0"/>
                  </a:moveTo>
                  <a:lnTo>
                    <a:pt x="1415603" y="0"/>
                  </a:lnTo>
                  <a:lnTo>
                    <a:pt x="1415603" y="1623019"/>
                  </a:lnTo>
                  <a:lnTo>
                    <a:pt x="0" y="1623019"/>
                  </a:lnTo>
                  <a:close/>
                </a:path>
              </a:pathLst>
            </a:custGeom>
            <a:gradFill rotWithShape="true">
              <a:gsLst>
                <a:gs pos="0">
                  <a:srgbClr val="CDFFD8">
                    <a:alpha val="100000"/>
                  </a:srgbClr>
                </a:gs>
                <a:gs pos="100000">
                  <a:srgbClr val="94B9FF">
                    <a:alpha val="100000"/>
                  </a:srgbClr>
                </a:gs>
              </a:gsLst>
              <a:lin ang="0"/>
            </a:gradFill>
          </p:spPr>
        </p:sp>
        <p:sp>
          <p:nvSpPr>
            <p:cNvPr name="TextBox 10" id="10"/>
            <p:cNvSpPr txBox="true"/>
            <p:nvPr/>
          </p:nvSpPr>
          <p:spPr>
            <a:xfrm>
              <a:off x="0" y="-9525"/>
              <a:ext cx="1415603" cy="1632544"/>
            </a:xfrm>
            <a:prstGeom prst="rect">
              <a:avLst/>
            </a:prstGeom>
          </p:spPr>
          <p:txBody>
            <a:bodyPr anchor="ctr" rtlCol="false" tIns="50800" lIns="50800" bIns="50800" rIns="50800"/>
            <a:lstStyle/>
            <a:p>
              <a:pPr algn="ctr">
                <a:lnSpc>
                  <a:spcPts val="2760"/>
                </a:lnSpc>
              </a:pPr>
            </a:p>
          </p:txBody>
        </p:sp>
      </p:grpSp>
      <p:sp>
        <p:nvSpPr>
          <p:cNvPr name="Freeform 11" id="11"/>
          <p:cNvSpPr/>
          <p:nvPr/>
        </p:nvSpPr>
        <p:spPr>
          <a:xfrm flipH="false" flipV="false" rot="0">
            <a:off x="8478310" y="743878"/>
            <a:ext cx="1856721" cy="1856721"/>
          </a:xfrm>
          <a:custGeom>
            <a:avLst/>
            <a:gdLst/>
            <a:ahLst/>
            <a:cxnLst/>
            <a:rect r="r" b="b" t="t" l="l"/>
            <a:pathLst>
              <a:path h="1856721" w="1856721">
                <a:moveTo>
                  <a:pt x="0" y="0"/>
                </a:moveTo>
                <a:lnTo>
                  <a:pt x="1856720" y="0"/>
                </a:lnTo>
                <a:lnTo>
                  <a:pt x="1856720" y="1856720"/>
                </a:lnTo>
                <a:lnTo>
                  <a:pt x="0" y="1856720"/>
                </a:lnTo>
                <a:lnTo>
                  <a:pt x="0" y="0"/>
                </a:lnTo>
                <a:close/>
              </a:path>
            </a:pathLst>
          </a:custGeom>
          <a:blipFill>
            <a:blip r:embed="rId3"/>
            <a:stretch>
              <a:fillRect l="0" t="0" r="0" b="0"/>
            </a:stretch>
          </a:blipFill>
        </p:spPr>
      </p:sp>
      <p:sp>
        <p:nvSpPr>
          <p:cNvPr name="TextBox 12" id="12"/>
          <p:cNvSpPr txBox="true"/>
          <p:nvPr/>
        </p:nvSpPr>
        <p:spPr>
          <a:xfrm rot="0">
            <a:off x="6587662" y="4069817"/>
            <a:ext cx="5112675" cy="4514850"/>
          </a:xfrm>
          <a:prstGeom prst="rect">
            <a:avLst/>
          </a:prstGeom>
        </p:spPr>
        <p:txBody>
          <a:bodyPr anchor="t" rtlCol="false" tIns="0" lIns="0" bIns="0" rIns="0">
            <a:spAutoFit/>
          </a:bodyPr>
          <a:lstStyle/>
          <a:p>
            <a:pPr algn="l" marL="582972" indent="-291486" lvl="1">
              <a:lnSpc>
                <a:spcPts val="3240"/>
              </a:lnSpc>
              <a:buFont typeface="Arial"/>
              <a:buChar char="•"/>
            </a:pPr>
            <a:r>
              <a:rPr lang="en-US" sz="2700">
                <a:solidFill>
                  <a:srgbClr val="000000"/>
                </a:solidFill>
                <a:latin typeface="Glacial Indifference"/>
                <a:ea typeface="Glacial Indifference"/>
                <a:cs typeface="Glacial Indifference"/>
                <a:sym typeface="Glacial Indifference"/>
              </a:rPr>
              <a:t>Google. (2024). Firebase Documentation. https://firebase.google.com/docs</a:t>
            </a:r>
          </a:p>
          <a:p>
            <a:pPr algn="l">
              <a:lnSpc>
                <a:spcPts val="3240"/>
              </a:lnSpc>
            </a:pPr>
          </a:p>
          <a:p>
            <a:pPr algn="l" marL="582972" indent="-291486" lvl="1">
              <a:lnSpc>
                <a:spcPts val="3240"/>
              </a:lnSpc>
              <a:buFont typeface="Arial"/>
              <a:buChar char="•"/>
            </a:pPr>
            <a:r>
              <a:rPr lang="en-US" sz="2700">
                <a:solidFill>
                  <a:srgbClr val="000000"/>
                </a:solidFill>
                <a:latin typeface="Glacial Indifference"/>
                <a:ea typeface="Glacial Indifference"/>
                <a:cs typeface="Glacial Indifference"/>
                <a:sym typeface="Glacial Indifference"/>
              </a:rPr>
              <a:t>TensorFlow Developers. (2024). TensorFlow Documentation. Retrieved from: </a:t>
            </a:r>
            <a:r>
              <a:rPr lang="en-US" sz="2700" u="sng">
                <a:solidFill>
                  <a:srgbClr val="000000"/>
                </a:solidFill>
                <a:latin typeface="Glacial Indifference"/>
                <a:ea typeface="Glacial Indifference"/>
                <a:cs typeface="Glacial Indifference"/>
                <a:sym typeface="Glacial Indifference"/>
                <a:hlinkClick r:id="rId4" tooltip="https://www.tensorflow.org"/>
              </a:rPr>
              <a:t>https://www.tensorflow.org/</a:t>
            </a:r>
          </a:p>
          <a:p>
            <a:pPr algn="l">
              <a:lnSpc>
                <a:spcPts val="3240"/>
              </a:lnSpc>
            </a:pPr>
          </a:p>
        </p:txBody>
      </p:sp>
      <p:sp>
        <p:nvSpPr>
          <p:cNvPr name="TextBox 13" id="13"/>
          <p:cNvSpPr txBox="true"/>
          <p:nvPr/>
        </p:nvSpPr>
        <p:spPr>
          <a:xfrm rot="0">
            <a:off x="1028700" y="413638"/>
            <a:ext cx="3973592" cy="847725"/>
          </a:xfrm>
          <a:prstGeom prst="rect">
            <a:avLst/>
          </a:prstGeom>
        </p:spPr>
        <p:txBody>
          <a:bodyPr anchor="t" rtlCol="false" tIns="0" lIns="0" bIns="0" rIns="0">
            <a:spAutoFit/>
          </a:bodyPr>
          <a:lstStyle/>
          <a:p>
            <a:pPr algn="ctr">
              <a:lnSpc>
                <a:spcPts val="6600"/>
              </a:lnSpc>
              <a:spcBef>
                <a:spcPct val="0"/>
              </a:spcBef>
            </a:pPr>
            <a:r>
              <a:rPr lang="en-US" b="true" sz="5500">
                <a:solidFill>
                  <a:srgbClr val="000000"/>
                </a:solidFill>
                <a:latin typeface="Glacial Indifference Bold"/>
                <a:ea typeface="Glacial Indifference Bold"/>
                <a:cs typeface="Glacial Indifference Bold"/>
                <a:sym typeface="Glacial Indifference Bold"/>
              </a:rPr>
              <a:t>REFERENCES</a:t>
            </a:r>
          </a:p>
        </p:txBody>
      </p:sp>
      <p:sp>
        <p:nvSpPr>
          <p:cNvPr name="TextBox 14" id="14"/>
          <p:cNvSpPr txBox="true"/>
          <p:nvPr/>
        </p:nvSpPr>
        <p:spPr>
          <a:xfrm rot="0">
            <a:off x="438050" y="1705448"/>
            <a:ext cx="5276427" cy="485775"/>
          </a:xfrm>
          <a:prstGeom prst="rect">
            <a:avLst/>
          </a:prstGeom>
        </p:spPr>
        <p:txBody>
          <a:bodyPr anchor="t" rtlCol="false" tIns="0" lIns="0" bIns="0" rIns="0">
            <a:spAutoFit/>
          </a:bodyPr>
          <a:lstStyle/>
          <a:p>
            <a:pPr algn="ctr">
              <a:lnSpc>
                <a:spcPts val="3840"/>
              </a:lnSpc>
              <a:spcBef>
                <a:spcPct val="0"/>
              </a:spcBef>
            </a:pPr>
            <a:r>
              <a:rPr lang="en-US" b="true" sz="3200">
                <a:solidFill>
                  <a:srgbClr val="000000"/>
                </a:solidFill>
                <a:latin typeface="Glacial Indifference Bold"/>
                <a:ea typeface="Glacial Indifference Bold"/>
                <a:cs typeface="Glacial Indifference Bold"/>
                <a:sym typeface="Glacial Indifference Bold"/>
              </a:rPr>
              <a:t>1. Academic &amp; Industry </a:t>
            </a:r>
          </a:p>
        </p:txBody>
      </p:sp>
      <p:sp>
        <p:nvSpPr>
          <p:cNvPr name="TextBox 15" id="15"/>
          <p:cNvSpPr txBox="true"/>
          <p:nvPr/>
        </p:nvSpPr>
        <p:spPr>
          <a:xfrm rot="0">
            <a:off x="6768456" y="3095898"/>
            <a:ext cx="4931881" cy="485775"/>
          </a:xfrm>
          <a:prstGeom prst="rect">
            <a:avLst/>
          </a:prstGeom>
        </p:spPr>
        <p:txBody>
          <a:bodyPr anchor="t" rtlCol="false" tIns="0" lIns="0" bIns="0" rIns="0">
            <a:spAutoFit/>
          </a:bodyPr>
          <a:lstStyle/>
          <a:p>
            <a:pPr algn="ctr">
              <a:lnSpc>
                <a:spcPts val="3840"/>
              </a:lnSpc>
              <a:spcBef>
                <a:spcPct val="0"/>
              </a:spcBef>
            </a:pPr>
            <a:r>
              <a:rPr lang="en-US" b="true" sz="3200">
                <a:solidFill>
                  <a:srgbClr val="000000"/>
                </a:solidFill>
                <a:latin typeface="Glacial Indifference Bold"/>
                <a:ea typeface="Glacial Indifference Bold"/>
                <a:cs typeface="Glacial Indifference Bold"/>
                <a:sym typeface="Glacial Indifference Bold"/>
              </a:rPr>
              <a:t>2.</a:t>
            </a:r>
            <a:r>
              <a:rPr lang="en-US" b="true" sz="3200">
                <a:solidFill>
                  <a:srgbClr val="000000"/>
                </a:solidFill>
                <a:latin typeface="Glacial Indifference Bold"/>
                <a:ea typeface="Glacial Indifference Bold"/>
                <a:cs typeface="Glacial Indifference Bold"/>
                <a:sym typeface="Glacial Indifference Bold"/>
              </a:rPr>
              <a:t> Technology &amp; Tools</a:t>
            </a:r>
          </a:p>
        </p:txBody>
      </p:sp>
      <p:sp>
        <p:nvSpPr>
          <p:cNvPr name="TextBox 16" id="16"/>
          <p:cNvSpPr txBox="true"/>
          <p:nvPr/>
        </p:nvSpPr>
        <p:spPr>
          <a:xfrm rot="0">
            <a:off x="12509963" y="1705448"/>
            <a:ext cx="5202596" cy="971550"/>
          </a:xfrm>
          <a:prstGeom prst="rect">
            <a:avLst/>
          </a:prstGeom>
        </p:spPr>
        <p:txBody>
          <a:bodyPr anchor="t" rtlCol="false" tIns="0" lIns="0" bIns="0" rIns="0">
            <a:spAutoFit/>
          </a:bodyPr>
          <a:lstStyle/>
          <a:p>
            <a:pPr algn="ctr">
              <a:lnSpc>
                <a:spcPts val="3840"/>
              </a:lnSpc>
              <a:spcBef>
                <a:spcPct val="0"/>
              </a:spcBef>
            </a:pPr>
            <a:r>
              <a:rPr lang="en-US" b="true" sz="3200">
                <a:solidFill>
                  <a:srgbClr val="000000"/>
                </a:solidFill>
                <a:latin typeface="Glacial Indifference Bold"/>
                <a:ea typeface="Glacial Indifference Bold"/>
                <a:cs typeface="Glacial Indifference Bold"/>
                <a:sym typeface="Glacial Indifference Bold"/>
              </a:rPr>
              <a:t>3</a:t>
            </a:r>
            <a:r>
              <a:rPr lang="en-US" b="true" sz="3200">
                <a:solidFill>
                  <a:srgbClr val="000000"/>
                </a:solidFill>
                <a:latin typeface="Glacial Indifference Bold"/>
                <a:ea typeface="Glacial Indifference Bold"/>
                <a:cs typeface="Glacial Indifference Bold"/>
                <a:sym typeface="Glacial Indifference Bold"/>
              </a:rPr>
              <a:t>. AI &amp; Personalization in Fitness</a:t>
            </a:r>
          </a:p>
        </p:txBody>
      </p:sp>
      <p:sp>
        <p:nvSpPr>
          <p:cNvPr name="TextBox 17" id="17"/>
          <p:cNvSpPr txBox="true"/>
          <p:nvPr/>
        </p:nvSpPr>
        <p:spPr>
          <a:xfrm rot="0">
            <a:off x="12509963" y="3000575"/>
            <a:ext cx="5202596" cy="3362325"/>
          </a:xfrm>
          <a:prstGeom prst="rect">
            <a:avLst/>
          </a:prstGeom>
        </p:spPr>
        <p:txBody>
          <a:bodyPr anchor="t" rtlCol="false" tIns="0" lIns="0" bIns="0" rIns="0">
            <a:spAutoFit/>
          </a:bodyPr>
          <a:lstStyle/>
          <a:p>
            <a:pPr algn="l" marL="582972" indent="-291486" lvl="1">
              <a:lnSpc>
                <a:spcPts val="3240"/>
              </a:lnSpc>
              <a:spcBef>
                <a:spcPct val="0"/>
              </a:spcBef>
              <a:buFont typeface="Arial"/>
              <a:buChar char="•"/>
            </a:pPr>
            <a:r>
              <a:rPr lang="en-US" sz="2700">
                <a:solidFill>
                  <a:srgbClr val="000000"/>
                </a:solidFill>
                <a:latin typeface="Glacial Indifference"/>
                <a:ea typeface="Glacial Indifference"/>
                <a:cs typeface="Glacial Indifference"/>
                <a:sym typeface="Glacial Indifference"/>
              </a:rPr>
              <a:t>Ribeir</a:t>
            </a:r>
            <a:r>
              <a:rPr lang="en-US" sz="2700">
                <a:solidFill>
                  <a:srgbClr val="000000"/>
                </a:solidFill>
                <a:latin typeface="Glacial Indifference"/>
                <a:ea typeface="Glacial Indifference"/>
                <a:cs typeface="Glacial Indifference"/>
                <a:sym typeface="Glacial Indifference"/>
              </a:rPr>
              <a:t>o, F. N., et al. (2020). AI-based systems for personalized health and fitness.</a:t>
            </a:r>
          </a:p>
          <a:p>
            <a:pPr algn="l">
              <a:lnSpc>
                <a:spcPts val="3240"/>
              </a:lnSpc>
              <a:spcBef>
                <a:spcPct val="0"/>
              </a:spcBef>
            </a:pPr>
          </a:p>
          <a:p>
            <a:pPr algn="l" marL="582972" indent="-291486" lvl="1">
              <a:lnSpc>
                <a:spcPts val="3240"/>
              </a:lnSpc>
              <a:spcBef>
                <a:spcPct val="0"/>
              </a:spcBef>
              <a:buFont typeface="Arial"/>
              <a:buChar char="•"/>
            </a:pPr>
            <a:r>
              <a:rPr lang="en-US" sz="2700">
                <a:solidFill>
                  <a:srgbClr val="000000"/>
                </a:solidFill>
                <a:latin typeface="Glacial Indifference"/>
                <a:ea typeface="Glacial Indifference"/>
                <a:cs typeface="Glacial Indifference"/>
                <a:sym typeface="Glacial Indifference"/>
              </a:rPr>
              <a:t>Kumar, S., et al. (2021). Machine Learning in Fitness Applications: A Review.</a:t>
            </a:r>
          </a:p>
          <a:p>
            <a:pPr algn="l">
              <a:lnSpc>
                <a:spcPts val="3840"/>
              </a:lnSpc>
              <a:spcBef>
                <a:spcPct val="0"/>
              </a:spcBef>
            </a:pP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4431566">
            <a:off x="9835340" y="5984875"/>
            <a:ext cx="10875091" cy="7196018"/>
          </a:xfrm>
          <a:custGeom>
            <a:avLst/>
            <a:gdLst/>
            <a:ahLst/>
            <a:cxnLst/>
            <a:rect r="r" b="b" t="t" l="l"/>
            <a:pathLst>
              <a:path h="7196018" w="10875091">
                <a:moveTo>
                  <a:pt x="0" y="0"/>
                </a:moveTo>
                <a:lnTo>
                  <a:pt x="10875091" y="0"/>
                </a:lnTo>
                <a:lnTo>
                  <a:pt x="10875091" y="7196018"/>
                </a:lnTo>
                <a:lnTo>
                  <a:pt x="0" y="71960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141935" y="1587942"/>
            <a:ext cx="4435265" cy="4962534"/>
          </a:xfrm>
          <a:custGeom>
            <a:avLst/>
            <a:gdLst/>
            <a:ahLst/>
            <a:cxnLst/>
            <a:rect r="r" b="b" t="t" l="l"/>
            <a:pathLst>
              <a:path h="4962534" w="4435265">
                <a:moveTo>
                  <a:pt x="0" y="0"/>
                </a:moveTo>
                <a:lnTo>
                  <a:pt x="4435266" y="0"/>
                </a:lnTo>
                <a:lnTo>
                  <a:pt x="4435266" y="4962535"/>
                </a:lnTo>
                <a:lnTo>
                  <a:pt x="0" y="4962535"/>
                </a:lnTo>
                <a:lnTo>
                  <a:pt x="0" y="0"/>
                </a:lnTo>
                <a:close/>
              </a:path>
            </a:pathLst>
          </a:custGeom>
          <a:blipFill>
            <a:blip r:embed="rId4"/>
            <a:stretch>
              <a:fillRect l="0" t="0" r="0" b="0"/>
            </a:stretch>
          </a:blipFill>
        </p:spPr>
      </p:sp>
      <p:sp>
        <p:nvSpPr>
          <p:cNvPr name="Freeform 4" id="4"/>
          <p:cNvSpPr/>
          <p:nvPr/>
        </p:nvSpPr>
        <p:spPr>
          <a:xfrm flipH="false" flipV="false" rot="0">
            <a:off x="5480866" y="5694353"/>
            <a:ext cx="1839990" cy="1839990"/>
          </a:xfrm>
          <a:custGeom>
            <a:avLst/>
            <a:gdLst/>
            <a:ahLst/>
            <a:cxnLst/>
            <a:rect r="r" b="b" t="t" l="l"/>
            <a:pathLst>
              <a:path h="1839990" w="1839990">
                <a:moveTo>
                  <a:pt x="0" y="0"/>
                </a:moveTo>
                <a:lnTo>
                  <a:pt x="1839990" y="0"/>
                </a:lnTo>
                <a:lnTo>
                  <a:pt x="1839990" y="1839990"/>
                </a:lnTo>
                <a:lnTo>
                  <a:pt x="0" y="1839990"/>
                </a:lnTo>
                <a:lnTo>
                  <a:pt x="0" y="0"/>
                </a:lnTo>
                <a:close/>
              </a:path>
            </a:pathLst>
          </a:custGeom>
          <a:blipFill>
            <a:blip r:embed="rId5"/>
            <a:stretch>
              <a:fillRect l="0" t="0" r="0" b="0"/>
            </a:stretch>
          </a:blipFill>
        </p:spPr>
      </p:sp>
      <p:sp>
        <p:nvSpPr>
          <p:cNvPr name="TextBox 5" id="5"/>
          <p:cNvSpPr txBox="true"/>
          <p:nvPr/>
        </p:nvSpPr>
        <p:spPr>
          <a:xfrm rot="0">
            <a:off x="3273727" y="2251133"/>
            <a:ext cx="5870273" cy="1108312"/>
          </a:xfrm>
          <a:prstGeom prst="rect">
            <a:avLst/>
          </a:prstGeom>
        </p:spPr>
        <p:txBody>
          <a:bodyPr anchor="t" rtlCol="false" tIns="0" lIns="0" bIns="0" rIns="0">
            <a:spAutoFit/>
          </a:bodyPr>
          <a:lstStyle/>
          <a:p>
            <a:pPr algn="ctr">
              <a:lnSpc>
                <a:spcPts val="9098"/>
              </a:lnSpc>
              <a:spcBef>
                <a:spcPct val="0"/>
              </a:spcBef>
            </a:pPr>
            <a:r>
              <a:rPr lang="en-US" b="true" sz="6498">
                <a:solidFill>
                  <a:srgbClr val="9D0000"/>
                </a:solidFill>
                <a:latin typeface="Aileron Bold"/>
                <a:ea typeface="Aileron Bold"/>
                <a:cs typeface="Aileron Bold"/>
                <a:sym typeface="Aileron Bold"/>
              </a:rPr>
              <a:t>Component 01</a:t>
            </a:r>
          </a:p>
        </p:txBody>
      </p:sp>
      <p:sp>
        <p:nvSpPr>
          <p:cNvPr name="TextBox 6" id="6"/>
          <p:cNvSpPr txBox="true"/>
          <p:nvPr/>
        </p:nvSpPr>
        <p:spPr>
          <a:xfrm rot="0">
            <a:off x="12641165" y="6759085"/>
            <a:ext cx="3436806" cy="516839"/>
          </a:xfrm>
          <a:prstGeom prst="rect">
            <a:avLst/>
          </a:prstGeom>
        </p:spPr>
        <p:txBody>
          <a:bodyPr anchor="t" rtlCol="false" tIns="0" lIns="0" bIns="0" rIns="0">
            <a:spAutoFit/>
          </a:bodyPr>
          <a:lstStyle/>
          <a:p>
            <a:pPr algn="ctr">
              <a:lnSpc>
                <a:spcPts val="4098"/>
              </a:lnSpc>
              <a:spcBef>
                <a:spcPct val="0"/>
              </a:spcBef>
            </a:pPr>
            <a:r>
              <a:rPr lang="en-US" b="true" sz="3415" i="true">
                <a:solidFill>
                  <a:srgbClr val="000000"/>
                </a:solidFill>
                <a:latin typeface="Aileron Bold Italics"/>
                <a:ea typeface="Aileron Bold Italics"/>
                <a:cs typeface="Aileron Bold Italics"/>
                <a:sym typeface="Aileron Bold Italics"/>
              </a:rPr>
              <a:t>Athukorala A.P.U</a:t>
            </a:r>
          </a:p>
        </p:txBody>
      </p:sp>
      <p:sp>
        <p:nvSpPr>
          <p:cNvPr name="TextBox 7" id="7"/>
          <p:cNvSpPr txBox="true"/>
          <p:nvPr/>
        </p:nvSpPr>
        <p:spPr>
          <a:xfrm rot="0">
            <a:off x="13077927" y="7275924"/>
            <a:ext cx="2563281" cy="516839"/>
          </a:xfrm>
          <a:prstGeom prst="rect">
            <a:avLst/>
          </a:prstGeom>
        </p:spPr>
        <p:txBody>
          <a:bodyPr anchor="t" rtlCol="false" tIns="0" lIns="0" bIns="0" rIns="0">
            <a:spAutoFit/>
          </a:bodyPr>
          <a:lstStyle/>
          <a:p>
            <a:pPr algn="ctr">
              <a:lnSpc>
                <a:spcPts val="4098"/>
              </a:lnSpc>
              <a:spcBef>
                <a:spcPct val="0"/>
              </a:spcBef>
            </a:pPr>
            <a:r>
              <a:rPr lang="en-US" b="true" sz="3415" i="true">
                <a:solidFill>
                  <a:srgbClr val="000000"/>
                </a:solidFill>
                <a:latin typeface="Aileron Bold Italics"/>
                <a:ea typeface="Aileron Bold Italics"/>
                <a:cs typeface="Aileron Bold Italics"/>
                <a:sym typeface="Aileron Bold Italics"/>
              </a:rPr>
              <a:t>IT21304224</a:t>
            </a:r>
          </a:p>
        </p:txBody>
      </p:sp>
      <p:sp>
        <p:nvSpPr>
          <p:cNvPr name="TextBox 8" id="8"/>
          <p:cNvSpPr txBox="true"/>
          <p:nvPr/>
        </p:nvSpPr>
        <p:spPr>
          <a:xfrm rot="0">
            <a:off x="2980322" y="4276675"/>
            <a:ext cx="6841078" cy="1262042"/>
          </a:xfrm>
          <a:prstGeom prst="rect">
            <a:avLst/>
          </a:prstGeom>
        </p:spPr>
        <p:txBody>
          <a:bodyPr anchor="t" rtlCol="false" tIns="0" lIns="0" bIns="0" rIns="0">
            <a:spAutoFit/>
          </a:bodyPr>
          <a:lstStyle/>
          <a:p>
            <a:pPr algn="ctr">
              <a:lnSpc>
                <a:spcPts val="5001"/>
              </a:lnSpc>
            </a:pPr>
            <a:r>
              <a:rPr lang="en-US" sz="4167" b="true">
                <a:solidFill>
                  <a:srgbClr val="000000"/>
                </a:solidFill>
                <a:latin typeface="Aileron Bold"/>
                <a:ea typeface="Aileron Bold"/>
                <a:cs typeface="Aileron Bold"/>
                <a:sym typeface="Aileron Bold"/>
              </a:rPr>
              <a:t>AI Driven meal planner and </a:t>
            </a:r>
          </a:p>
          <a:p>
            <a:pPr algn="ctr">
              <a:lnSpc>
                <a:spcPts val="5001"/>
              </a:lnSpc>
              <a:spcBef>
                <a:spcPct val="0"/>
              </a:spcBef>
            </a:pPr>
            <a:r>
              <a:rPr lang="en-US" b="true" sz="4167">
                <a:solidFill>
                  <a:srgbClr val="000000"/>
                </a:solidFill>
                <a:latin typeface="Aileron Bold"/>
                <a:ea typeface="Aileron Bold"/>
                <a:cs typeface="Aileron Bold"/>
                <a:sym typeface="Aileron Bold"/>
              </a:rPr>
              <a:t>calory counter</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355709" y="-2668197"/>
            <a:ext cx="11173984" cy="7393795"/>
          </a:xfrm>
          <a:custGeom>
            <a:avLst/>
            <a:gdLst/>
            <a:ahLst/>
            <a:cxnLst/>
            <a:rect r="r" b="b" t="t" l="l"/>
            <a:pathLst>
              <a:path h="7393795" w="11173984">
                <a:moveTo>
                  <a:pt x="0" y="0"/>
                </a:moveTo>
                <a:lnTo>
                  <a:pt x="11173984" y="0"/>
                </a:lnTo>
                <a:lnTo>
                  <a:pt x="11173984" y="7393794"/>
                </a:lnTo>
                <a:lnTo>
                  <a:pt x="0" y="7393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95375" y="1215257"/>
            <a:ext cx="0" cy="1247775"/>
          </a:xfrm>
          <a:prstGeom prst="line">
            <a:avLst/>
          </a:prstGeom>
          <a:ln cap="flat" w="133350">
            <a:solidFill>
              <a:srgbClr val="D15353"/>
            </a:solidFill>
            <a:prstDash val="solid"/>
            <a:headEnd type="none" len="sm" w="sm"/>
            <a:tailEnd type="none" len="sm" w="sm"/>
          </a:ln>
        </p:spPr>
      </p:sp>
      <p:sp>
        <p:nvSpPr>
          <p:cNvPr name="TextBox 4" id="4"/>
          <p:cNvSpPr txBox="true"/>
          <p:nvPr/>
        </p:nvSpPr>
        <p:spPr>
          <a:xfrm rot="0">
            <a:off x="1409655" y="1291457"/>
            <a:ext cx="6940283" cy="1171575"/>
          </a:xfrm>
          <a:prstGeom prst="rect">
            <a:avLst/>
          </a:prstGeom>
        </p:spPr>
        <p:txBody>
          <a:bodyPr anchor="t" rtlCol="false" tIns="0" lIns="0" bIns="0" rIns="0">
            <a:spAutoFit/>
          </a:bodyPr>
          <a:lstStyle/>
          <a:p>
            <a:pPr algn="l" marL="0" indent="0" lvl="0">
              <a:lnSpc>
                <a:spcPts val="9240"/>
              </a:lnSpc>
              <a:spcBef>
                <a:spcPct val="0"/>
              </a:spcBef>
            </a:pPr>
            <a:r>
              <a:rPr lang="en-US" b="true" sz="7700">
                <a:solidFill>
                  <a:srgbClr val="253439"/>
                </a:solidFill>
                <a:latin typeface="Glacial Indifference Bold"/>
                <a:ea typeface="Glacial Indifference Bold"/>
                <a:cs typeface="Glacial Indifference Bold"/>
                <a:sym typeface="Glacial Indifference Bold"/>
              </a:rPr>
              <a:t>INTRODUCTION</a:t>
            </a:r>
          </a:p>
        </p:txBody>
      </p:sp>
      <p:sp>
        <p:nvSpPr>
          <p:cNvPr name="TextBox 5" id="5"/>
          <p:cNvSpPr txBox="true"/>
          <p:nvPr/>
        </p:nvSpPr>
        <p:spPr>
          <a:xfrm rot="0">
            <a:off x="1893121" y="4630347"/>
            <a:ext cx="14501758" cy="3112072"/>
          </a:xfrm>
          <a:prstGeom prst="rect">
            <a:avLst/>
          </a:prstGeom>
        </p:spPr>
        <p:txBody>
          <a:bodyPr anchor="t" rtlCol="false" tIns="0" lIns="0" bIns="0" rIns="0">
            <a:spAutoFit/>
          </a:bodyPr>
          <a:lstStyle/>
          <a:p>
            <a:pPr algn="just">
              <a:lnSpc>
                <a:spcPts val="4977"/>
              </a:lnSpc>
            </a:pPr>
            <a:r>
              <a:rPr lang="en-US" sz="3318" b="true">
                <a:solidFill>
                  <a:srgbClr val="253439"/>
                </a:solidFill>
                <a:latin typeface="Aileron Bold"/>
                <a:ea typeface="Aileron Bold"/>
                <a:cs typeface="Aileron Bold"/>
                <a:sym typeface="Aileron Bold"/>
              </a:rPr>
              <a:t>This Function introduces a mobile app feature that uses image recognition and AI to estimate meal calories and provide personalized meal plans, making healthy eating simple and tailored to individual needs.</a:t>
            </a:r>
          </a:p>
          <a:p>
            <a:pPr algn="just">
              <a:lnSpc>
                <a:spcPts val="4977"/>
              </a:lnSpc>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flipH="true">
            <a:off x="1522806" y="1599600"/>
            <a:ext cx="0" cy="1434781"/>
          </a:xfrm>
          <a:prstGeom prst="line">
            <a:avLst/>
          </a:prstGeom>
          <a:ln cap="flat" w="133350">
            <a:solidFill>
              <a:srgbClr val="D15353"/>
            </a:solidFill>
            <a:prstDash val="solid"/>
            <a:headEnd type="none" len="sm" w="sm"/>
            <a:tailEnd type="none" len="sm" w="sm"/>
          </a:ln>
        </p:spPr>
      </p:sp>
      <p:sp>
        <p:nvSpPr>
          <p:cNvPr name="Freeform 3" id="3"/>
          <p:cNvSpPr/>
          <p:nvPr/>
        </p:nvSpPr>
        <p:spPr>
          <a:xfrm flipH="false" flipV="false" rot="-10800000">
            <a:off x="10627871" y="-1393657"/>
            <a:ext cx="11173984" cy="7393795"/>
          </a:xfrm>
          <a:custGeom>
            <a:avLst/>
            <a:gdLst/>
            <a:ahLst/>
            <a:cxnLst/>
            <a:rect r="r" b="b" t="t" l="l"/>
            <a:pathLst>
              <a:path h="7393795" w="11173984">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687969" y="7233213"/>
            <a:ext cx="3053787" cy="3053787"/>
          </a:xfrm>
          <a:custGeom>
            <a:avLst/>
            <a:gdLst/>
            <a:ahLst/>
            <a:cxnLst/>
            <a:rect r="r" b="b" t="t" l="l"/>
            <a:pathLst>
              <a:path h="3053787" w="3053787">
                <a:moveTo>
                  <a:pt x="0" y="0"/>
                </a:moveTo>
                <a:lnTo>
                  <a:pt x="3053787" y="0"/>
                </a:lnTo>
                <a:lnTo>
                  <a:pt x="3053787" y="3053787"/>
                </a:lnTo>
                <a:lnTo>
                  <a:pt x="0" y="3053787"/>
                </a:lnTo>
                <a:lnTo>
                  <a:pt x="0" y="0"/>
                </a:lnTo>
                <a:close/>
              </a:path>
            </a:pathLst>
          </a:custGeom>
          <a:blipFill>
            <a:blip r:embed="rId4"/>
            <a:stretch>
              <a:fillRect l="0" t="0" r="0" b="0"/>
            </a:stretch>
          </a:blipFill>
        </p:spPr>
      </p:sp>
      <p:sp>
        <p:nvSpPr>
          <p:cNvPr name="TextBox 5" id="5"/>
          <p:cNvSpPr txBox="true"/>
          <p:nvPr/>
        </p:nvSpPr>
        <p:spPr>
          <a:xfrm rot="0">
            <a:off x="1746740" y="1825213"/>
            <a:ext cx="8881131" cy="1060831"/>
          </a:xfrm>
          <a:prstGeom prst="rect">
            <a:avLst/>
          </a:prstGeom>
        </p:spPr>
        <p:txBody>
          <a:bodyPr anchor="t" rtlCol="false" tIns="0" lIns="0" bIns="0" rIns="0">
            <a:spAutoFit/>
          </a:bodyPr>
          <a:lstStyle/>
          <a:p>
            <a:pPr algn="l">
              <a:lnSpc>
                <a:spcPts val="8162"/>
              </a:lnSpc>
            </a:pPr>
            <a:r>
              <a:rPr lang="en-US" b="true" sz="7700">
                <a:solidFill>
                  <a:srgbClr val="253439"/>
                </a:solidFill>
                <a:latin typeface="Glacial Indifference Bold"/>
                <a:ea typeface="Glacial Indifference Bold"/>
                <a:cs typeface="Glacial Indifference Bold"/>
                <a:sym typeface="Glacial Indifference Bold"/>
              </a:rPr>
              <a:t>MAIN OBJECTIVE</a:t>
            </a:r>
          </a:p>
        </p:txBody>
      </p:sp>
      <p:sp>
        <p:nvSpPr>
          <p:cNvPr name="TextBox 6" id="6"/>
          <p:cNvSpPr txBox="true"/>
          <p:nvPr/>
        </p:nvSpPr>
        <p:spPr>
          <a:xfrm rot="0">
            <a:off x="1522806" y="5087610"/>
            <a:ext cx="15974172" cy="1844584"/>
          </a:xfrm>
          <a:prstGeom prst="rect">
            <a:avLst/>
          </a:prstGeom>
        </p:spPr>
        <p:txBody>
          <a:bodyPr anchor="t" rtlCol="false" tIns="0" lIns="0" bIns="0" rIns="0">
            <a:spAutoFit/>
          </a:bodyPr>
          <a:lstStyle/>
          <a:p>
            <a:pPr algn="just">
              <a:lnSpc>
                <a:spcPts val="3666"/>
              </a:lnSpc>
              <a:spcBef>
                <a:spcPct val="0"/>
              </a:spcBef>
            </a:pPr>
            <a:r>
              <a:rPr lang="en-US" b="true" sz="3055">
                <a:solidFill>
                  <a:srgbClr val="253439"/>
                </a:solidFill>
                <a:latin typeface="Glacial Indifference Bold"/>
                <a:ea typeface="Glacial Indifference Bold"/>
                <a:cs typeface="Glacial Indifference Bold"/>
                <a:sym typeface="Glacial Indifference Bold"/>
              </a:rPr>
              <a:t>THIS RESEARCH AIMS TO DEVELOP A MOBILE APP FEATURE COMBINING IMAGE-BASED CALORIE ESTIMATION WITH AI-DRIVEN PERSONALIZED MEAL PLANS. IT FOCUSES ON IMPROVING USER ENGAGEMENT, DIETARY ADHERENCE, AND HEALTH OUTCOMES WHILE ENSURING ACCURACY AND ADAPTABILITY.</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1095375" y="1762944"/>
            <a:ext cx="0" cy="1247775"/>
          </a:xfrm>
          <a:prstGeom prst="line">
            <a:avLst/>
          </a:prstGeom>
          <a:ln cap="flat" w="133350">
            <a:solidFill>
              <a:srgbClr val="D15353"/>
            </a:solidFill>
            <a:prstDash val="solid"/>
            <a:headEnd type="none" len="sm" w="sm"/>
            <a:tailEnd type="none" len="sm" w="sm"/>
          </a:ln>
        </p:spPr>
      </p:sp>
      <p:sp>
        <p:nvSpPr>
          <p:cNvPr name="TextBox 3" id="3"/>
          <p:cNvSpPr txBox="true"/>
          <p:nvPr/>
        </p:nvSpPr>
        <p:spPr>
          <a:xfrm rot="0">
            <a:off x="1311213" y="1839144"/>
            <a:ext cx="9893533" cy="1171575"/>
          </a:xfrm>
          <a:prstGeom prst="rect">
            <a:avLst/>
          </a:prstGeom>
        </p:spPr>
        <p:txBody>
          <a:bodyPr anchor="t" rtlCol="false" tIns="0" lIns="0" bIns="0" rIns="0">
            <a:spAutoFit/>
          </a:bodyPr>
          <a:lstStyle/>
          <a:p>
            <a:pPr algn="l" marL="0" indent="0" lvl="0">
              <a:lnSpc>
                <a:spcPts val="9240"/>
              </a:lnSpc>
              <a:spcBef>
                <a:spcPct val="0"/>
              </a:spcBef>
            </a:pPr>
            <a:r>
              <a:rPr lang="en-US" b="true" sz="7700">
                <a:solidFill>
                  <a:srgbClr val="253439"/>
                </a:solidFill>
                <a:latin typeface="Glacial Indifference Bold"/>
                <a:ea typeface="Glacial Indifference Bold"/>
                <a:cs typeface="Glacial Indifference Bold"/>
                <a:sym typeface="Glacial Indifference Bold"/>
              </a:rPr>
              <a:t>RESEARCH PROBLEM</a:t>
            </a:r>
          </a:p>
        </p:txBody>
      </p:sp>
      <p:sp>
        <p:nvSpPr>
          <p:cNvPr name="TextBox 4" id="4"/>
          <p:cNvSpPr txBox="true"/>
          <p:nvPr/>
        </p:nvSpPr>
        <p:spPr>
          <a:xfrm rot="0">
            <a:off x="1770200" y="5318331"/>
            <a:ext cx="15193718" cy="3076575"/>
          </a:xfrm>
          <a:prstGeom prst="rect">
            <a:avLst/>
          </a:prstGeom>
        </p:spPr>
        <p:txBody>
          <a:bodyPr anchor="t" rtlCol="false" tIns="0" lIns="0" bIns="0" rIns="0">
            <a:spAutoFit/>
          </a:bodyPr>
          <a:lstStyle/>
          <a:p>
            <a:pPr algn="just">
              <a:lnSpc>
                <a:spcPts val="3509"/>
              </a:lnSpc>
            </a:pPr>
            <a:r>
              <a:rPr lang="en-US" b="true" sz="2924">
                <a:solidFill>
                  <a:srgbClr val="253439"/>
                </a:solidFill>
                <a:latin typeface="Aileron Bold"/>
                <a:ea typeface="Aileron Bold"/>
                <a:cs typeface="Aileron Bold"/>
                <a:sym typeface="Aileron Bold"/>
              </a:rPr>
              <a:t>HOW CAN WE SOLVE THE PROBLEM OF USERS INABILITY TO KNOW THEIR CALORIES OF THE MEAL, PLAN THEIR MEALS HEALTHILY BY ON THEIR OWN, HOW CAN A USER MAKE DIETARY MANAGEMENT EASIER, MORE ACCURATE AND TAILORED TO INDIVIDUAL NEEDS?</a:t>
            </a:r>
          </a:p>
          <a:p>
            <a:pPr algn="just">
              <a:lnSpc>
                <a:spcPts val="3509"/>
              </a:lnSpc>
            </a:pPr>
          </a:p>
          <a:p>
            <a:pPr algn="just">
              <a:lnSpc>
                <a:spcPts val="3509"/>
              </a:lnSpc>
            </a:pPr>
            <a:r>
              <a:rPr lang="en-US" b="true" sz="2924" i="true">
                <a:solidFill>
                  <a:srgbClr val="253439"/>
                </a:solidFill>
                <a:latin typeface="Aileron Bold Italics"/>
                <a:ea typeface="Aileron Bold Italics"/>
                <a:cs typeface="Aileron Bold Italics"/>
                <a:sym typeface="Aileron Bold Italics"/>
              </a:rPr>
              <a:t>WE HOPE TO GIVE A SOLUTIONS TO THOSE PROBLEMS.</a:t>
            </a:r>
          </a:p>
          <a:p>
            <a:pPr algn="just">
              <a:lnSpc>
                <a:spcPts val="3509"/>
              </a:lnSpc>
              <a:spcBef>
                <a:spcPct val="0"/>
              </a:spcBef>
            </a:pPr>
          </a:p>
        </p:txBody>
      </p:sp>
      <p:sp>
        <p:nvSpPr>
          <p:cNvPr name="Freeform 5" id="5"/>
          <p:cNvSpPr/>
          <p:nvPr/>
        </p:nvSpPr>
        <p:spPr>
          <a:xfrm flipH="false" flipV="false" rot="0">
            <a:off x="10851820" y="-1857753"/>
            <a:ext cx="11173984" cy="7393795"/>
          </a:xfrm>
          <a:custGeom>
            <a:avLst/>
            <a:gdLst/>
            <a:ahLst/>
            <a:cxnLst/>
            <a:rect r="r" b="b" t="t" l="l"/>
            <a:pathLst>
              <a:path h="7393795" w="11173984">
                <a:moveTo>
                  <a:pt x="0" y="0"/>
                </a:moveTo>
                <a:lnTo>
                  <a:pt x="11173984" y="0"/>
                </a:lnTo>
                <a:lnTo>
                  <a:pt x="11173984" y="7393794"/>
                </a:lnTo>
                <a:lnTo>
                  <a:pt x="0" y="7393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true" rot="4607186">
            <a:off x="8799965" y="-3556134"/>
            <a:ext cx="14183618" cy="9385261"/>
          </a:xfrm>
          <a:custGeom>
            <a:avLst/>
            <a:gdLst/>
            <a:ahLst/>
            <a:cxnLst/>
            <a:rect r="r" b="b" t="t" l="l"/>
            <a:pathLst>
              <a:path h="9385261" w="14183618">
                <a:moveTo>
                  <a:pt x="0" y="9385261"/>
                </a:moveTo>
                <a:lnTo>
                  <a:pt x="14183618" y="9385261"/>
                </a:lnTo>
                <a:lnTo>
                  <a:pt x="14183618" y="0"/>
                </a:lnTo>
                <a:lnTo>
                  <a:pt x="0" y="0"/>
                </a:lnTo>
                <a:lnTo>
                  <a:pt x="0" y="938526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84969" y="1193646"/>
            <a:ext cx="5703413" cy="941070"/>
          </a:xfrm>
          <a:prstGeom prst="rect">
            <a:avLst/>
          </a:prstGeom>
        </p:spPr>
        <p:txBody>
          <a:bodyPr anchor="t" rtlCol="false" tIns="0" lIns="0" bIns="0" rIns="0">
            <a:spAutoFit/>
          </a:bodyPr>
          <a:lstStyle/>
          <a:p>
            <a:pPr algn="r" marL="0" indent="0" lvl="0">
              <a:lnSpc>
                <a:spcPts val="7260"/>
              </a:lnSpc>
            </a:pPr>
            <a:r>
              <a:rPr lang="en-US" b="true" sz="6600">
                <a:solidFill>
                  <a:srgbClr val="253439"/>
                </a:solidFill>
                <a:latin typeface="Glacial Indifference Bold"/>
                <a:ea typeface="Glacial Indifference Bold"/>
                <a:cs typeface="Glacial Indifference Bold"/>
                <a:sym typeface="Glacial Indifference Bold"/>
              </a:rPr>
              <a:t>SPECIFIC </a:t>
            </a:r>
          </a:p>
        </p:txBody>
      </p:sp>
      <p:sp>
        <p:nvSpPr>
          <p:cNvPr name="TextBox 4" id="4"/>
          <p:cNvSpPr txBox="true"/>
          <p:nvPr/>
        </p:nvSpPr>
        <p:spPr>
          <a:xfrm rot="0">
            <a:off x="1028700" y="2210906"/>
            <a:ext cx="5752634" cy="1088390"/>
          </a:xfrm>
          <a:prstGeom prst="rect">
            <a:avLst/>
          </a:prstGeom>
        </p:spPr>
        <p:txBody>
          <a:bodyPr anchor="t" rtlCol="false" tIns="0" lIns="0" bIns="0" rIns="0">
            <a:spAutoFit/>
          </a:bodyPr>
          <a:lstStyle/>
          <a:p>
            <a:pPr algn="r" marL="0" indent="0" lvl="0">
              <a:lnSpc>
                <a:spcPts val="8470"/>
              </a:lnSpc>
            </a:pPr>
            <a:r>
              <a:rPr lang="en-US" b="true" sz="7700">
                <a:solidFill>
                  <a:srgbClr val="253439"/>
                </a:solidFill>
                <a:latin typeface="Glacial Indifference Bold"/>
                <a:ea typeface="Glacial Indifference Bold"/>
                <a:cs typeface="Glacial Indifference Bold"/>
                <a:sym typeface="Glacial Indifference Bold"/>
              </a:rPr>
              <a:t>OBJECTIVES</a:t>
            </a:r>
          </a:p>
        </p:txBody>
      </p:sp>
      <p:sp>
        <p:nvSpPr>
          <p:cNvPr name="AutoShape 5" id="5"/>
          <p:cNvSpPr/>
          <p:nvPr/>
        </p:nvSpPr>
        <p:spPr>
          <a:xfrm flipV="true">
            <a:off x="962025" y="1136496"/>
            <a:ext cx="0" cy="2293092"/>
          </a:xfrm>
          <a:prstGeom prst="line">
            <a:avLst/>
          </a:prstGeom>
          <a:ln cap="flat" w="133350">
            <a:solidFill>
              <a:srgbClr val="D15353"/>
            </a:solidFill>
            <a:prstDash val="solid"/>
            <a:headEnd type="none" len="sm" w="sm"/>
            <a:tailEnd type="none" len="sm" w="sm"/>
          </a:ln>
        </p:spPr>
      </p:sp>
      <p:sp>
        <p:nvSpPr>
          <p:cNvPr name="TextBox 6" id="6"/>
          <p:cNvSpPr txBox="true"/>
          <p:nvPr/>
        </p:nvSpPr>
        <p:spPr>
          <a:xfrm rot="0">
            <a:off x="387754" y="4946617"/>
            <a:ext cx="17512493" cy="3032925"/>
          </a:xfrm>
          <a:prstGeom prst="rect">
            <a:avLst/>
          </a:prstGeom>
        </p:spPr>
        <p:txBody>
          <a:bodyPr anchor="t" rtlCol="false" tIns="0" lIns="0" bIns="0" rIns="0">
            <a:spAutoFit/>
          </a:bodyPr>
          <a:lstStyle/>
          <a:p>
            <a:pPr algn="l">
              <a:lnSpc>
                <a:spcPts val="3480"/>
              </a:lnSpc>
            </a:pPr>
            <a:r>
              <a:rPr lang="en-US" sz="2900" b="true">
                <a:solidFill>
                  <a:srgbClr val="253439"/>
                </a:solidFill>
                <a:latin typeface="Glacial Indifference Bold"/>
                <a:ea typeface="Glacial Indifference Bold"/>
                <a:cs typeface="Glacial Indifference Bold"/>
                <a:sym typeface="Glacial Indifference Bold"/>
              </a:rPr>
              <a:t>1. DEVELOP FOOD IMAGE RECOGNITION ALGORITHMS FOR ACCURATE IDENTIFICATION OF FOOD ITEMS.</a:t>
            </a:r>
          </a:p>
          <a:p>
            <a:pPr algn="l">
              <a:lnSpc>
                <a:spcPts val="3480"/>
              </a:lnSpc>
            </a:pPr>
            <a:r>
              <a:rPr lang="en-US" sz="2900" b="true">
                <a:solidFill>
                  <a:srgbClr val="253439"/>
                </a:solidFill>
                <a:latin typeface="Glacial Indifference Bold"/>
                <a:ea typeface="Glacial Indifference Bold"/>
                <a:cs typeface="Glacial Indifference Bold"/>
                <a:sym typeface="Glacial Indifference Bold"/>
              </a:rPr>
              <a:t> </a:t>
            </a:r>
          </a:p>
          <a:p>
            <a:pPr algn="l">
              <a:lnSpc>
                <a:spcPts val="3480"/>
              </a:lnSpc>
            </a:pPr>
            <a:r>
              <a:rPr lang="en-US" sz="2900" b="true">
                <a:solidFill>
                  <a:srgbClr val="253439"/>
                </a:solidFill>
                <a:latin typeface="Glacial Indifference Bold"/>
                <a:ea typeface="Glacial Indifference Bold"/>
                <a:cs typeface="Glacial Indifference Bold"/>
                <a:sym typeface="Glacial Indifference Bold"/>
              </a:rPr>
              <a:t>2. IMPLEMENT NUTRITIONAL ANALYSIS ALGORITHMS TO PROVIDE DETAILED DIETARY INFORMATION.</a:t>
            </a:r>
          </a:p>
          <a:p>
            <a:pPr algn="l">
              <a:lnSpc>
                <a:spcPts val="3480"/>
              </a:lnSpc>
            </a:pPr>
          </a:p>
          <a:p>
            <a:pPr algn="l">
              <a:lnSpc>
                <a:spcPts val="3480"/>
              </a:lnSpc>
            </a:pPr>
            <a:r>
              <a:rPr lang="en-US" sz="2900" b="true">
                <a:solidFill>
                  <a:srgbClr val="253439"/>
                </a:solidFill>
                <a:latin typeface="Glacial Indifference Bold"/>
                <a:ea typeface="Glacial Indifference Bold"/>
                <a:cs typeface="Glacial Indifference Bold"/>
                <a:sym typeface="Glacial Indifference Bold"/>
              </a:rPr>
              <a:t> 3. CREATE DAILY PERSONALIZED MEAL PLANS BASED ON USER BIO DATA AND FEEDBACK</a:t>
            </a:r>
          </a:p>
          <a:p>
            <a:pPr algn="l">
              <a:lnSpc>
                <a:spcPts val="3480"/>
              </a:lnSpc>
            </a:pPr>
          </a:p>
          <a:p>
            <a:pPr algn="l">
              <a:lnSpc>
                <a:spcPts val="3480"/>
              </a:lnSpc>
              <a:spcBef>
                <a:spcPct val="0"/>
              </a:spcBef>
            </a:pPr>
            <a:r>
              <a:rPr lang="en-US" b="true" sz="2900">
                <a:solidFill>
                  <a:srgbClr val="253439"/>
                </a:solidFill>
                <a:latin typeface="Glacial Indifference Bold"/>
                <a:ea typeface="Glacial Indifference Bold"/>
                <a:cs typeface="Glacial Indifference Bold"/>
                <a:sym typeface="Glacial Indifference Bold"/>
              </a:rPr>
              <a:t>4. CREATE A USER FRIENDLY MOBILE APP TO GET THE FULL POTENTIAL OF MODELS DEVELOPED</a:t>
            </a:r>
          </a:p>
        </p:txBody>
      </p:sp>
    </p:spTree>
  </p:cSld>
  <p:clrMapOvr>
    <a:masterClrMapping/>
  </p:clrMapOvr>
</p:sld>
</file>

<file path=ppt/slides/slide37.xml><?xml version="1.0" encoding="utf-8"?>
<p:sld xmlns:p="http://schemas.openxmlformats.org/presentationml/2006/main" xmlns:a="http://schemas.openxmlformats.org/drawingml/2006/main">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1028700" y="591369"/>
            <a:ext cx="0" cy="1247775"/>
          </a:xfrm>
          <a:prstGeom prst="line">
            <a:avLst/>
          </a:prstGeom>
          <a:ln cap="flat" w="133350">
            <a:solidFill>
              <a:srgbClr val="D15353"/>
            </a:solidFill>
            <a:prstDash val="solid"/>
            <a:headEnd type="none" len="sm" w="sm"/>
            <a:tailEnd type="none" len="sm" w="sm"/>
          </a:ln>
        </p:spPr>
      </p:sp>
      <p:graphicFrame>
        <p:nvGraphicFramePr>
          <p:cNvPr name="Table 3" id="3"/>
          <p:cNvGraphicFramePr>
            <a:graphicFrameLocks noGrp="true"/>
          </p:cNvGraphicFramePr>
          <p:nvPr/>
        </p:nvGraphicFramePr>
        <p:xfrm>
          <a:off x="610323" y="2848171"/>
          <a:ext cx="17085535" cy="6620234"/>
        </p:xfrm>
        <a:graphic>
          <a:graphicData uri="http://schemas.openxmlformats.org/drawingml/2006/table">
            <a:tbl>
              <a:tblPr/>
              <a:tblGrid>
                <a:gridCol w="4271384"/>
                <a:gridCol w="4271384"/>
                <a:gridCol w="4165414"/>
                <a:gridCol w="4377353"/>
              </a:tblGrid>
              <a:tr h="1299637">
                <a:tc>
                  <a:txBody>
                    <a:bodyPr anchor="t" rtlCol="false"/>
                    <a:lstStyle/>
                    <a:p>
                      <a:pPr algn="ctr">
                        <a:lnSpc>
                          <a:spcPts val="3779"/>
                        </a:lnSpc>
                        <a:defRPr/>
                      </a:pPr>
                      <a:r>
                        <a:rPr lang="en-US" sz="2699" b="true">
                          <a:solidFill>
                            <a:srgbClr val="000000"/>
                          </a:solidFill>
                          <a:latin typeface="Glacial Indifference Bold"/>
                          <a:ea typeface="Glacial Indifference Bold"/>
                          <a:cs typeface="Glacial Indifference Bold"/>
                          <a:sym typeface="Glacial Indifference Bold"/>
                        </a:rPr>
                        <a:t>Aspect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b="true">
                          <a:solidFill>
                            <a:srgbClr val="000000"/>
                          </a:solidFill>
                          <a:latin typeface="Glacial Indifference Bold"/>
                          <a:ea typeface="Glacial Indifference Bold"/>
                          <a:cs typeface="Glacial Indifference Bold"/>
                          <a:sym typeface="Glacial Indifference Bold"/>
                        </a:rPr>
                        <a:t>Existing Solution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b="true">
                          <a:solidFill>
                            <a:srgbClr val="000000"/>
                          </a:solidFill>
                          <a:latin typeface="Glacial Indifference Bold"/>
                          <a:ea typeface="Glacial Indifference Bold"/>
                          <a:cs typeface="Glacial Indifference Bold"/>
                          <a:sym typeface="Glacial Indifference Bold"/>
                        </a:rPr>
                        <a:t>Gaps identified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b="true">
                          <a:solidFill>
                            <a:srgbClr val="000000"/>
                          </a:solidFill>
                          <a:latin typeface="Glacial Indifference Bold"/>
                          <a:ea typeface="Glacial Indifference Bold"/>
                          <a:cs typeface="Glacial Indifference Bold"/>
                          <a:sym typeface="Glacial Indifference Bold"/>
                        </a:rPr>
                        <a:t>Proposed approach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688296">
                <a:tc>
                  <a:txBody>
                    <a:bodyPr anchor="t" rtlCol="false"/>
                    <a:lstStyle/>
                    <a:p>
                      <a:pPr algn="ctr">
                        <a:lnSpc>
                          <a:spcPts val="3779"/>
                        </a:lnSpc>
                        <a:defRPr/>
                      </a:pPr>
                      <a:r>
                        <a:rPr lang="en-US" sz="2699">
                          <a:solidFill>
                            <a:srgbClr val="000000"/>
                          </a:solidFill>
                          <a:latin typeface="Glacial Indifference"/>
                          <a:ea typeface="Glacial Indifference"/>
                          <a:cs typeface="Glacial Indifference"/>
                          <a:sym typeface="Glacial Indifference"/>
                        </a:rPr>
                        <a:t>Calorie Estimation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799"/>
                        </a:lnSpc>
                        <a:defRPr/>
                      </a:pPr>
                      <a:r>
                        <a:rPr lang="en-US" sz="1999">
                          <a:solidFill>
                            <a:srgbClr val="000000"/>
                          </a:solidFill>
                          <a:latin typeface="Glacial Indifference"/>
                          <a:ea typeface="Glacial Indifference"/>
                          <a:cs typeface="Glacial Indifference"/>
                          <a:sym typeface="Glacial Indifference"/>
                        </a:rPr>
                        <a:t>Most applications rely on manual input for calorie tracking or simplistic models with limited food item recognition.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Glacial Indifference"/>
                          <a:ea typeface="Glacial Indifference"/>
                          <a:cs typeface="Glacial Indifference"/>
                          <a:sym typeface="Glacial Indifference"/>
                        </a:rPr>
                        <a:t>Lack of automated, accurate calorie estimation from images. Limited accuracy in recognizing diverse and mixed meals.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Glacial Indifference"/>
                          <a:ea typeface="Glacial Indifference"/>
                          <a:cs typeface="Glacial Indifference"/>
                          <a:sym typeface="Glacial Indifference"/>
                        </a:rPr>
                        <a:t>Utilize advanced image recognition to identify meal components and provide precise calorie estimations.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632300">
                <a:tc>
                  <a:txBody>
                    <a:bodyPr anchor="t" rtlCol="false"/>
                    <a:lstStyle/>
                    <a:p>
                      <a:pPr algn="ctr">
                        <a:lnSpc>
                          <a:spcPts val="3779"/>
                        </a:lnSpc>
                        <a:defRPr/>
                      </a:pPr>
                      <a:r>
                        <a:rPr lang="en-US" sz="2699">
                          <a:solidFill>
                            <a:srgbClr val="000000"/>
                          </a:solidFill>
                          <a:latin typeface="Glacial Indifference"/>
                          <a:ea typeface="Glacial Indifference"/>
                          <a:cs typeface="Glacial Indifference"/>
                          <a:sym typeface="Glacial Indifference"/>
                        </a:rPr>
                        <a:t>Personalized Meal Plans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Glacial Indifference"/>
                          <a:ea typeface="Glacial Indifference"/>
                          <a:cs typeface="Glacial Indifference"/>
                          <a:sym typeface="Glacial Indifference"/>
                        </a:rPr>
                        <a:t>Existing tools provide generic recommendations without considering dynamic changes in user health, goals, and preferences.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Glacial Indifference"/>
                          <a:ea typeface="Glacial Indifference"/>
                          <a:cs typeface="Glacial Indifference"/>
                          <a:sym typeface="Glacial Indifference"/>
                        </a:rPr>
                        <a:t>Static meal plans fail to adapt to real-time user needs and preferences.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Glacial Indifference"/>
                          <a:ea typeface="Glacial Indifference"/>
                          <a:cs typeface="Glacial Indifference"/>
                          <a:sym typeface="Glacial Indifference"/>
                        </a:rPr>
                        <a:t>Use AI-driven algorithms to generate and adapt personalized meal plans based on real-time user data and feedback.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1212772" y="667569"/>
            <a:ext cx="7112556" cy="1171575"/>
          </a:xfrm>
          <a:prstGeom prst="rect">
            <a:avLst/>
          </a:prstGeom>
        </p:spPr>
        <p:txBody>
          <a:bodyPr anchor="t" rtlCol="false" tIns="0" lIns="0" bIns="0" rIns="0">
            <a:spAutoFit/>
          </a:bodyPr>
          <a:lstStyle/>
          <a:p>
            <a:pPr algn="l" marL="0" indent="0" lvl="0">
              <a:lnSpc>
                <a:spcPts val="9240"/>
              </a:lnSpc>
              <a:spcBef>
                <a:spcPct val="0"/>
              </a:spcBef>
            </a:pPr>
            <a:r>
              <a:rPr lang="en-US" b="true" sz="7700">
                <a:solidFill>
                  <a:srgbClr val="253439"/>
                </a:solidFill>
                <a:latin typeface="Glacial Indifference Bold"/>
                <a:ea typeface="Glacial Indifference Bold"/>
                <a:cs typeface="Glacial Indifference Bold"/>
                <a:sym typeface="Glacial Indifference Bold"/>
              </a:rPr>
              <a:t>RESEARCH GAP</a:t>
            </a:r>
          </a:p>
        </p:txBody>
      </p:sp>
    </p:spTree>
  </p:cSld>
  <p:clrMapOvr>
    <a:masterClrMapping/>
  </p:clrMapOvr>
</p:sld>
</file>

<file path=ppt/slides/slide38.xml><?xml version="1.0" encoding="utf-8"?>
<p:sld xmlns:p="http://schemas.openxmlformats.org/presentationml/2006/main" xmlns:a="http://schemas.openxmlformats.org/drawingml/2006/main">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1028700" y="591369"/>
            <a:ext cx="0" cy="1247775"/>
          </a:xfrm>
          <a:prstGeom prst="line">
            <a:avLst/>
          </a:prstGeom>
          <a:ln cap="flat" w="133350">
            <a:solidFill>
              <a:srgbClr val="D15353"/>
            </a:solidFill>
            <a:prstDash val="solid"/>
            <a:headEnd type="none" len="sm" w="sm"/>
            <a:tailEnd type="none" len="sm" w="sm"/>
          </a:ln>
        </p:spPr>
      </p:sp>
      <p:sp>
        <p:nvSpPr>
          <p:cNvPr name="TextBox 3" id="3"/>
          <p:cNvSpPr txBox="true"/>
          <p:nvPr/>
        </p:nvSpPr>
        <p:spPr>
          <a:xfrm rot="0">
            <a:off x="1212772" y="667569"/>
            <a:ext cx="7112556" cy="1171575"/>
          </a:xfrm>
          <a:prstGeom prst="rect">
            <a:avLst/>
          </a:prstGeom>
        </p:spPr>
        <p:txBody>
          <a:bodyPr anchor="t" rtlCol="false" tIns="0" lIns="0" bIns="0" rIns="0">
            <a:spAutoFit/>
          </a:bodyPr>
          <a:lstStyle/>
          <a:p>
            <a:pPr algn="l" marL="0" indent="0" lvl="0">
              <a:lnSpc>
                <a:spcPts val="9240"/>
              </a:lnSpc>
              <a:spcBef>
                <a:spcPct val="0"/>
              </a:spcBef>
            </a:pPr>
            <a:r>
              <a:rPr lang="en-US" b="true" sz="7700">
                <a:solidFill>
                  <a:srgbClr val="253439"/>
                </a:solidFill>
                <a:latin typeface="Glacial Indifference Bold"/>
                <a:ea typeface="Glacial Indifference Bold"/>
                <a:cs typeface="Glacial Indifference Bold"/>
                <a:sym typeface="Glacial Indifference Bold"/>
              </a:rPr>
              <a:t>RESEARCH GAP</a:t>
            </a:r>
          </a:p>
        </p:txBody>
      </p:sp>
      <p:sp>
        <p:nvSpPr>
          <p:cNvPr name="TextBox 4" id="4"/>
          <p:cNvSpPr txBox="true"/>
          <p:nvPr/>
        </p:nvSpPr>
        <p:spPr>
          <a:xfrm rot="0">
            <a:off x="2571783" y="3951917"/>
            <a:ext cx="13438654" cy="4236057"/>
          </a:xfrm>
          <a:prstGeom prst="rect">
            <a:avLst/>
          </a:prstGeom>
        </p:spPr>
        <p:txBody>
          <a:bodyPr anchor="t" rtlCol="false" tIns="0" lIns="0" bIns="0" rIns="0">
            <a:spAutoFit/>
          </a:bodyPr>
          <a:lstStyle/>
          <a:p>
            <a:pPr algn="l">
              <a:lnSpc>
                <a:spcPts val="4866"/>
              </a:lnSpc>
            </a:pPr>
            <a:r>
              <a:rPr lang="en-US" sz="3476" b="true">
                <a:solidFill>
                  <a:srgbClr val="253439"/>
                </a:solidFill>
                <a:latin typeface="Canva Sans Bold"/>
                <a:ea typeface="Canva Sans Bold"/>
                <a:cs typeface="Canva Sans Bold"/>
                <a:sym typeface="Canva Sans Bold"/>
              </a:rPr>
              <a:t>Despite the advancements in food recognition and calorie estimation systems globally, </a:t>
            </a:r>
            <a:r>
              <a:rPr lang="en-US" sz="3476" b="true">
                <a:solidFill>
                  <a:srgbClr val="E12424"/>
                </a:solidFill>
                <a:latin typeface="Canva Sans Bold"/>
                <a:ea typeface="Canva Sans Bold"/>
                <a:cs typeface="Canva Sans Bold"/>
                <a:sym typeface="Canva Sans Bold"/>
              </a:rPr>
              <a:t>there is no dedicated system that accurately recognizes Sri Lankan food items and provides precise calorie estimations.</a:t>
            </a:r>
            <a:r>
              <a:rPr lang="en-US" sz="3476" b="true">
                <a:solidFill>
                  <a:srgbClr val="253439"/>
                </a:solidFill>
                <a:latin typeface="Canva Sans Bold"/>
                <a:ea typeface="Canva Sans Bold"/>
                <a:cs typeface="Canva Sans Bold"/>
                <a:sym typeface="Canva Sans Bold"/>
              </a:rPr>
              <a:t> Existing solutions are primarily trained on Western and globally common cuisines, making them ineffective for identifying local Sri Lankan dishes such as Parippu Wade, Ulundu Wade, Mallum, Lavariya, and more.</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true" rot="4607186">
            <a:off x="8799965" y="-3556134"/>
            <a:ext cx="14183618" cy="9385261"/>
          </a:xfrm>
          <a:custGeom>
            <a:avLst/>
            <a:gdLst/>
            <a:ahLst/>
            <a:cxnLst/>
            <a:rect r="r" b="b" t="t" l="l"/>
            <a:pathLst>
              <a:path h="9385261" w="14183618">
                <a:moveTo>
                  <a:pt x="0" y="9385261"/>
                </a:moveTo>
                <a:lnTo>
                  <a:pt x="14183618" y="9385261"/>
                </a:lnTo>
                <a:lnTo>
                  <a:pt x="14183618" y="0"/>
                </a:lnTo>
                <a:lnTo>
                  <a:pt x="0" y="0"/>
                </a:lnTo>
                <a:lnTo>
                  <a:pt x="0" y="938526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630401"/>
            <a:ext cx="8115300" cy="1088390"/>
          </a:xfrm>
          <a:prstGeom prst="rect">
            <a:avLst/>
          </a:prstGeom>
        </p:spPr>
        <p:txBody>
          <a:bodyPr anchor="t" rtlCol="false" tIns="0" lIns="0" bIns="0" rIns="0">
            <a:spAutoFit/>
          </a:bodyPr>
          <a:lstStyle/>
          <a:p>
            <a:pPr algn="r" marL="0" indent="0" lvl="0">
              <a:lnSpc>
                <a:spcPts val="8470"/>
              </a:lnSpc>
            </a:pPr>
            <a:r>
              <a:rPr lang="en-US" b="true" sz="7700">
                <a:solidFill>
                  <a:srgbClr val="253439"/>
                </a:solidFill>
                <a:latin typeface="Glacial Indifference Bold"/>
                <a:ea typeface="Glacial Indifference Bold"/>
                <a:cs typeface="Glacial Indifference Bold"/>
                <a:sym typeface="Glacial Indifference Bold"/>
              </a:rPr>
              <a:t>METHODOLOGIES</a:t>
            </a:r>
          </a:p>
        </p:txBody>
      </p:sp>
      <p:sp>
        <p:nvSpPr>
          <p:cNvPr name="AutoShape 4" id="4"/>
          <p:cNvSpPr/>
          <p:nvPr/>
        </p:nvSpPr>
        <p:spPr>
          <a:xfrm flipH="true" flipV="true">
            <a:off x="666700" y="554201"/>
            <a:ext cx="0" cy="1164590"/>
          </a:xfrm>
          <a:prstGeom prst="line">
            <a:avLst/>
          </a:prstGeom>
          <a:ln cap="flat" w="133350">
            <a:solidFill>
              <a:srgbClr val="D15353"/>
            </a:solidFill>
            <a:prstDash val="solid"/>
            <a:headEnd type="none" len="sm" w="sm"/>
            <a:tailEnd type="none" len="sm" w="sm"/>
          </a:ln>
        </p:spPr>
      </p:sp>
      <p:sp>
        <p:nvSpPr>
          <p:cNvPr name="TextBox 5" id="5"/>
          <p:cNvSpPr txBox="true"/>
          <p:nvPr/>
        </p:nvSpPr>
        <p:spPr>
          <a:xfrm rot="0">
            <a:off x="856427" y="3269818"/>
            <a:ext cx="12203114" cy="6530212"/>
          </a:xfrm>
          <a:prstGeom prst="rect">
            <a:avLst/>
          </a:prstGeom>
        </p:spPr>
        <p:txBody>
          <a:bodyPr anchor="t" rtlCol="false" tIns="0" lIns="0" bIns="0" rIns="0">
            <a:spAutoFit/>
          </a:bodyPr>
          <a:lstStyle/>
          <a:p>
            <a:pPr algn="ctr">
              <a:lnSpc>
                <a:spcPts val="6433"/>
              </a:lnSpc>
            </a:pPr>
            <a:r>
              <a:rPr lang="en-US" sz="5361">
                <a:solidFill>
                  <a:srgbClr val="253439"/>
                </a:solidFill>
                <a:latin typeface="Glacial Indifference"/>
                <a:ea typeface="Glacial Indifference"/>
                <a:cs typeface="Glacial Indifference"/>
                <a:sym typeface="Glacial Indifference"/>
              </a:rPr>
              <a:t>FRONT END - FLUTTER</a:t>
            </a:r>
          </a:p>
          <a:p>
            <a:pPr algn="ctr">
              <a:lnSpc>
                <a:spcPts val="6433"/>
              </a:lnSpc>
            </a:pPr>
            <a:r>
              <a:rPr lang="en-US" sz="5361">
                <a:solidFill>
                  <a:srgbClr val="253439"/>
                </a:solidFill>
                <a:latin typeface="Glacial Indifference"/>
                <a:ea typeface="Glacial Indifference"/>
                <a:cs typeface="Glacial Indifference"/>
                <a:sym typeface="Glacial Indifference"/>
              </a:rPr>
              <a:t>Back end - Python</a:t>
            </a:r>
          </a:p>
          <a:p>
            <a:pPr algn="ctr">
              <a:lnSpc>
                <a:spcPts val="6433"/>
              </a:lnSpc>
            </a:pPr>
            <a:r>
              <a:rPr lang="en-US" sz="5361">
                <a:solidFill>
                  <a:srgbClr val="253439"/>
                </a:solidFill>
                <a:latin typeface="Glacial Indifference"/>
                <a:ea typeface="Glacial Indifference"/>
                <a:cs typeface="Glacial Indifference"/>
                <a:sym typeface="Glacial Indifference"/>
              </a:rPr>
              <a:t>Database - Firebase</a:t>
            </a:r>
          </a:p>
          <a:p>
            <a:pPr algn="ctr">
              <a:lnSpc>
                <a:spcPts val="6433"/>
              </a:lnSpc>
            </a:pPr>
            <a:r>
              <a:rPr lang="en-US" sz="5361">
                <a:solidFill>
                  <a:srgbClr val="253439"/>
                </a:solidFill>
                <a:latin typeface="Glacial Indifference"/>
                <a:ea typeface="Glacial Indifference"/>
                <a:cs typeface="Glacial Indifference"/>
                <a:sym typeface="Glacial Indifference"/>
              </a:rPr>
              <a:t>Cloud - Firebase</a:t>
            </a:r>
          </a:p>
          <a:p>
            <a:pPr algn="ctr">
              <a:lnSpc>
                <a:spcPts val="6433"/>
              </a:lnSpc>
            </a:pPr>
            <a:r>
              <a:rPr lang="en-US" sz="5361">
                <a:solidFill>
                  <a:srgbClr val="253439"/>
                </a:solidFill>
                <a:latin typeface="Glacial Indifference"/>
                <a:ea typeface="Glacial Indifference"/>
                <a:cs typeface="Glacial Indifference"/>
                <a:sym typeface="Glacial Indifference"/>
              </a:rPr>
              <a:t>LIBRARIES-ROBOFLOW/ULTRALYTICS</a:t>
            </a:r>
          </a:p>
          <a:p>
            <a:pPr algn="ctr">
              <a:lnSpc>
                <a:spcPts val="6433"/>
              </a:lnSpc>
            </a:pPr>
            <a:r>
              <a:rPr lang="en-US" sz="5361">
                <a:solidFill>
                  <a:srgbClr val="253439"/>
                </a:solidFill>
                <a:latin typeface="Glacial Indifference"/>
                <a:ea typeface="Glacial Indifference"/>
                <a:cs typeface="Glacial Indifference"/>
                <a:sym typeface="Glacial Indifference"/>
              </a:rPr>
              <a:t>MACHINE LEARNING FRAMEWORK-TENSORFLOW</a:t>
            </a:r>
          </a:p>
          <a:p>
            <a:pPr algn="ctr">
              <a:lnSpc>
                <a:spcPts val="6433"/>
              </a:lnSpc>
              <a:spcBef>
                <a:spcPct val="0"/>
              </a:spcBef>
            </a:pPr>
          </a:p>
        </p:txBody>
      </p:sp>
      <p:sp>
        <p:nvSpPr>
          <p:cNvPr name="Freeform 6" id="6"/>
          <p:cNvSpPr/>
          <p:nvPr/>
        </p:nvSpPr>
        <p:spPr>
          <a:xfrm flipH="false" flipV="false" rot="0">
            <a:off x="14270646" y="6128278"/>
            <a:ext cx="2988654" cy="2984918"/>
          </a:xfrm>
          <a:custGeom>
            <a:avLst/>
            <a:gdLst/>
            <a:ahLst/>
            <a:cxnLst/>
            <a:rect r="r" b="b" t="t" l="l"/>
            <a:pathLst>
              <a:path h="2984918" w="2988654">
                <a:moveTo>
                  <a:pt x="0" y="0"/>
                </a:moveTo>
                <a:lnTo>
                  <a:pt x="2988654" y="0"/>
                </a:lnTo>
                <a:lnTo>
                  <a:pt x="2988654" y="2984918"/>
                </a:lnTo>
                <a:lnTo>
                  <a:pt x="0" y="2984918"/>
                </a:lnTo>
                <a:lnTo>
                  <a:pt x="0" y="0"/>
                </a:lnTo>
                <a:close/>
              </a:path>
            </a:pathLst>
          </a:custGeom>
          <a:blipFill>
            <a:blip r:embed="rId4"/>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flipV="true">
            <a:off x="1028700" y="815495"/>
            <a:ext cx="0" cy="925196"/>
          </a:xfrm>
          <a:prstGeom prst="line">
            <a:avLst/>
          </a:prstGeom>
          <a:ln cap="flat" w="133350">
            <a:solidFill>
              <a:srgbClr val="D15353"/>
            </a:solidFill>
            <a:prstDash val="solid"/>
            <a:headEnd type="none" len="sm" w="sm"/>
            <a:tailEnd type="none" len="sm" w="sm"/>
          </a:ln>
        </p:spPr>
      </p:sp>
      <p:sp>
        <p:nvSpPr>
          <p:cNvPr name="Freeform 3" id="3"/>
          <p:cNvSpPr/>
          <p:nvPr/>
        </p:nvSpPr>
        <p:spPr>
          <a:xfrm flipH="false" flipV="false" rot="0">
            <a:off x="2234037" y="2688525"/>
            <a:ext cx="1604538" cy="1604538"/>
          </a:xfrm>
          <a:custGeom>
            <a:avLst/>
            <a:gdLst/>
            <a:ahLst/>
            <a:cxnLst/>
            <a:rect r="r" b="b" t="t" l="l"/>
            <a:pathLst>
              <a:path h="1604538" w="1604538">
                <a:moveTo>
                  <a:pt x="0" y="0"/>
                </a:moveTo>
                <a:lnTo>
                  <a:pt x="1604538" y="0"/>
                </a:lnTo>
                <a:lnTo>
                  <a:pt x="1604538" y="1604538"/>
                </a:lnTo>
                <a:lnTo>
                  <a:pt x="0" y="1604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751138" y="2719578"/>
            <a:ext cx="1550435" cy="1550435"/>
          </a:xfrm>
          <a:custGeom>
            <a:avLst/>
            <a:gdLst/>
            <a:ahLst/>
            <a:cxnLst/>
            <a:rect r="r" b="b" t="t" l="l"/>
            <a:pathLst>
              <a:path h="1550435" w="1550435">
                <a:moveTo>
                  <a:pt x="0" y="0"/>
                </a:moveTo>
                <a:lnTo>
                  <a:pt x="1550435" y="0"/>
                </a:lnTo>
                <a:lnTo>
                  <a:pt x="1550435" y="1550434"/>
                </a:lnTo>
                <a:lnTo>
                  <a:pt x="0" y="15504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3838575" y="3490794"/>
            <a:ext cx="2912563" cy="4001"/>
          </a:xfrm>
          <a:prstGeom prst="line">
            <a:avLst/>
          </a:prstGeom>
          <a:ln cap="flat" w="38100">
            <a:solidFill>
              <a:srgbClr val="D15353"/>
            </a:solidFill>
            <a:prstDash val="solid"/>
            <a:headEnd type="none" len="sm" w="sm"/>
            <a:tailEnd type="triangle" len="med" w="lg"/>
          </a:ln>
        </p:spPr>
      </p:sp>
      <p:sp>
        <p:nvSpPr>
          <p:cNvPr name="Freeform 6" id="6"/>
          <p:cNvSpPr/>
          <p:nvPr/>
        </p:nvSpPr>
        <p:spPr>
          <a:xfrm flipH="false" flipV="false" rot="0">
            <a:off x="10714917" y="2707364"/>
            <a:ext cx="1688904" cy="1605994"/>
          </a:xfrm>
          <a:custGeom>
            <a:avLst/>
            <a:gdLst/>
            <a:ahLst/>
            <a:cxnLst/>
            <a:rect r="r" b="b" t="t" l="l"/>
            <a:pathLst>
              <a:path h="1605994" w="1688904">
                <a:moveTo>
                  <a:pt x="0" y="0"/>
                </a:moveTo>
                <a:lnTo>
                  <a:pt x="1688904" y="0"/>
                </a:lnTo>
                <a:lnTo>
                  <a:pt x="1688904" y="1605994"/>
                </a:lnTo>
                <a:lnTo>
                  <a:pt x="0" y="16059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7" id="7"/>
          <p:cNvSpPr/>
          <p:nvPr/>
        </p:nvSpPr>
        <p:spPr>
          <a:xfrm>
            <a:off x="8301636" y="3542353"/>
            <a:ext cx="2409401" cy="8002"/>
          </a:xfrm>
          <a:prstGeom prst="line">
            <a:avLst/>
          </a:prstGeom>
          <a:ln cap="flat" w="38100">
            <a:solidFill>
              <a:srgbClr val="D15353"/>
            </a:solidFill>
            <a:prstDash val="solid"/>
            <a:headEnd type="none" len="sm" w="sm"/>
            <a:tailEnd type="triangle" len="med" w="lg"/>
          </a:ln>
        </p:spPr>
      </p:sp>
      <p:sp>
        <p:nvSpPr>
          <p:cNvPr name="Freeform 8" id="8"/>
          <p:cNvSpPr/>
          <p:nvPr/>
        </p:nvSpPr>
        <p:spPr>
          <a:xfrm flipH="false" flipV="false" rot="0">
            <a:off x="7103995" y="5599666"/>
            <a:ext cx="1312595" cy="1671127"/>
          </a:xfrm>
          <a:custGeom>
            <a:avLst/>
            <a:gdLst/>
            <a:ahLst/>
            <a:cxnLst/>
            <a:rect r="r" b="b" t="t" l="l"/>
            <a:pathLst>
              <a:path h="1671127" w="1312595">
                <a:moveTo>
                  <a:pt x="0" y="0"/>
                </a:moveTo>
                <a:lnTo>
                  <a:pt x="1312594" y="0"/>
                </a:lnTo>
                <a:lnTo>
                  <a:pt x="1312594" y="1671127"/>
                </a:lnTo>
                <a:lnTo>
                  <a:pt x="0" y="16711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4084256" y="7301722"/>
            <a:ext cx="1617581" cy="1621907"/>
          </a:xfrm>
          <a:custGeom>
            <a:avLst/>
            <a:gdLst/>
            <a:ahLst/>
            <a:cxnLst/>
            <a:rect r="r" b="b" t="t" l="l"/>
            <a:pathLst>
              <a:path h="1621907" w="1617581">
                <a:moveTo>
                  <a:pt x="0" y="0"/>
                </a:moveTo>
                <a:lnTo>
                  <a:pt x="1617582" y="0"/>
                </a:lnTo>
                <a:lnTo>
                  <a:pt x="1617582" y="1621907"/>
                </a:lnTo>
                <a:lnTo>
                  <a:pt x="0" y="16219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AutoShape 10" id="10"/>
          <p:cNvSpPr/>
          <p:nvPr/>
        </p:nvSpPr>
        <p:spPr>
          <a:xfrm flipH="true">
            <a:off x="5701838" y="7270793"/>
            <a:ext cx="2058454" cy="841882"/>
          </a:xfrm>
          <a:prstGeom prst="line">
            <a:avLst/>
          </a:prstGeom>
          <a:ln cap="flat" w="38100">
            <a:solidFill>
              <a:srgbClr val="D15353"/>
            </a:solidFill>
            <a:prstDash val="solid"/>
            <a:headEnd type="none" len="sm" w="sm"/>
            <a:tailEnd type="triangle" len="med" w="lg"/>
          </a:ln>
        </p:spPr>
      </p:sp>
      <p:sp>
        <p:nvSpPr>
          <p:cNvPr name="AutoShape 11" id="11"/>
          <p:cNvSpPr/>
          <p:nvPr/>
        </p:nvSpPr>
        <p:spPr>
          <a:xfrm flipH="true">
            <a:off x="8416589" y="4313358"/>
            <a:ext cx="3142780" cy="2121871"/>
          </a:xfrm>
          <a:prstGeom prst="line">
            <a:avLst/>
          </a:prstGeom>
          <a:ln cap="flat" w="38100">
            <a:solidFill>
              <a:srgbClr val="D15353"/>
            </a:solidFill>
            <a:prstDash val="solid"/>
            <a:headEnd type="none" len="sm" w="sm"/>
            <a:tailEnd type="triangle" len="med" w="lg"/>
          </a:ln>
        </p:spPr>
      </p:sp>
      <p:sp>
        <p:nvSpPr>
          <p:cNvPr name="Freeform 12" id="12"/>
          <p:cNvSpPr/>
          <p:nvPr/>
        </p:nvSpPr>
        <p:spPr>
          <a:xfrm flipH="false" flipV="false" rot="0">
            <a:off x="9521481" y="7242800"/>
            <a:ext cx="1530981" cy="1739751"/>
          </a:xfrm>
          <a:custGeom>
            <a:avLst/>
            <a:gdLst/>
            <a:ahLst/>
            <a:cxnLst/>
            <a:rect r="r" b="b" t="t" l="l"/>
            <a:pathLst>
              <a:path h="1739751" w="1530981">
                <a:moveTo>
                  <a:pt x="0" y="0"/>
                </a:moveTo>
                <a:lnTo>
                  <a:pt x="1530981" y="0"/>
                </a:lnTo>
                <a:lnTo>
                  <a:pt x="1530981" y="1739751"/>
                </a:lnTo>
                <a:lnTo>
                  <a:pt x="0" y="173975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AutoShape 13" id="13"/>
          <p:cNvSpPr/>
          <p:nvPr/>
        </p:nvSpPr>
        <p:spPr>
          <a:xfrm>
            <a:off x="7760292" y="7270793"/>
            <a:ext cx="1761189" cy="841882"/>
          </a:xfrm>
          <a:prstGeom prst="line">
            <a:avLst/>
          </a:prstGeom>
          <a:ln cap="flat" w="38100">
            <a:solidFill>
              <a:srgbClr val="D15353"/>
            </a:solidFill>
            <a:prstDash val="solid"/>
            <a:headEnd type="none" len="sm" w="sm"/>
            <a:tailEnd type="triangle" len="med" w="lg"/>
          </a:ln>
        </p:spPr>
      </p:sp>
      <p:sp>
        <p:nvSpPr>
          <p:cNvPr name="Freeform 14" id="14"/>
          <p:cNvSpPr/>
          <p:nvPr/>
        </p:nvSpPr>
        <p:spPr>
          <a:xfrm flipH="false" flipV="false" rot="0">
            <a:off x="13865449" y="7301722"/>
            <a:ext cx="1725420" cy="1342691"/>
          </a:xfrm>
          <a:custGeom>
            <a:avLst/>
            <a:gdLst/>
            <a:ahLst/>
            <a:cxnLst/>
            <a:rect r="r" b="b" t="t" l="l"/>
            <a:pathLst>
              <a:path h="1342691" w="1725420">
                <a:moveTo>
                  <a:pt x="0" y="0"/>
                </a:moveTo>
                <a:lnTo>
                  <a:pt x="1725420" y="0"/>
                </a:lnTo>
                <a:lnTo>
                  <a:pt x="1725420" y="1342691"/>
                </a:lnTo>
                <a:lnTo>
                  <a:pt x="0" y="134269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0">
            <a:off x="413440" y="863120"/>
            <a:ext cx="7499973" cy="877571"/>
          </a:xfrm>
          <a:prstGeom prst="rect">
            <a:avLst/>
          </a:prstGeom>
        </p:spPr>
        <p:txBody>
          <a:bodyPr anchor="t" rtlCol="false" tIns="0" lIns="0" bIns="0" rIns="0">
            <a:spAutoFit/>
          </a:bodyPr>
          <a:lstStyle/>
          <a:p>
            <a:pPr algn="r" marL="0" indent="0" lvl="0">
              <a:lnSpc>
                <a:spcPts val="6710"/>
              </a:lnSpc>
            </a:pPr>
            <a:r>
              <a:rPr lang="en-US" b="true" sz="6100">
                <a:solidFill>
                  <a:srgbClr val="253439"/>
                </a:solidFill>
                <a:latin typeface="Glacial Indifference Bold"/>
                <a:ea typeface="Glacial Indifference Bold"/>
                <a:cs typeface="Glacial Indifference Bold"/>
                <a:sym typeface="Glacial Indifference Bold"/>
              </a:rPr>
              <a:t>SYSTEM DIAGRAM</a:t>
            </a:r>
          </a:p>
        </p:txBody>
      </p:sp>
      <p:sp>
        <p:nvSpPr>
          <p:cNvPr name="AutoShape 16" id="16"/>
          <p:cNvSpPr/>
          <p:nvPr/>
        </p:nvSpPr>
        <p:spPr>
          <a:xfrm>
            <a:off x="11199120" y="8108675"/>
            <a:ext cx="2409401" cy="8002"/>
          </a:xfrm>
          <a:prstGeom prst="line">
            <a:avLst/>
          </a:prstGeom>
          <a:ln cap="flat" w="38100">
            <a:solidFill>
              <a:srgbClr val="D15353"/>
            </a:solidFill>
            <a:prstDash val="solid"/>
            <a:headEnd type="none" len="sm" w="sm"/>
            <a:tailEnd type="triangle" len="med" w="lg"/>
          </a:ln>
        </p:spPr>
      </p:sp>
      <p:sp>
        <p:nvSpPr>
          <p:cNvPr name="TextBox 17" id="17"/>
          <p:cNvSpPr txBox="true"/>
          <p:nvPr/>
        </p:nvSpPr>
        <p:spPr>
          <a:xfrm rot="0">
            <a:off x="1340581" y="4322883"/>
            <a:ext cx="3732729" cy="406172"/>
          </a:xfrm>
          <a:prstGeom prst="rect">
            <a:avLst/>
          </a:prstGeom>
        </p:spPr>
        <p:txBody>
          <a:bodyPr anchor="t" rtlCol="false" tIns="0" lIns="0" bIns="0" rIns="0">
            <a:spAutoFit/>
          </a:bodyPr>
          <a:lstStyle/>
          <a:p>
            <a:pPr algn="ctr">
              <a:lnSpc>
                <a:spcPts val="3005"/>
              </a:lnSpc>
              <a:spcBef>
                <a:spcPct val="0"/>
              </a:spcBef>
            </a:pPr>
            <a:r>
              <a:rPr lang="en-US" b="true" sz="2732">
                <a:solidFill>
                  <a:srgbClr val="253439"/>
                </a:solidFill>
                <a:latin typeface="Glacial Indifference Bold"/>
                <a:ea typeface="Glacial Indifference Bold"/>
                <a:cs typeface="Glacial Indifference Bold"/>
                <a:sym typeface="Glacial Indifference Bold"/>
              </a:rPr>
              <a:t>MOBILE APP INTERFACE</a:t>
            </a:r>
          </a:p>
        </p:txBody>
      </p:sp>
      <p:sp>
        <p:nvSpPr>
          <p:cNvPr name="TextBox 18" id="18"/>
          <p:cNvSpPr txBox="true"/>
          <p:nvPr/>
        </p:nvSpPr>
        <p:spPr>
          <a:xfrm rot="0">
            <a:off x="5999103" y="4279537"/>
            <a:ext cx="3522379" cy="787172"/>
          </a:xfrm>
          <a:prstGeom prst="rect">
            <a:avLst/>
          </a:prstGeom>
        </p:spPr>
        <p:txBody>
          <a:bodyPr anchor="t" rtlCol="false" tIns="0" lIns="0" bIns="0" rIns="0">
            <a:spAutoFit/>
          </a:bodyPr>
          <a:lstStyle/>
          <a:p>
            <a:pPr algn="ctr">
              <a:lnSpc>
                <a:spcPts val="3005"/>
              </a:lnSpc>
              <a:spcBef>
                <a:spcPct val="0"/>
              </a:spcBef>
            </a:pPr>
            <a:r>
              <a:rPr lang="en-US" b="true" sz="2732">
                <a:solidFill>
                  <a:srgbClr val="253439"/>
                </a:solidFill>
                <a:latin typeface="Glacial Indifference Bold"/>
                <a:ea typeface="Glacial Indifference Bold"/>
                <a:cs typeface="Glacial Indifference Bold"/>
                <a:sym typeface="Glacial Indifference Bold"/>
              </a:rPr>
              <a:t>IMAGE RECOGNITION MODULE</a:t>
            </a:r>
          </a:p>
        </p:txBody>
      </p:sp>
      <p:sp>
        <p:nvSpPr>
          <p:cNvPr name="TextBox 19" id="19"/>
          <p:cNvSpPr txBox="true"/>
          <p:nvPr/>
        </p:nvSpPr>
        <p:spPr>
          <a:xfrm rot="0">
            <a:off x="12482812" y="3121538"/>
            <a:ext cx="3522379" cy="787172"/>
          </a:xfrm>
          <a:prstGeom prst="rect">
            <a:avLst/>
          </a:prstGeom>
        </p:spPr>
        <p:txBody>
          <a:bodyPr anchor="t" rtlCol="false" tIns="0" lIns="0" bIns="0" rIns="0">
            <a:spAutoFit/>
          </a:bodyPr>
          <a:lstStyle/>
          <a:p>
            <a:pPr algn="ctr">
              <a:lnSpc>
                <a:spcPts val="3005"/>
              </a:lnSpc>
              <a:spcBef>
                <a:spcPct val="0"/>
              </a:spcBef>
            </a:pPr>
            <a:r>
              <a:rPr lang="en-US" b="true" sz="2732">
                <a:solidFill>
                  <a:srgbClr val="253439"/>
                </a:solidFill>
                <a:latin typeface="Glacial Indifference Bold"/>
                <a:ea typeface="Glacial Indifference Bold"/>
                <a:cs typeface="Glacial Indifference Bold"/>
                <a:sym typeface="Glacial Indifference Bold"/>
              </a:rPr>
              <a:t>USER PROFILE AND PREFERENCES</a:t>
            </a:r>
          </a:p>
        </p:txBody>
      </p:sp>
      <p:sp>
        <p:nvSpPr>
          <p:cNvPr name="TextBox 20" id="20"/>
          <p:cNvSpPr txBox="true"/>
          <p:nvPr/>
        </p:nvSpPr>
        <p:spPr>
          <a:xfrm rot="0">
            <a:off x="8614486" y="6444755"/>
            <a:ext cx="4875952" cy="406172"/>
          </a:xfrm>
          <a:prstGeom prst="rect">
            <a:avLst/>
          </a:prstGeom>
        </p:spPr>
        <p:txBody>
          <a:bodyPr anchor="t" rtlCol="false" tIns="0" lIns="0" bIns="0" rIns="0">
            <a:spAutoFit/>
          </a:bodyPr>
          <a:lstStyle/>
          <a:p>
            <a:pPr algn="ctr">
              <a:lnSpc>
                <a:spcPts val="3005"/>
              </a:lnSpc>
              <a:spcBef>
                <a:spcPct val="0"/>
              </a:spcBef>
            </a:pPr>
            <a:r>
              <a:rPr lang="en-US" b="true" sz="2732">
                <a:solidFill>
                  <a:srgbClr val="253439"/>
                </a:solidFill>
                <a:latin typeface="Glacial Indifference Bold"/>
                <a:ea typeface="Glacial Indifference Bold"/>
                <a:cs typeface="Glacial Indifference Bold"/>
                <a:sym typeface="Glacial Indifference Bold"/>
              </a:rPr>
              <a:t>CALORIE ESTIMATION  MODEL</a:t>
            </a:r>
          </a:p>
        </p:txBody>
      </p:sp>
      <p:sp>
        <p:nvSpPr>
          <p:cNvPr name="TextBox 21" id="21"/>
          <p:cNvSpPr txBox="true"/>
          <p:nvPr/>
        </p:nvSpPr>
        <p:spPr>
          <a:xfrm rot="0">
            <a:off x="7913413" y="9102732"/>
            <a:ext cx="4875952" cy="406172"/>
          </a:xfrm>
          <a:prstGeom prst="rect">
            <a:avLst/>
          </a:prstGeom>
        </p:spPr>
        <p:txBody>
          <a:bodyPr anchor="t" rtlCol="false" tIns="0" lIns="0" bIns="0" rIns="0">
            <a:spAutoFit/>
          </a:bodyPr>
          <a:lstStyle/>
          <a:p>
            <a:pPr algn="ctr">
              <a:lnSpc>
                <a:spcPts val="3005"/>
              </a:lnSpc>
              <a:spcBef>
                <a:spcPct val="0"/>
              </a:spcBef>
            </a:pPr>
            <a:r>
              <a:rPr lang="en-US" b="true" sz="2732">
                <a:solidFill>
                  <a:srgbClr val="253439"/>
                </a:solidFill>
                <a:latin typeface="Glacial Indifference Bold"/>
                <a:ea typeface="Glacial Indifference Bold"/>
                <a:cs typeface="Glacial Indifference Bold"/>
                <a:sym typeface="Glacial Indifference Bold"/>
              </a:rPr>
              <a:t>MEAL PLANNING MODEL</a:t>
            </a:r>
          </a:p>
        </p:txBody>
      </p:sp>
      <p:sp>
        <p:nvSpPr>
          <p:cNvPr name="TextBox 22" id="22"/>
          <p:cNvSpPr txBox="true"/>
          <p:nvPr/>
        </p:nvSpPr>
        <p:spPr>
          <a:xfrm rot="0">
            <a:off x="3599160" y="9102732"/>
            <a:ext cx="2587775" cy="406172"/>
          </a:xfrm>
          <a:prstGeom prst="rect">
            <a:avLst/>
          </a:prstGeom>
        </p:spPr>
        <p:txBody>
          <a:bodyPr anchor="t" rtlCol="false" tIns="0" lIns="0" bIns="0" rIns="0">
            <a:spAutoFit/>
          </a:bodyPr>
          <a:lstStyle/>
          <a:p>
            <a:pPr algn="ctr">
              <a:lnSpc>
                <a:spcPts val="3005"/>
              </a:lnSpc>
              <a:spcBef>
                <a:spcPct val="0"/>
              </a:spcBef>
            </a:pPr>
            <a:r>
              <a:rPr lang="en-US" b="true" sz="2732">
                <a:solidFill>
                  <a:srgbClr val="253439"/>
                </a:solidFill>
                <a:latin typeface="Glacial Indifference Bold"/>
                <a:ea typeface="Glacial Indifference Bold"/>
                <a:cs typeface="Glacial Indifference Bold"/>
                <a:sym typeface="Glacial Indifference Bold"/>
              </a:rPr>
              <a:t>DATABASE</a:t>
            </a:r>
          </a:p>
        </p:txBody>
      </p:sp>
      <p:sp>
        <p:nvSpPr>
          <p:cNvPr name="TextBox 23" id="23"/>
          <p:cNvSpPr txBox="true"/>
          <p:nvPr/>
        </p:nvSpPr>
        <p:spPr>
          <a:xfrm rot="0">
            <a:off x="13434271" y="9059976"/>
            <a:ext cx="2587775" cy="406172"/>
          </a:xfrm>
          <a:prstGeom prst="rect">
            <a:avLst/>
          </a:prstGeom>
        </p:spPr>
        <p:txBody>
          <a:bodyPr anchor="t" rtlCol="false" tIns="0" lIns="0" bIns="0" rIns="0">
            <a:spAutoFit/>
          </a:bodyPr>
          <a:lstStyle/>
          <a:p>
            <a:pPr algn="ctr">
              <a:lnSpc>
                <a:spcPts val="3005"/>
              </a:lnSpc>
              <a:spcBef>
                <a:spcPct val="0"/>
              </a:spcBef>
            </a:pPr>
            <a:r>
              <a:rPr lang="en-US" b="true" sz="2732">
                <a:solidFill>
                  <a:srgbClr val="253439"/>
                </a:solidFill>
                <a:latin typeface="Glacial Indifference Bold"/>
                <a:ea typeface="Glacial Indifference Bold"/>
                <a:cs typeface="Glacial Indifference Bold"/>
                <a:sym typeface="Glacial Indifference Bold"/>
              </a:rPr>
              <a:t>FEEDBACK</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7298824" y="1668620"/>
            <a:ext cx="13504914" cy="877571"/>
          </a:xfrm>
          <a:prstGeom prst="rect">
            <a:avLst/>
          </a:prstGeom>
        </p:spPr>
        <p:txBody>
          <a:bodyPr anchor="t" rtlCol="false" tIns="0" lIns="0" bIns="0" rIns="0">
            <a:spAutoFit/>
          </a:bodyPr>
          <a:lstStyle/>
          <a:p>
            <a:pPr algn="r" marL="0" indent="0" lvl="0">
              <a:lnSpc>
                <a:spcPts val="6710"/>
              </a:lnSpc>
            </a:pPr>
            <a:r>
              <a:rPr lang="en-US" b="true" sz="6100">
                <a:solidFill>
                  <a:srgbClr val="253439"/>
                </a:solidFill>
                <a:latin typeface="Glacial Indifference Bold"/>
                <a:ea typeface="Glacial Indifference Bold"/>
                <a:cs typeface="Glacial Indifference Bold"/>
                <a:sym typeface="Glacial Indifference Bold"/>
              </a:rPr>
              <a:t>FLOW CHART</a:t>
            </a:r>
          </a:p>
        </p:txBody>
      </p:sp>
      <p:sp>
        <p:nvSpPr>
          <p:cNvPr name="Freeform 3" id="3"/>
          <p:cNvSpPr/>
          <p:nvPr/>
        </p:nvSpPr>
        <p:spPr>
          <a:xfrm flipH="false" flipV="false" rot="-5400000">
            <a:off x="10307935" y="4128976"/>
            <a:ext cx="11173984" cy="7393795"/>
          </a:xfrm>
          <a:custGeom>
            <a:avLst/>
            <a:gdLst/>
            <a:ahLst/>
            <a:cxnLst/>
            <a:rect r="r" b="b" t="t" l="l"/>
            <a:pathLst>
              <a:path h="7393795" w="11173984">
                <a:moveTo>
                  <a:pt x="0" y="0"/>
                </a:moveTo>
                <a:lnTo>
                  <a:pt x="11173984" y="0"/>
                </a:lnTo>
                <a:lnTo>
                  <a:pt x="11173984" y="7393794"/>
                </a:lnTo>
                <a:lnTo>
                  <a:pt x="0" y="7393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H="true" flipV="true">
            <a:off x="962025" y="1381601"/>
            <a:ext cx="0" cy="1164590"/>
          </a:xfrm>
          <a:prstGeom prst="line">
            <a:avLst/>
          </a:prstGeom>
          <a:ln cap="flat" w="133350">
            <a:solidFill>
              <a:srgbClr val="D15353"/>
            </a:solidFill>
            <a:prstDash val="solid"/>
            <a:headEnd type="none" len="sm" w="sm"/>
            <a:tailEnd type="none" len="sm" w="sm"/>
          </a:ln>
        </p:spPr>
      </p:sp>
      <p:sp>
        <p:nvSpPr>
          <p:cNvPr name="Freeform 5" id="5"/>
          <p:cNvSpPr/>
          <p:nvPr/>
        </p:nvSpPr>
        <p:spPr>
          <a:xfrm flipH="false" flipV="false" rot="0">
            <a:off x="-344546" y="0"/>
            <a:ext cx="18962901" cy="10287000"/>
          </a:xfrm>
          <a:custGeom>
            <a:avLst/>
            <a:gdLst/>
            <a:ahLst/>
            <a:cxnLst/>
            <a:rect r="r" b="b" t="t" l="l"/>
            <a:pathLst>
              <a:path h="10287000" w="18962901">
                <a:moveTo>
                  <a:pt x="0" y="0"/>
                </a:moveTo>
                <a:lnTo>
                  <a:pt x="18962902" y="0"/>
                </a:lnTo>
                <a:lnTo>
                  <a:pt x="18962902" y="10287000"/>
                </a:lnTo>
                <a:lnTo>
                  <a:pt x="0" y="10287000"/>
                </a:lnTo>
                <a:lnTo>
                  <a:pt x="0" y="0"/>
                </a:lnTo>
                <a:close/>
              </a:path>
            </a:pathLst>
          </a:custGeom>
          <a:blipFill>
            <a:blip r:embed="rId4"/>
            <a:stretch>
              <a:fillRect l="0" t="0" r="-4072" b="0"/>
            </a:stretch>
          </a:blipFill>
        </p:spPr>
      </p:sp>
      <p:sp>
        <p:nvSpPr>
          <p:cNvPr name="TextBox 6" id="6"/>
          <p:cNvSpPr txBox="true"/>
          <p:nvPr/>
        </p:nvSpPr>
        <p:spPr>
          <a:xfrm rot="0">
            <a:off x="614289" y="613727"/>
            <a:ext cx="8111145" cy="877571"/>
          </a:xfrm>
          <a:prstGeom prst="rect">
            <a:avLst/>
          </a:prstGeom>
        </p:spPr>
        <p:txBody>
          <a:bodyPr anchor="t" rtlCol="false" tIns="0" lIns="0" bIns="0" rIns="0">
            <a:spAutoFit/>
          </a:bodyPr>
          <a:lstStyle/>
          <a:p>
            <a:pPr algn="r" marL="0" indent="0" lvl="0">
              <a:lnSpc>
                <a:spcPts val="6710"/>
              </a:lnSpc>
            </a:pPr>
            <a:r>
              <a:rPr lang="en-US" b="true" sz="6100">
                <a:solidFill>
                  <a:srgbClr val="253439"/>
                </a:solidFill>
                <a:latin typeface="Glacial Indifference Bold"/>
                <a:ea typeface="Glacial Indifference Bold"/>
                <a:cs typeface="Glacial Indifference Bold"/>
                <a:sym typeface="Glacial Indifference Bold"/>
              </a:rPr>
              <a:t>FLOW OF THE SYSTEM</a:t>
            </a:r>
          </a:p>
        </p:txBody>
      </p:sp>
      <p:sp>
        <p:nvSpPr>
          <p:cNvPr name="AutoShape 7" id="7"/>
          <p:cNvSpPr/>
          <p:nvPr/>
        </p:nvSpPr>
        <p:spPr>
          <a:xfrm flipH="true" flipV="true">
            <a:off x="614289" y="456404"/>
            <a:ext cx="0" cy="1164590"/>
          </a:xfrm>
          <a:prstGeom prst="line">
            <a:avLst/>
          </a:prstGeom>
          <a:ln cap="flat" w="133350">
            <a:solidFill>
              <a:srgbClr val="D15353"/>
            </a:solidFill>
            <a:prstDash val="solid"/>
            <a:headEnd type="none" len="sm" w="sm"/>
            <a:tailEnd type="none" len="sm" w="sm"/>
          </a:ln>
        </p:spPr>
      </p:sp>
      <p:sp>
        <p:nvSpPr>
          <p:cNvPr name="Freeform 8" id="8"/>
          <p:cNvSpPr/>
          <p:nvPr/>
        </p:nvSpPr>
        <p:spPr>
          <a:xfrm flipH="false" flipV="false" rot="5400000">
            <a:off x="11002461" y="3973688"/>
            <a:ext cx="11173984" cy="7393795"/>
          </a:xfrm>
          <a:custGeom>
            <a:avLst/>
            <a:gdLst/>
            <a:ahLst/>
            <a:cxnLst/>
            <a:rect r="r" b="b" t="t" l="l"/>
            <a:pathLst>
              <a:path h="7393795" w="11173984">
                <a:moveTo>
                  <a:pt x="0" y="0"/>
                </a:moveTo>
                <a:lnTo>
                  <a:pt x="11173985" y="0"/>
                </a:lnTo>
                <a:lnTo>
                  <a:pt x="11173985" y="7393794"/>
                </a:lnTo>
                <a:lnTo>
                  <a:pt x="0" y="7393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6371445" y="5566240"/>
            <a:ext cx="3346188" cy="1312576"/>
            <a:chOff x="0" y="0"/>
            <a:chExt cx="881300" cy="345699"/>
          </a:xfrm>
        </p:grpSpPr>
        <p:sp>
          <p:nvSpPr>
            <p:cNvPr name="Freeform 10" id="10"/>
            <p:cNvSpPr/>
            <p:nvPr/>
          </p:nvSpPr>
          <p:spPr>
            <a:xfrm flipH="false" flipV="false" rot="0">
              <a:off x="0" y="0"/>
              <a:ext cx="881300" cy="345699"/>
            </a:xfrm>
            <a:custGeom>
              <a:avLst/>
              <a:gdLst/>
              <a:ahLst/>
              <a:cxnLst/>
              <a:rect r="r" b="b" t="t" l="l"/>
              <a:pathLst>
                <a:path h="345699" w="881300">
                  <a:moveTo>
                    <a:pt x="203200" y="0"/>
                  </a:moveTo>
                  <a:lnTo>
                    <a:pt x="881300" y="0"/>
                  </a:lnTo>
                  <a:lnTo>
                    <a:pt x="678100" y="345699"/>
                  </a:lnTo>
                  <a:lnTo>
                    <a:pt x="0" y="345699"/>
                  </a:lnTo>
                  <a:lnTo>
                    <a:pt x="203200" y="0"/>
                  </a:lnTo>
                  <a:close/>
                </a:path>
              </a:pathLst>
            </a:custGeom>
            <a:solidFill>
              <a:srgbClr val="FFFFFF"/>
            </a:solidFill>
            <a:ln w="38100" cap="sq">
              <a:solidFill>
                <a:srgbClr val="000000"/>
              </a:solidFill>
              <a:prstDash val="solid"/>
              <a:miter/>
            </a:ln>
          </p:spPr>
        </p:sp>
        <p:sp>
          <p:nvSpPr>
            <p:cNvPr name="TextBox 11" id="11"/>
            <p:cNvSpPr txBox="true"/>
            <p:nvPr/>
          </p:nvSpPr>
          <p:spPr>
            <a:xfrm>
              <a:off x="101600" y="-38100"/>
              <a:ext cx="678100" cy="383799"/>
            </a:xfrm>
            <a:prstGeom prst="rect">
              <a:avLst/>
            </a:prstGeom>
          </p:spPr>
          <p:txBody>
            <a:bodyPr anchor="ctr" rtlCol="false" tIns="50800" lIns="50800" bIns="50800" rIns="50800"/>
            <a:lstStyle/>
            <a:p>
              <a:pPr algn="ctr">
                <a:lnSpc>
                  <a:spcPts val="2659"/>
                </a:lnSpc>
                <a:spcBef>
                  <a:spcPct val="0"/>
                </a:spcBef>
              </a:pPr>
              <a:r>
                <a:rPr lang="en-US" sz="1899">
                  <a:solidFill>
                    <a:srgbClr val="FFFFFF"/>
                  </a:solidFill>
                  <a:latin typeface="Canva Sans"/>
                  <a:ea typeface="Canva Sans"/>
                  <a:cs typeface="Canva Sans"/>
                  <a:sym typeface="Canva Sans"/>
                </a:rPr>
                <a:t>M</a:t>
              </a:r>
            </a:p>
          </p:txBody>
        </p:sp>
      </p:grpSp>
      <p:sp>
        <p:nvSpPr>
          <p:cNvPr name="TextBox 12" id="12"/>
          <p:cNvSpPr txBox="true"/>
          <p:nvPr/>
        </p:nvSpPr>
        <p:spPr>
          <a:xfrm rot="0">
            <a:off x="8913095" y="9267825"/>
            <a:ext cx="2967478" cy="292507"/>
          </a:xfrm>
          <a:prstGeom prst="rect">
            <a:avLst/>
          </a:prstGeom>
        </p:spPr>
        <p:txBody>
          <a:bodyPr anchor="t" rtlCol="false" tIns="0" lIns="0" bIns="0" rIns="0">
            <a:spAutoFit/>
          </a:bodyPr>
          <a:lstStyle/>
          <a:p>
            <a:pPr algn="ctr">
              <a:lnSpc>
                <a:spcPts val="2235"/>
              </a:lnSpc>
              <a:spcBef>
                <a:spcPct val="0"/>
              </a:spcBef>
            </a:pPr>
          </a:p>
        </p:txBody>
      </p:sp>
      <p:sp>
        <p:nvSpPr>
          <p:cNvPr name="TextBox 13" id="13"/>
          <p:cNvSpPr txBox="true"/>
          <p:nvPr/>
        </p:nvSpPr>
        <p:spPr>
          <a:xfrm rot="0">
            <a:off x="7042454" y="5828947"/>
            <a:ext cx="2004169" cy="749061"/>
          </a:xfrm>
          <a:prstGeom prst="rect">
            <a:avLst/>
          </a:prstGeom>
        </p:spPr>
        <p:txBody>
          <a:bodyPr anchor="t" rtlCol="false" tIns="0" lIns="0" bIns="0" rIns="0">
            <a:spAutoFit/>
          </a:bodyPr>
          <a:lstStyle/>
          <a:p>
            <a:pPr algn="ctr">
              <a:lnSpc>
                <a:spcPts val="3038"/>
              </a:lnSpc>
            </a:pPr>
            <a:r>
              <a:rPr lang="en-US" sz="2170">
                <a:solidFill>
                  <a:srgbClr val="253439"/>
                </a:solidFill>
                <a:latin typeface="Canva Sans"/>
                <a:ea typeface="Canva Sans"/>
                <a:cs typeface="Canva Sans"/>
                <a:sym typeface="Canva Sans"/>
              </a:rPr>
              <a:t>Meal palnning algorithm</a:t>
            </a:r>
            <a:r>
              <a:rPr lang="en-US" sz="2170">
                <a:solidFill>
                  <a:srgbClr val="253439"/>
                </a:solidFill>
                <a:latin typeface="Canva Sans"/>
                <a:ea typeface="Canva Sans"/>
                <a:cs typeface="Canva Sans"/>
                <a:sym typeface="Canva Sans"/>
              </a:rPr>
              <a:t> </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413263" y="1470335"/>
            <a:ext cx="7376921" cy="877571"/>
          </a:xfrm>
          <a:prstGeom prst="rect">
            <a:avLst/>
          </a:prstGeom>
        </p:spPr>
        <p:txBody>
          <a:bodyPr anchor="t" rtlCol="false" tIns="0" lIns="0" bIns="0" rIns="0">
            <a:spAutoFit/>
          </a:bodyPr>
          <a:lstStyle/>
          <a:p>
            <a:pPr algn="r" marL="0" indent="0" lvl="0">
              <a:lnSpc>
                <a:spcPts val="6710"/>
              </a:lnSpc>
            </a:pPr>
            <a:r>
              <a:rPr lang="en-US" b="true" sz="6100">
                <a:solidFill>
                  <a:srgbClr val="253439"/>
                </a:solidFill>
                <a:latin typeface="Glacial Indifference Bold"/>
                <a:ea typeface="Glacial Indifference Bold"/>
                <a:cs typeface="Glacial Indifference Bold"/>
                <a:sym typeface="Glacial Indifference Bold"/>
              </a:rPr>
              <a:t>CURRENT PROGRESS</a:t>
            </a:r>
          </a:p>
        </p:txBody>
      </p:sp>
      <p:sp>
        <p:nvSpPr>
          <p:cNvPr name="AutoShape 3" id="3"/>
          <p:cNvSpPr/>
          <p:nvPr/>
        </p:nvSpPr>
        <p:spPr>
          <a:xfrm flipH="true" flipV="true">
            <a:off x="1149705" y="1307769"/>
            <a:ext cx="0" cy="1164590"/>
          </a:xfrm>
          <a:prstGeom prst="line">
            <a:avLst/>
          </a:prstGeom>
          <a:ln cap="flat" w="133350">
            <a:solidFill>
              <a:srgbClr val="D15353"/>
            </a:solidFill>
            <a:prstDash val="solid"/>
            <a:headEnd type="none" len="sm" w="sm"/>
            <a:tailEnd type="none" len="sm" w="sm"/>
          </a:ln>
        </p:spPr>
      </p:sp>
      <p:sp>
        <p:nvSpPr>
          <p:cNvPr name="TextBox 4" id="4"/>
          <p:cNvSpPr txBox="true"/>
          <p:nvPr/>
        </p:nvSpPr>
        <p:spPr>
          <a:xfrm rot="0">
            <a:off x="937833" y="3462331"/>
            <a:ext cx="5148858" cy="571500"/>
          </a:xfrm>
          <a:prstGeom prst="rect">
            <a:avLst/>
          </a:prstGeom>
        </p:spPr>
        <p:txBody>
          <a:bodyPr anchor="t" rtlCol="false" tIns="0" lIns="0" bIns="0" rIns="0">
            <a:spAutoFit/>
          </a:bodyPr>
          <a:lstStyle/>
          <a:p>
            <a:pPr algn="ctr">
              <a:lnSpc>
                <a:spcPts val="4550"/>
              </a:lnSpc>
              <a:spcBef>
                <a:spcPct val="0"/>
              </a:spcBef>
            </a:pPr>
            <a:r>
              <a:rPr lang="en-US" sz="3791">
                <a:solidFill>
                  <a:srgbClr val="253439"/>
                </a:solidFill>
                <a:latin typeface="Glacial Indifference"/>
                <a:ea typeface="Glacial Indifference"/>
                <a:cs typeface="Glacial Indifference"/>
                <a:sym typeface="Glacial Indifference"/>
              </a:rPr>
              <a:t>What i have completed...</a:t>
            </a:r>
          </a:p>
        </p:txBody>
      </p:sp>
      <p:sp>
        <p:nvSpPr>
          <p:cNvPr name="Freeform 5" id="5"/>
          <p:cNvSpPr/>
          <p:nvPr/>
        </p:nvSpPr>
        <p:spPr>
          <a:xfrm flipH="false" flipV="false" rot="-5400000">
            <a:off x="10603260" y="4362454"/>
            <a:ext cx="11173984" cy="7393795"/>
          </a:xfrm>
          <a:custGeom>
            <a:avLst/>
            <a:gdLst/>
            <a:ahLst/>
            <a:cxnLst/>
            <a:rect r="r" b="b" t="t" l="l"/>
            <a:pathLst>
              <a:path h="7393795" w="11173984">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9139238" y="4728527"/>
            <a:ext cx="9525" cy="877571"/>
          </a:xfrm>
          <a:prstGeom prst="rect">
            <a:avLst/>
          </a:prstGeom>
        </p:spPr>
        <p:txBody>
          <a:bodyPr anchor="t" rtlCol="false" tIns="0" lIns="0" bIns="0" rIns="0">
            <a:spAutoFit/>
          </a:bodyPr>
          <a:lstStyle/>
          <a:p>
            <a:pPr algn="ctr">
              <a:lnSpc>
                <a:spcPts val="6710"/>
              </a:lnSpc>
              <a:spcBef>
                <a:spcPct val="0"/>
              </a:spcBef>
            </a:pPr>
          </a:p>
        </p:txBody>
      </p:sp>
      <p:sp>
        <p:nvSpPr>
          <p:cNvPr name="TextBox 7" id="7"/>
          <p:cNvSpPr txBox="true"/>
          <p:nvPr/>
        </p:nvSpPr>
        <p:spPr>
          <a:xfrm rot="0">
            <a:off x="1440533" y="4614227"/>
            <a:ext cx="14749719" cy="4780915"/>
          </a:xfrm>
          <a:prstGeom prst="rect">
            <a:avLst/>
          </a:prstGeom>
        </p:spPr>
        <p:txBody>
          <a:bodyPr anchor="t" rtlCol="false" tIns="0" lIns="0" bIns="0" rIns="0">
            <a:spAutoFit/>
          </a:bodyPr>
          <a:lstStyle/>
          <a:p>
            <a:pPr algn="just" marL="734059" indent="-367030" lvl="1">
              <a:lnSpc>
                <a:spcPts val="4759"/>
              </a:lnSpc>
              <a:buFont typeface="Arial"/>
              <a:buChar char="•"/>
            </a:pPr>
            <a:r>
              <a:rPr lang="en-US" sz="3399">
                <a:solidFill>
                  <a:srgbClr val="253439"/>
                </a:solidFill>
                <a:latin typeface="Canva Sans"/>
                <a:ea typeface="Canva Sans"/>
                <a:cs typeface="Canva Sans"/>
                <a:sym typeface="Canva Sans"/>
              </a:rPr>
              <a:t>Develop food image recognition algorithms for accurate i</a:t>
            </a:r>
            <a:r>
              <a:rPr lang="en-US" sz="3399">
                <a:solidFill>
                  <a:srgbClr val="253439"/>
                </a:solidFill>
                <a:latin typeface="Canva Sans"/>
                <a:ea typeface="Canva Sans"/>
                <a:cs typeface="Canva Sans"/>
                <a:sym typeface="Canva Sans"/>
              </a:rPr>
              <a:t>dentification of food items.</a:t>
            </a:r>
          </a:p>
          <a:p>
            <a:pPr algn="just" marL="734059" indent="-367030" lvl="1">
              <a:lnSpc>
                <a:spcPts val="4759"/>
              </a:lnSpc>
              <a:buFont typeface="Arial"/>
              <a:buChar char="•"/>
            </a:pPr>
            <a:r>
              <a:rPr lang="en-US" sz="3399">
                <a:solidFill>
                  <a:srgbClr val="253439"/>
                </a:solidFill>
                <a:latin typeface="Canva Sans"/>
                <a:ea typeface="Canva Sans"/>
                <a:cs typeface="Canva Sans"/>
                <a:sym typeface="Canva Sans"/>
              </a:rPr>
              <a:t>Implement nutritional analysis algorithms to provide detailed dietary information. (Predicting the calory count of the meal).</a:t>
            </a:r>
          </a:p>
          <a:p>
            <a:pPr algn="just" marL="734059" indent="-367030" lvl="1">
              <a:lnSpc>
                <a:spcPts val="4759"/>
              </a:lnSpc>
              <a:buFont typeface="Arial"/>
              <a:buChar char="•"/>
            </a:pPr>
            <a:r>
              <a:rPr lang="en-US" sz="3399">
                <a:solidFill>
                  <a:srgbClr val="253439"/>
                </a:solidFill>
                <a:latin typeface="Canva Sans"/>
                <a:ea typeface="Canva Sans"/>
                <a:cs typeface="Canva Sans"/>
                <a:sym typeface="Canva Sans"/>
              </a:rPr>
              <a:t>Implemented the meal planning model with getting user input.</a:t>
            </a:r>
          </a:p>
          <a:p>
            <a:pPr algn="just" marL="734059" indent="-367030" lvl="1">
              <a:lnSpc>
                <a:spcPts val="4759"/>
              </a:lnSpc>
              <a:buFont typeface="Arial"/>
              <a:buChar char="•"/>
            </a:pPr>
            <a:r>
              <a:rPr lang="en-US" sz="3399">
                <a:solidFill>
                  <a:srgbClr val="253439"/>
                </a:solidFill>
                <a:latin typeface="Canva Sans"/>
                <a:ea typeface="Canva Sans"/>
                <a:cs typeface="Canva Sans"/>
                <a:sym typeface="Canva Sans"/>
              </a:rPr>
              <a:t>Successfully Integrated Both backends with the flutter frontend</a:t>
            </a:r>
          </a:p>
          <a:p>
            <a:pPr algn="just">
              <a:lnSpc>
                <a:spcPts val="4759"/>
              </a:lnSpc>
            </a:pPr>
          </a:p>
          <a:p>
            <a:pPr algn="just">
              <a:lnSpc>
                <a:spcPts val="4759"/>
              </a:lnSpc>
            </a:pP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413263" y="1470335"/>
            <a:ext cx="4841703" cy="877571"/>
          </a:xfrm>
          <a:prstGeom prst="rect">
            <a:avLst/>
          </a:prstGeom>
        </p:spPr>
        <p:txBody>
          <a:bodyPr anchor="t" rtlCol="false" tIns="0" lIns="0" bIns="0" rIns="0">
            <a:spAutoFit/>
          </a:bodyPr>
          <a:lstStyle/>
          <a:p>
            <a:pPr algn="r" marL="0" indent="0" lvl="0">
              <a:lnSpc>
                <a:spcPts val="6710"/>
              </a:lnSpc>
            </a:pPr>
            <a:r>
              <a:rPr lang="en-US" b="true" sz="6100">
                <a:solidFill>
                  <a:srgbClr val="253439"/>
                </a:solidFill>
                <a:latin typeface="Glacial Indifference Bold"/>
                <a:ea typeface="Glacial Indifference Bold"/>
                <a:cs typeface="Glacial Indifference Bold"/>
                <a:sym typeface="Glacial Indifference Bold"/>
              </a:rPr>
              <a:t>CHALLENGES</a:t>
            </a:r>
          </a:p>
        </p:txBody>
      </p:sp>
      <p:sp>
        <p:nvSpPr>
          <p:cNvPr name="AutoShape 3" id="3"/>
          <p:cNvSpPr/>
          <p:nvPr/>
        </p:nvSpPr>
        <p:spPr>
          <a:xfrm flipH="true" flipV="true">
            <a:off x="1149705" y="1307769"/>
            <a:ext cx="0" cy="1164590"/>
          </a:xfrm>
          <a:prstGeom prst="line">
            <a:avLst/>
          </a:prstGeom>
          <a:ln cap="flat" w="133350">
            <a:solidFill>
              <a:srgbClr val="D15353"/>
            </a:solidFill>
            <a:prstDash val="solid"/>
            <a:headEnd type="none" len="sm" w="sm"/>
            <a:tailEnd type="none" len="sm" w="sm"/>
          </a:ln>
        </p:spPr>
      </p:sp>
      <p:sp>
        <p:nvSpPr>
          <p:cNvPr name="Freeform 4" id="4"/>
          <p:cNvSpPr/>
          <p:nvPr/>
        </p:nvSpPr>
        <p:spPr>
          <a:xfrm flipH="false" flipV="false" rot="-5400000">
            <a:off x="10603260" y="4362454"/>
            <a:ext cx="11173984" cy="7393795"/>
          </a:xfrm>
          <a:custGeom>
            <a:avLst/>
            <a:gdLst/>
            <a:ahLst/>
            <a:cxnLst/>
            <a:rect r="r" b="b" t="t" l="l"/>
            <a:pathLst>
              <a:path h="7393795" w="11173984">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9139238" y="4728527"/>
            <a:ext cx="9525" cy="877571"/>
          </a:xfrm>
          <a:prstGeom prst="rect">
            <a:avLst/>
          </a:prstGeom>
        </p:spPr>
        <p:txBody>
          <a:bodyPr anchor="t" rtlCol="false" tIns="0" lIns="0" bIns="0" rIns="0">
            <a:spAutoFit/>
          </a:bodyPr>
          <a:lstStyle/>
          <a:p>
            <a:pPr algn="ctr">
              <a:lnSpc>
                <a:spcPts val="6710"/>
              </a:lnSpc>
              <a:spcBef>
                <a:spcPct val="0"/>
              </a:spcBef>
            </a:pPr>
          </a:p>
        </p:txBody>
      </p:sp>
      <p:sp>
        <p:nvSpPr>
          <p:cNvPr name="TextBox 6" id="6"/>
          <p:cNvSpPr txBox="true"/>
          <p:nvPr/>
        </p:nvSpPr>
        <p:spPr>
          <a:xfrm rot="0">
            <a:off x="1440533" y="4614227"/>
            <a:ext cx="14749719" cy="2980690"/>
          </a:xfrm>
          <a:prstGeom prst="rect">
            <a:avLst/>
          </a:prstGeom>
        </p:spPr>
        <p:txBody>
          <a:bodyPr anchor="t" rtlCol="false" tIns="0" lIns="0" bIns="0" rIns="0">
            <a:spAutoFit/>
          </a:bodyPr>
          <a:lstStyle/>
          <a:p>
            <a:pPr algn="just" marL="734059" indent="-367030" lvl="1">
              <a:lnSpc>
                <a:spcPts val="4759"/>
              </a:lnSpc>
              <a:buFont typeface="Arial"/>
              <a:buChar char="•"/>
            </a:pPr>
            <a:r>
              <a:rPr lang="en-US" sz="3399">
                <a:solidFill>
                  <a:srgbClr val="253439"/>
                </a:solidFill>
                <a:latin typeface="Canva Sans"/>
                <a:ea typeface="Canva Sans"/>
                <a:cs typeface="Canva Sans"/>
                <a:sym typeface="Canva Sans"/>
              </a:rPr>
              <a:t>Dataset Collection - Had to manually Capture Sri Lankan Food Images</a:t>
            </a:r>
          </a:p>
          <a:p>
            <a:pPr algn="just" marL="734059" indent="-367030" lvl="1">
              <a:lnSpc>
                <a:spcPts val="4759"/>
              </a:lnSpc>
              <a:buFont typeface="Arial"/>
              <a:buChar char="•"/>
            </a:pPr>
            <a:r>
              <a:rPr lang="en-US" sz="3399">
                <a:solidFill>
                  <a:srgbClr val="253439"/>
                </a:solidFill>
                <a:latin typeface="Canva Sans"/>
                <a:ea typeface="Canva Sans"/>
                <a:cs typeface="Canva Sans"/>
                <a:sym typeface="Canva Sans"/>
              </a:rPr>
              <a:t>Calory mapping - Hard to find exact calorie amounts for some Sri Lanka Food Items</a:t>
            </a:r>
          </a:p>
          <a:p>
            <a:pPr algn="just">
              <a:lnSpc>
                <a:spcPts val="4759"/>
              </a:lnSpc>
            </a:pPr>
          </a:p>
        </p:txBody>
      </p:sp>
    </p:spTree>
  </p:cSld>
  <p:clrMapOvr>
    <a:masterClrMapping/>
  </p:clrMapOvr>
</p:sld>
</file>

<file path=ppt/slides/slide44.xml><?xml version="1.0" encoding="utf-8"?>
<p:sld xmlns:p="http://schemas.openxmlformats.org/presentationml/2006/main" xmlns:a="http://schemas.openxmlformats.org/drawingml/2006/main">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flipH="true" flipV="true">
            <a:off x="1028700" y="1028700"/>
            <a:ext cx="0" cy="1164590"/>
          </a:xfrm>
          <a:prstGeom prst="line">
            <a:avLst/>
          </a:prstGeom>
          <a:ln cap="flat" w="133350">
            <a:solidFill>
              <a:srgbClr val="D15353"/>
            </a:solidFill>
            <a:prstDash val="solid"/>
            <a:headEnd type="none" len="sm" w="sm"/>
            <a:tailEnd type="none" len="sm" w="sm"/>
          </a:ln>
        </p:spPr>
      </p:sp>
      <p:sp>
        <p:nvSpPr>
          <p:cNvPr name="TextBox 3" id="3"/>
          <p:cNvSpPr txBox="true"/>
          <p:nvPr/>
        </p:nvSpPr>
        <p:spPr>
          <a:xfrm rot="0">
            <a:off x="1261268" y="761277"/>
            <a:ext cx="7119809" cy="2219962"/>
          </a:xfrm>
          <a:prstGeom prst="rect">
            <a:avLst/>
          </a:prstGeom>
        </p:spPr>
        <p:txBody>
          <a:bodyPr anchor="t" rtlCol="false" tIns="0" lIns="0" bIns="0" rIns="0">
            <a:spAutoFit/>
          </a:bodyPr>
          <a:lstStyle/>
          <a:p>
            <a:pPr algn="r" marL="0" indent="0" lvl="0">
              <a:lnSpc>
                <a:spcPts val="5830"/>
              </a:lnSpc>
            </a:pPr>
            <a:r>
              <a:rPr lang="en-US" b="true" sz="5300">
                <a:solidFill>
                  <a:srgbClr val="253439"/>
                </a:solidFill>
                <a:latin typeface="Glacial Indifference Bold"/>
                <a:ea typeface="Glacial Indifference Bold"/>
                <a:cs typeface="Glacial Indifference Bold"/>
                <a:sym typeface="Glacial Indifference Bold"/>
              </a:rPr>
              <a:t>MARKETABILITY AND COMMERCIALIZATION OPPORTUNITIES</a:t>
            </a:r>
          </a:p>
        </p:txBody>
      </p:sp>
      <p:sp>
        <p:nvSpPr>
          <p:cNvPr name="TextBox 4" id="4"/>
          <p:cNvSpPr txBox="true"/>
          <p:nvPr/>
        </p:nvSpPr>
        <p:spPr>
          <a:xfrm rot="0">
            <a:off x="762982" y="3589447"/>
            <a:ext cx="7618095" cy="1127313"/>
          </a:xfrm>
          <a:prstGeom prst="rect">
            <a:avLst/>
          </a:prstGeom>
        </p:spPr>
        <p:txBody>
          <a:bodyPr anchor="t" rtlCol="false" tIns="0" lIns="0" bIns="0" rIns="0">
            <a:spAutoFit/>
          </a:bodyPr>
          <a:lstStyle/>
          <a:p>
            <a:pPr algn="ctr">
              <a:lnSpc>
                <a:spcPts val="4539"/>
              </a:lnSpc>
            </a:pPr>
            <a:r>
              <a:rPr lang="en-US" sz="3242" b="true">
                <a:solidFill>
                  <a:srgbClr val="253439"/>
                </a:solidFill>
                <a:latin typeface="Canva Sans Bold"/>
                <a:ea typeface="Canva Sans Bold"/>
                <a:cs typeface="Canva Sans Bold"/>
                <a:sym typeface="Canva Sans Bold"/>
              </a:rPr>
              <a:t>Target Audience and Market Potential</a:t>
            </a:r>
          </a:p>
          <a:p>
            <a:pPr algn="ctr">
              <a:lnSpc>
                <a:spcPts val="4539"/>
              </a:lnSpc>
            </a:pPr>
            <a:r>
              <a:rPr lang="en-US" sz="3242" b="true">
                <a:solidFill>
                  <a:srgbClr val="253439"/>
                </a:solidFill>
                <a:latin typeface="Canva Sans Bold"/>
                <a:ea typeface="Canva Sans Bold"/>
                <a:cs typeface="Canva Sans Bold"/>
                <a:sym typeface="Canva Sans Bold"/>
              </a:rPr>
              <a:t> </a:t>
            </a:r>
          </a:p>
        </p:txBody>
      </p:sp>
      <p:sp>
        <p:nvSpPr>
          <p:cNvPr name="TextBox 5" id="5"/>
          <p:cNvSpPr txBox="true"/>
          <p:nvPr/>
        </p:nvSpPr>
        <p:spPr>
          <a:xfrm rot="0">
            <a:off x="1368449" y="4669134"/>
            <a:ext cx="15890851" cy="4928967"/>
          </a:xfrm>
          <a:prstGeom prst="rect">
            <a:avLst/>
          </a:prstGeom>
        </p:spPr>
        <p:txBody>
          <a:bodyPr anchor="t" rtlCol="false" tIns="0" lIns="0" bIns="0" rIns="0">
            <a:spAutoFit/>
          </a:bodyPr>
          <a:lstStyle/>
          <a:p>
            <a:pPr algn="ctr" marL="609097" indent="-304549" lvl="1">
              <a:lnSpc>
                <a:spcPts val="3949"/>
              </a:lnSpc>
              <a:buFont typeface="Arial"/>
              <a:buChar char="•"/>
            </a:pPr>
            <a:r>
              <a:rPr lang="en-US" sz="2821">
                <a:solidFill>
                  <a:srgbClr val="253439"/>
                </a:solidFill>
                <a:latin typeface="Canva Sans"/>
                <a:ea typeface="Canva Sans"/>
                <a:cs typeface="Canva Sans"/>
                <a:sym typeface="Canva Sans"/>
              </a:rPr>
              <a:t> Primary target users for the Fitflow app, such as health-conscious individuals, fitness enthusiasts, an</a:t>
            </a:r>
            <a:r>
              <a:rPr lang="en-US" sz="2821">
                <a:solidFill>
                  <a:srgbClr val="253439"/>
                </a:solidFill>
                <a:latin typeface="Canva Sans"/>
                <a:ea typeface="Canva Sans"/>
                <a:cs typeface="Canva Sans"/>
                <a:sym typeface="Canva Sans"/>
              </a:rPr>
              <a:t>d those with specific dietary needs or weight management goals.</a:t>
            </a:r>
          </a:p>
          <a:p>
            <a:pPr algn="ctr">
              <a:lnSpc>
                <a:spcPts val="3949"/>
              </a:lnSpc>
            </a:pPr>
          </a:p>
          <a:p>
            <a:pPr algn="ctr" marL="609097" indent="-304549" lvl="1">
              <a:lnSpc>
                <a:spcPts val="3949"/>
              </a:lnSpc>
              <a:buFont typeface="Arial"/>
              <a:buChar char="•"/>
            </a:pPr>
            <a:r>
              <a:rPr lang="en-US" sz="2821">
                <a:solidFill>
                  <a:srgbClr val="253439"/>
                </a:solidFill>
                <a:latin typeface="Canva Sans"/>
                <a:ea typeface="Canva Sans"/>
                <a:cs typeface="Canva Sans"/>
                <a:sym typeface="Canva Sans"/>
              </a:rPr>
              <a:t> Size and growth potential of the mobile health and fitness app market, which is expected to continue expanding rapidly in the coming years. According to the reports.</a:t>
            </a:r>
          </a:p>
          <a:p>
            <a:pPr algn="ctr">
              <a:lnSpc>
                <a:spcPts val="3949"/>
              </a:lnSpc>
            </a:pPr>
          </a:p>
          <a:p>
            <a:pPr algn="ctr" marL="609097" indent="-304549" lvl="1">
              <a:lnSpc>
                <a:spcPts val="3949"/>
              </a:lnSpc>
              <a:buFont typeface="Arial"/>
              <a:buChar char="•"/>
            </a:pPr>
            <a:r>
              <a:rPr lang="en-US" sz="2821">
                <a:solidFill>
                  <a:srgbClr val="253439"/>
                </a:solidFill>
                <a:latin typeface="Canva Sans"/>
                <a:ea typeface="Canva Sans"/>
                <a:cs typeface="Canva Sans"/>
                <a:sym typeface="Canva Sans"/>
              </a:rPr>
              <a:t>Outline marketing and promotion strategies to attract new users, such as social media campaigns, influencer collaborations, and targeted advertising.</a:t>
            </a:r>
          </a:p>
          <a:p>
            <a:pPr algn="ctr">
              <a:lnSpc>
                <a:spcPts val="3949"/>
              </a:lnSpc>
            </a:pPr>
          </a:p>
          <a:p>
            <a:pPr algn="ctr">
              <a:lnSpc>
                <a:spcPts val="3949"/>
              </a:lnSpc>
            </a:pP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flipH="true" flipV="true">
            <a:off x="1028700" y="1028700"/>
            <a:ext cx="0" cy="1164590"/>
          </a:xfrm>
          <a:prstGeom prst="line">
            <a:avLst/>
          </a:prstGeom>
          <a:ln cap="flat" w="133350">
            <a:solidFill>
              <a:srgbClr val="D15353"/>
            </a:solidFill>
            <a:prstDash val="solid"/>
            <a:headEnd type="none" len="sm" w="sm"/>
            <a:tailEnd type="none" len="sm" w="sm"/>
          </a:ln>
        </p:spPr>
      </p:sp>
      <p:sp>
        <p:nvSpPr>
          <p:cNvPr name="Freeform 3" id="3"/>
          <p:cNvSpPr/>
          <p:nvPr/>
        </p:nvSpPr>
        <p:spPr>
          <a:xfrm flipH="false" flipV="false" rot="0">
            <a:off x="1983213" y="3604440"/>
            <a:ext cx="4767719" cy="6356958"/>
          </a:xfrm>
          <a:custGeom>
            <a:avLst/>
            <a:gdLst/>
            <a:ahLst/>
            <a:cxnLst/>
            <a:rect r="r" b="b" t="t" l="l"/>
            <a:pathLst>
              <a:path h="6356958" w="4767719">
                <a:moveTo>
                  <a:pt x="0" y="0"/>
                </a:moveTo>
                <a:lnTo>
                  <a:pt x="4767719" y="0"/>
                </a:lnTo>
                <a:lnTo>
                  <a:pt x="4767719" y="6356958"/>
                </a:lnTo>
                <a:lnTo>
                  <a:pt x="0" y="6356958"/>
                </a:lnTo>
                <a:lnTo>
                  <a:pt x="0" y="0"/>
                </a:lnTo>
                <a:close/>
              </a:path>
            </a:pathLst>
          </a:custGeom>
          <a:blipFill>
            <a:blip r:embed="rId2"/>
            <a:stretch>
              <a:fillRect l="0" t="0" r="0" b="0"/>
            </a:stretch>
          </a:blipFill>
        </p:spPr>
      </p:sp>
      <p:sp>
        <p:nvSpPr>
          <p:cNvPr name="Freeform 4" id="4"/>
          <p:cNvSpPr/>
          <p:nvPr/>
        </p:nvSpPr>
        <p:spPr>
          <a:xfrm flipH="false" flipV="false" rot="0">
            <a:off x="8340209" y="3797583"/>
            <a:ext cx="7960894" cy="5970671"/>
          </a:xfrm>
          <a:custGeom>
            <a:avLst/>
            <a:gdLst/>
            <a:ahLst/>
            <a:cxnLst/>
            <a:rect r="r" b="b" t="t" l="l"/>
            <a:pathLst>
              <a:path h="5970671" w="7960894">
                <a:moveTo>
                  <a:pt x="0" y="0"/>
                </a:moveTo>
                <a:lnTo>
                  <a:pt x="7960894" y="0"/>
                </a:lnTo>
                <a:lnTo>
                  <a:pt x="7960894" y="5970671"/>
                </a:lnTo>
                <a:lnTo>
                  <a:pt x="0" y="5970671"/>
                </a:lnTo>
                <a:lnTo>
                  <a:pt x="0" y="0"/>
                </a:lnTo>
                <a:close/>
              </a:path>
            </a:pathLst>
          </a:custGeom>
          <a:blipFill>
            <a:blip r:embed="rId3"/>
            <a:stretch>
              <a:fillRect l="0" t="0" r="0" b="0"/>
            </a:stretch>
          </a:blipFill>
        </p:spPr>
      </p:sp>
      <p:sp>
        <p:nvSpPr>
          <p:cNvPr name="TextBox 5" id="5"/>
          <p:cNvSpPr txBox="true"/>
          <p:nvPr/>
        </p:nvSpPr>
        <p:spPr>
          <a:xfrm rot="0">
            <a:off x="1028700" y="2663014"/>
            <a:ext cx="7311509" cy="555813"/>
          </a:xfrm>
          <a:prstGeom prst="rect">
            <a:avLst/>
          </a:prstGeom>
        </p:spPr>
        <p:txBody>
          <a:bodyPr anchor="t" rtlCol="false" tIns="0" lIns="0" bIns="0" rIns="0">
            <a:spAutoFit/>
          </a:bodyPr>
          <a:lstStyle/>
          <a:p>
            <a:pPr algn="ctr">
              <a:lnSpc>
                <a:spcPts val="4539"/>
              </a:lnSpc>
            </a:pPr>
            <a:r>
              <a:rPr lang="en-US" sz="3242" b="true">
                <a:solidFill>
                  <a:srgbClr val="253439"/>
                </a:solidFill>
                <a:latin typeface="Canva Sans Bold"/>
                <a:ea typeface="Canva Sans Bold"/>
                <a:cs typeface="Canva Sans Bold"/>
                <a:sym typeface="Canva Sans Bold"/>
              </a:rPr>
              <a:t>ICCMM2025 -University Of Colombo</a:t>
            </a:r>
          </a:p>
        </p:txBody>
      </p:sp>
      <p:sp>
        <p:nvSpPr>
          <p:cNvPr name="TextBox 6" id="6"/>
          <p:cNvSpPr txBox="true"/>
          <p:nvPr/>
        </p:nvSpPr>
        <p:spPr>
          <a:xfrm rot="0">
            <a:off x="1028700" y="1250931"/>
            <a:ext cx="4877117" cy="753112"/>
          </a:xfrm>
          <a:prstGeom prst="rect">
            <a:avLst/>
          </a:prstGeom>
        </p:spPr>
        <p:txBody>
          <a:bodyPr anchor="t" rtlCol="false" tIns="0" lIns="0" bIns="0" rIns="0">
            <a:spAutoFit/>
          </a:bodyPr>
          <a:lstStyle/>
          <a:p>
            <a:pPr algn="r" marL="0" indent="0" lvl="0">
              <a:lnSpc>
                <a:spcPts val="5830"/>
              </a:lnSpc>
            </a:pPr>
            <a:r>
              <a:rPr lang="en-US" b="true" sz="5300">
                <a:solidFill>
                  <a:srgbClr val="253439"/>
                </a:solidFill>
                <a:latin typeface="Glacial Indifference Bold"/>
                <a:ea typeface="Glacial Indifference Bold"/>
                <a:cs typeface="Glacial Indifference Bold"/>
                <a:sym typeface="Glacial Indifference Bold"/>
              </a:rPr>
              <a:t>PUBLICATIONS</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8113265" y="0"/>
            <a:ext cx="18288000" cy="10756926"/>
          </a:xfrm>
          <a:custGeom>
            <a:avLst/>
            <a:gdLst/>
            <a:ahLst/>
            <a:cxnLst/>
            <a:rect r="r" b="b" t="t" l="l"/>
            <a:pathLst>
              <a:path h="10756926" w="18288000">
                <a:moveTo>
                  <a:pt x="0" y="0"/>
                </a:moveTo>
                <a:lnTo>
                  <a:pt x="18288000" y="0"/>
                </a:lnTo>
                <a:lnTo>
                  <a:pt x="18288000" y="10756926"/>
                </a:lnTo>
                <a:lnTo>
                  <a:pt x="0" y="10756926"/>
                </a:lnTo>
                <a:lnTo>
                  <a:pt x="0" y="0"/>
                </a:lnTo>
                <a:close/>
              </a:path>
            </a:pathLst>
          </a:custGeom>
          <a:blipFill>
            <a:blip r:embed="rId2"/>
            <a:stretch>
              <a:fillRect l="0" t="-1747" r="0" b="-1747"/>
            </a:stretch>
          </a:blipFill>
        </p:spPr>
      </p:sp>
      <p:sp>
        <p:nvSpPr>
          <p:cNvPr name="TextBox 3" id="3"/>
          <p:cNvSpPr txBox="true"/>
          <p:nvPr/>
        </p:nvSpPr>
        <p:spPr>
          <a:xfrm rot="0">
            <a:off x="1028700" y="449245"/>
            <a:ext cx="4349840" cy="826136"/>
          </a:xfrm>
          <a:prstGeom prst="rect">
            <a:avLst/>
          </a:prstGeom>
        </p:spPr>
        <p:txBody>
          <a:bodyPr anchor="t" rtlCol="false" tIns="0" lIns="0" bIns="0" rIns="0">
            <a:spAutoFit/>
          </a:bodyPr>
          <a:lstStyle/>
          <a:p>
            <a:pPr algn="r" marL="0" indent="0" lvl="0">
              <a:lnSpc>
                <a:spcPts val="6380"/>
              </a:lnSpc>
            </a:pPr>
            <a:r>
              <a:rPr lang="en-US" b="true" sz="5800">
                <a:solidFill>
                  <a:srgbClr val="253439"/>
                </a:solidFill>
                <a:latin typeface="Glacial Indifference Bold"/>
                <a:ea typeface="Glacial Indifference Bold"/>
                <a:cs typeface="Glacial Indifference Bold"/>
                <a:sym typeface="Glacial Indifference Bold"/>
              </a:rPr>
              <a:t>REFERENCES</a:t>
            </a:r>
          </a:p>
        </p:txBody>
      </p:sp>
      <p:sp>
        <p:nvSpPr>
          <p:cNvPr name="TextBox 4" id="4"/>
          <p:cNvSpPr txBox="true"/>
          <p:nvPr/>
        </p:nvSpPr>
        <p:spPr>
          <a:xfrm rot="0">
            <a:off x="713702" y="1856406"/>
            <a:ext cx="16146894" cy="1780540"/>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253439"/>
                </a:solidFill>
                <a:latin typeface="Canva Sans"/>
                <a:ea typeface="Canva Sans"/>
                <a:cs typeface="Canva Sans"/>
                <a:sym typeface="Canva Sans"/>
              </a:rPr>
              <a:t>Jaiswal, A., Babu, R., &amp; Zadeh, M. Z. (2019). "A survey on food computing." ACM Computing Surveys (CSUR), 52(5), 1-36. DOI: 10.1145/3347713</a:t>
            </a:r>
          </a:p>
          <a:p>
            <a:pPr algn="ctr">
              <a:lnSpc>
                <a:spcPts val="4759"/>
              </a:lnSpc>
            </a:pPr>
          </a:p>
        </p:txBody>
      </p:sp>
      <p:sp>
        <p:nvSpPr>
          <p:cNvPr name="TextBox 5" id="5"/>
          <p:cNvSpPr txBox="true"/>
          <p:nvPr/>
        </p:nvSpPr>
        <p:spPr>
          <a:xfrm rot="0">
            <a:off x="713702" y="3570271"/>
            <a:ext cx="16146894" cy="2380615"/>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253439"/>
                </a:solidFill>
                <a:latin typeface="Canva Sans"/>
                <a:ea typeface="Canva Sans"/>
                <a:cs typeface="Canva Sans"/>
                <a:sym typeface="Canva Sans"/>
              </a:rPr>
              <a:t>Min, W., Jiang, S., Liu, L., Rui, Y., Jain, R., &amp; Hauptmann, A. G. (2019). "A survey on food recognition and health applications." ACM Transactions on Multimedia Computing, Communications, and Applications (TOMM), 15(1), 1-34. DOI: 10.1145/3267931</a:t>
            </a:r>
          </a:p>
        </p:txBody>
      </p:sp>
      <p:sp>
        <p:nvSpPr>
          <p:cNvPr name="TextBox 6" id="6"/>
          <p:cNvSpPr txBox="true"/>
          <p:nvPr/>
        </p:nvSpPr>
        <p:spPr>
          <a:xfrm rot="0">
            <a:off x="713702" y="6089199"/>
            <a:ext cx="16146894" cy="1180465"/>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253439"/>
                </a:solidFill>
                <a:latin typeface="Canva Sans"/>
                <a:ea typeface="Canva Sans"/>
                <a:cs typeface="Canva Sans"/>
                <a:sym typeface="Canva Sans"/>
              </a:rPr>
              <a:t>Smith, A. (2022). "How AI and Image Recognition Are Transforming Calorie Counting." Medium. Available at: </a:t>
            </a:r>
            <a:r>
              <a:rPr lang="en-US" sz="3399" u="sng">
                <a:solidFill>
                  <a:srgbClr val="253439"/>
                </a:solidFill>
                <a:latin typeface="Canva Sans"/>
                <a:ea typeface="Canva Sans"/>
                <a:cs typeface="Canva Sans"/>
                <a:sym typeface="Canva Sans"/>
                <a:hlinkClick r:id="rId3" tooltip="https://www.medium.com"/>
              </a:rPr>
              <a:t>medium.com</a:t>
            </a:r>
          </a:p>
        </p:txBody>
      </p:sp>
      <p:sp>
        <p:nvSpPr>
          <p:cNvPr name="TextBox 7" id="7"/>
          <p:cNvSpPr txBox="true"/>
          <p:nvPr/>
        </p:nvSpPr>
        <p:spPr>
          <a:xfrm rot="0">
            <a:off x="713702" y="7850689"/>
            <a:ext cx="16146894" cy="1180465"/>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253439"/>
                </a:solidFill>
                <a:latin typeface="Canva Sans"/>
                <a:ea typeface="Canva Sans"/>
                <a:cs typeface="Canva Sans"/>
                <a:sym typeface="Canva Sans"/>
              </a:rPr>
              <a:t>FoodAI Blog (2023). "Personalized Nutrition Using Artificial Intelligence." Available at: </a:t>
            </a:r>
            <a:r>
              <a:rPr lang="en-US" sz="3399" u="sng">
                <a:solidFill>
                  <a:srgbClr val="253439"/>
                </a:solidFill>
                <a:latin typeface="Canva Sans"/>
                <a:ea typeface="Canva Sans"/>
                <a:cs typeface="Canva Sans"/>
                <a:sym typeface="Canva Sans"/>
                <a:hlinkClick r:id="rId4" tooltip="https://www.foodai.com"/>
              </a:rPr>
              <a:t>foodai.com</a:t>
            </a:r>
          </a:p>
        </p:txBody>
      </p:sp>
      <p:sp>
        <p:nvSpPr>
          <p:cNvPr name="AutoShape 8" id="8"/>
          <p:cNvSpPr/>
          <p:nvPr/>
        </p:nvSpPr>
        <p:spPr>
          <a:xfrm flipH="true" flipV="true">
            <a:off x="1028700" y="251443"/>
            <a:ext cx="0" cy="1164590"/>
          </a:xfrm>
          <a:prstGeom prst="line">
            <a:avLst/>
          </a:prstGeom>
          <a:ln cap="flat" w="133350">
            <a:solidFill>
              <a:srgbClr val="D15353"/>
            </a:solidFill>
            <a:prstDash val="solid"/>
            <a:headEnd type="none" len="sm" w="sm"/>
            <a:tailEnd type="none" len="sm" w="sm"/>
          </a:ln>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2419" y="-788281"/>
            <a:ext cx="8902298" cy="12171720"/>
            <a:chOff x="0" y="0"/>
            <a:chExt cx="1846378" cy="2524471"/>
          </a:xfrm>
        </p:grpSpPr>
        <p:sp>
          <p:nvSpPr>
            <p:cNvPr name="Freeform 3" id="3"/>
            <p:cNvSpPr/>
            <p:nvPr/>
          </p:nvSpPr>
          <p:spPr>
            <a:xfrm flipH="false" flipV="false" rot="0">
              <a:off x="0" y="0"/>
              <a:ext cx="1846378" cy="2524471"/>
            </a:xfrm>
            <a:custGeom>
              <a:avLst/>
              <a:gdLst/>
              <a:ahLst/>
              <a:cxnLst/>
              <a:rect r="r" b="b" t="t" l="l"/>
              <a:pathLst>
                <a:path h="2524471" w="1846378">
                  <a:moveTo>
                    <a:pt x="0" y="0"/>
                  </a:moveTo>
                  <a:lnTo>
                    <a:pt x="1846378" y="0"/>
                  </a:lnTo>
                  <a:lnTo>
                    <a:pt x="1846378" y="2524471"/>
                  </a:lnTo>
                  <a:lnTo>
                    <a:pt x="0" y="2524471"/>
                  </a:lnTo>
                  <a:close/>
                </a:path>
              </a:pathLst>
            </a:custGeom>
            <a:gradFill rotWithShape="true">
              <a:gsLst>
                <a:gs pos="0">
                  <a:srgbClr val="FDF7EF">
                    <a:alpha val="100000"/>
                  </a:srgbClr>
                </a:gs>
                <a:gs pos="100000">
                  <a:srgbClr val="FFFFFF">
                    <a:alpha val="100000"/>
                  </a:srgbClr>
                </a:gs>
              </a:gsLst>
              <a:lin ang="0"/>
            </a:gradFill>
            <a:ln cap="sq">
              <a:noFill/>
              <a:prstDash val="solid"/>
              <a:miter/>
            </a:ln>
          </p:spPr>
        </p:sp>
        <p:sp>
          <p:nvSpPr>
            <p:cNvPr name="TextBox 4" id="4"/>
            <p:cNvSpPr txBox="true"/>
            <p:nvPr/>
          </p:nvSpPr>
          <p:spPr>
            <a:xfrm>
              <a:off x="0" y="9525"/>
              <a:ext cx="1846378" cy="2514946"/>
            </a:xfrm>
            <a:prstGeom prst="rect">
              <a:avLst/>
            </a:prstGeom>
          </p:spPr>
          <p:txBody>
            <a:bodyPr anchor="ctr" rtlCol="false" tIns="50800" lIns="50800" bIns="50800" rIns="50800"/>
            <a:lstStyle/>
            <a:p>
              <a:pPr algn="ctr">
                <a:lnSpc>
                  <a:spcPts val="1869"/>
                </a:lnSpc>
              </a:pPr>
            </a:p>
          </p:txBody>
        </p:sp>
      </p:grpSp>
      <p:sp>
        <p:nvSpPr>
          <p:cNvPr name="Freeform 5" id="5"/>
          <p:cNvSpPr/>
          <p:nvPr/>
        </p:nvSpPr>
        <p:spPr>
          <a:xfrm flipH="false" flipV="false" rot="0">
            <a:off x="12093427" y="2695637"/>
            <a:ext cx="4253902" cy="4548481"/>
          </a:xfrm>
          <a:custGeom>
            <a:avLst/>
            <a:gdLst/>
            <a:ahLst/>
            <a:cxnLst/>
            <a:rect r="r" b="b" t="t" l="l"/>
            <a:pathLst>
              <a:path h="4548481" w="4253902">
                <a:moveTo>
                  <a:pt x="0" y="0"/>
                </a:moveTo>
                <a:lnTo>
                  <a:pt x="4253903" y="0"/>
                </a:lnTo>
                <a:lnTo>
                  <a:pt x="4253903" y="4548480"/>
                </a:lnTo>
                <a:lnTo>
                  <a:pt x="0" y="4548480"/>
                </a:lnTo>
                <a:lnTo>
                  <a:pt x="0" y="0"/>
                </a:lnTo>
                <a:close/>
              </a:path>
            </a:pathLst>
          </a:custGeom>
          <a:blipFill>
            <a:blip r:embed="rId2"/>
            <a:stretch>
              <a:fillRect l="-6776" t="-8761" r="0" b="-24387"/>
            </a:stretch>
          </a:blipFill>
        </p:spPr>
      </p:sp>
      <p:sp>
        <p:nvSpPr>
          <p:cNvPr name="Freeform 6" id="6"/>
          <p:cNvSpPr/>
          <p:nvPr/>
        </p:nvSpPr>
        <p:spPr>
          <a:xfrm flipH="false" flipV="false" rot="0">
            <a:off x="5986510" y="5347333"/>
            <a:ext cx="1854870" cy="2018906"/>
          </a:xfrm>
          <a:custGeom>
            <a:avLst/>
            <a:gdLst/>
            <a:ahLst/>
            <a:cxnLst/>
            <a:rect r="r" b="b" t="t" l="l"/>
            <a:pathLst>
              <a:path h="2018906" w="1854870">
                <a:moveTo>
                  <a:pt x="0" y="0"/>
                </a:moveTo>
                <a:lnTo>
                  <a:pt x="1854870" y="0"/>
                </a:lnTo>
                <a:lnTo>
                  <a:pt x="1854870" y="2018906"/>
                </a:lnTo>
                <a:lnTo>
                  <a:pt x="0" y="2018906"/>
                </a:lnTo>
                <a:lnTo>
                  <a:pt x="0" y="0"/>
                </a:lnTo>
                <a:close/>
              </a:path>
            </a:pathLst>
          </a:custGeom>
          <a:blipFill>
            <a:blip r:embed="rId3"/>
            <a:stretch>
              <a:fillRect l="0" t="0" r="0" b="0"/>
            </a:stretch>
          </a:blipFill>
        </p:spPr>
      </p:sp>
      <p:sp>
        <p:nvSpPr>
          <p:cNvPr name="TextBox 7" id="7"/>
          <p:cNvSpPr txBox="true"/>
          <p:nvPr/>
        </p:nvSpPr>
        <p:spPr>
          <a:xfrm rot="0">
            <a:off x="4331937" y="3224846"/>
            <a:ext cx="4629030" cy="743283"/>
          </a:xfrm>
          <a:prstGeom prst="rect">
            <a:avLst/>
          </a:prstGeom>
        </p:spPr>
        <p:txBody>
          <a:bodyPr anchor="t" rtlCol="false" tIns="0" lIns="0" bIns="0" rIns="0">
            <a:spAutoFit/>
          </a:bodyPr>
          <a:lstStyle/>
          <a:p>
            <a:pPr algn="ctr">
              <a:lnSpc>
                <a:spcPts val="5654"/>
              </a:lnSpc>
              <a:spcBef>
                <a:spcPct val="0"/>
              </a:spcBef>
            </a:pPr>
            <a:r>
              <a:rPr lang="en-US" b="true" sz="5334">
                <a:solidFill>
                  <a:srgbClr val="E12424"/>
                </a:solidFill>
                <a:latin typeface="Glacial Indifference Bold"/>
                <a:ea typeface="Glacial Indifference Bold"/>
                <a:cs typeface="Glacial Indifference Bold"/>
                <a:sym typeface="Glacial Indifference Bold"/>
              </a:rPr>
              <a:t>COMPONET 02</a:t>
            </a:r>
          </a:p>
        </p:txBody>
      </p:sp>
      <p:sp>
        <p:nvSpPr>
          <p:cNvPr name="TextBox 8" id="8"/>
          <p:cNvSpPr txBox="true"/>
          <p:nvPr/>
        </p:nvSpPr>
        <p:spPr>
          <a:xfrm rot="0">
            <a:off x="12093427" y="7394814"/>
            <a:ext cx="4253902" cy="380616"/>
          </a:xfrm>
          <a:prstGeom prst="rect">
            <a:avLst/>
          </a:prstGeom>
        </p:spPr>
        <p:txBody>
          <a:bodyPr anchor="t" rtlCol="false" tIns="0" lIns="0" bIns="0" rIns="0">
            <a:spAutoFit/>
          </a:bodyPr>
          <a:lstStyle/>
          <a:p>
            <a:pPr algn="ctr">
              <a:lnSpc>
                <a:spcPts val="2865"/>
              </a:lnSpc>
              <a:spcBef>
                <a:spcPct val="0"/>
              </a:spcBef>
            </a:pPr>
            <a:r>
              <a:rPr lang="en-US" b="true" sz="2703">
                <a:solidFill>
                  <a:srgbClr val="000000"/>
                </a:solidFill>
                <a:latin typeface="Glacial Indifference Bold"/>
                <a:ea typeface="Glacial Indifference Bold"/>
                <a:cs typeface="Glacial Indifference Bold"/>
                <a:sym typeface="Glacial Indifference Bold"/>
              </a:rPr>
              <a:t>Ranasinghe R M P A</a:t>
            </a:r>
          </a:p>
        </p:txBody>
      </p:sp>
      <p:sp>
        <p:nvSpPr>
          <p:cNvPr name="TextBox 9" id="9"/>
          <p:cNvSpPr txBox="true"/>
          <p:nvPr/>
        </p:nvSpPr>
        <p:spPr>
          <a:xfrm rot="0">
            <a:off x="2164339" y="4211993"/>
            <a:ext cx="9499212" cy="628579"/>
          </a:xfrm>
          <a:prstGeom prst="rect">
            <a:avLst/>
          </a:prstGeom>
        </p:spPr>
        <p:txBody>
          <a:bodyPr anchor="t" rtlCol="false" tIns="0" lIns="0" bIns="0" rIns="0">
            <a:spAutoFit/>
          </a:bodyPr>
          <a:lstStyle/>
          <a:p>
            <a:pPr algn="ctr">
              <a:lnSpc>
                <a:spcPts val="4920"/>
              </a:lnSpc>
              <a:spcBef>
                <a:spcPct val="0"/>
              </a:spcBef>
            </a:pPr>
            <a:r>
              <a:rPr lang="en-US" b="true" sz="4100">
                <a:solidFill>
                  <a:srgbClr val="000000"/>
                </a:solidFill>
                <a:latin typeface="Aileron Bold"/>
                <a:ea typeface="Aileron Bold"/>
                <a:cs typeface="Aileron Bold"/>
                <a:sym typeface="Aileron Bold"/>
              </a:rPr>
              <a:t>Real-Time posture correction </a:t>
            </a:r>
          </a:p>
        </p:txBody>
      </p:sp>
      <p:sp>
        <p:nvSpPr>
          <p:cNvPr name="TextBox 10" id="10"/>
          <p:cNvSpPr txBox="true"/>
          <p:nvPr/>
        </p:nvSpPr>
        <p:spPr>
          <a:xfrm rot="0">
            <a:off x="12093427" y="7927830"/>
            <a:ext cx="4253902" cy="380616"/>
          </a:xfrm>
          <a:prstGeom prst="rect">
            <a:avLst/>
          </a:prstGeom>
        </p:spPr>
        <p:txBody>
          <a:bodyPr anchor="t" rtlCol="false" tIns="0" lIns="0" bIns="0" rIns="0">
            <a:spAutoFit/>
          </a:bodyPr>
          <a:lstStyle/>
          <a:p>
            <a:pPr algn="ctr">
              <a:lnSpc>
                <a:spcPts val="2865"/>
              </a:lnSpc>
              <a:spcBef>
                <a:spcPct val="0"/>
              </a:spcBef>
            </a:pPr>
            <a:r>
              <a:rPr lang="en-US" b="true" sz="2703">
                <a:solidFill>
                  <a:srgbClr val="000000"/>
                </a:solidFill>
                <a:latin typeface="Glacial Indifference Bold"/>
                <a:ea typeface="Glacial Indifference Bold"/>
                <a:cs typeface="Glacial Indifference Bold"/>
                <a:sym typeface="Glacial Indifference Bold"/>
              </a:rPr>
              <a:t>IT21384738</a:t>
            </a:r>
          </a:p>
        </p:txBody>
      </p:sp>
      <p:sp>
        <p:nvSpPr>
          <p:cNvPr name="Freeform 11" id="11"/>
          <p:cNvSpPr/>
          <p:nvPr/>
        </p:nvSpPr>
        <p:spPr>
          <a:xfrm flipH="false" flipV="false" rot="-4431566">
            <a:off x="9835340" y="5984875"/>
            <a:ext cx="10875091" cy="7196018"/>
          </a:xfrm>
          <a:custGeom>
            <a:avLst/>
            <a:gdLst/>
            <a:ahLst/>
            <a:cxnLst/>
            <a:rect r="r" b="b" t="t" l="l"/>
            <a:pathLst>
              <a:path h="7196018" w="10875091">
                <a:moveTo>
                  <a:pt x="0" y="0"/>
                </a:moveTo>
                <a:lnTo>
                  <a:pt x="10875091" y="0"/>
                </a:lnTo>
                <a:lnTo>
                  <a:pt x="10875091" y="7196018"/>
                </a:lnTo>
                <a:lnTo>
                  <a:pt x="0" y="71960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6979616">
            <a:off x="-2806960" y="-1213622"/>
            <a:ext cx="11173984" cy="7393795"/>
          </a:xfrm>
          <a:custGeom>
            <a:avLst/>
            <a:gdLst/>
            <a:ahLst/>
            <a:cxnLst/>
            <a:rect r="r" b="b" t="t" l="l"/>
            <a:pathLst>
              <a:path h="7393795" w="11173984">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2158249" y="2597716"/>
            <a:ext cx="0" cy="1247775"/>
          </a:xfrm>
          <a:prstGeom prst="line">
            <a:avLst/>
          </a:prstGeom>
          <a:ln cap="flat" w="133350">
            <a:solidFill>
              <a:srgbClr val="D15353"/>
            </a:solidFill>
            <a:prstDash val="solid"/>
            <a:headEnd type="none" len="sm" w="sm"/>
            <a:tailEnd type="none" len="sm" w="sm"/>
          </a:ln>
        </p:spPr>
      </p:sp>
      <p:sp>
        <p:nvSpPr>
          <p:cNvPr name="Freeform 4" id="4"/>
          <p:cNvSpPr/>
          <p:nvPr/>
        </p:nvSpPr>
        <p:spPr>
          <a:xfrm flipH="false" flipV="false" rot="0">
            <a:off x="12850918" y="241635"/>
            <a:ext cx="4930588" cy="4114800"/>
          </a:xfrm>
          <a:custGeom>
            <a:avLst/>
            <a:gdLst/>
            <a:ahLst/>
            <a:cxnLst/>
            <a:rect r="r" b="b" t="t" l="l"/>
            <a:pathLst>
              <a:path h="4114800" w="4930588">
                <a:moveTo>
                  <a:pt x="0" y="0"/>
                </a:moveTo>
                <a:lnTo>
                  <a:pt x="4930588" y="0"/>
                </a:lnTo>
                <a:lnTo>
                  <a:pt x="493058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88171" y="7222234"/>
            <a:ext cx="2493893" cy="2937134"/>
          </a:xfrm>
          <a:custGeom>
            <a:avLst/>
            <a:gdLst/>
            <a:ahLst/>
            <a:cxnLst/>
            <a:rect r="r" b="b" t="t" l="l"/>
            <a:pathLst>
              <a:path h="2937134" w="2493893">
                <a:moveTo>
                  <a:pt x="0" y="0"/>
                </a:moveTo>
                <a:lnTo>
                  <a:pt x="2493894" y="0"/>
                </a:lnTo>
                <a:lnTo>
                  <a:pt x="2493894" y="2937133"/>
                </a:lnTo>
                <a:lnTo>
                  <a:pt x="0" y="29371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274191" y="2990680"/>
            <a:ext cx="5007291" cy="854811"/>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INTRODUCTION</a:t>
            </a:r>
          </a:p>
        </p:txBody>
      </p:sp>
      <p:sp>
        <p:nvSpPr>
          <p:cNvPr name="TextBox 7" id="7"/>
          <p:cNvSpPr txBox="true"/>
          <p:nvPr/>
        </p:nvSpPr>
        <p:spPr>
          <a:xfrm rot="0">
            <a:off x="3984969" y="4574598"/>
            <a:ext cx="11786930" cy="2160251"/>
          </a:xfrm>
          <a:prstGeom prst="rect">
            <a:avLst/>
          </a:prstGeom>
        </p:spPr>
        <p:txBody>
          <a:bodyPr anchor="t" rtlCol="false" tIns="0" lIns="0" bIns="0" rIns="0">
            <a:spAutoFit/>
          </a:bodyPr>
          <a:lstStyle/>
          <a:p>
            <a:pPr algn="ctr">
              <a:lnSpc>
                <a:spcPts val="5781"/>
              </a:lnSpc>
            </a:pPr>
            <a:r>
              <a:rPr lang="en-US" sz="3730">
                <a:solidFill>
                  <a:srgbClr val="253439"/>
                </a:solidFill>
                <a:latin typeface="Lato"/>
                <a:ea typeface="Lato"/>
                <a:cs typeface="Lato"/>
                <a:sym typeface="Lato"/>
              </a:rPr>
              <a:t>This component address the common problem of beginner fitness enthusiasts by Using Advance Image processing  and Machine Learning techniques.</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9388554">
            <a:off x="4983884" y="-5825395"/>
            <a:ext cx="15806184" cy="9426233"/>
          </a:xfrm>
          <a:custGeom>
            <a:avLst/>
            <a:gdLst/>
            <a:ahLst/>
            <a:cxnLst/>
            <a:rect r="r" b="b" t="t" l="l"/>
            <a:pathLst>
              <a:path h="9426233" w="15806184">
                <a:moveTo>
                  <a:pt x="0" y="0"/>
                </a:moveTo>
                <a:lnTo>
                  <a:pt x="15806184" y="0"/>
                </a:lnTo>
                <a:lnTo>
                  <a:pt x="15806184" y="9426233"/>
                </a:lnTo>
                <a:lnTo>
                  <a:pt x="0" y="9426233"/>
                </a:lnTo>
                <a:lnTo>
                  <a:pt x="0" y="0"/>
                </a:lnTo>
                <a:close/>
              </a:path>
            </a:pathLst>
          </a:custGeom>
          <a:blipFill>
            <a:blip r:embed="rId2">
              <a:alphaModFix amt="84000"/>
              <a:extLst>
                <a:ext uri="{96DAC541-7B7A-43D3-8B79-37D633B846F1}">
                  <asvg:svgBlip xmlns:asvg="http://schemas.microsoft.com/office/drawing/2016/SVG/main" r:embed="rId3"/>
                </a:ext>
              </a:extLst>
            </a:blip>
            <a:stretch>
              <a:fillRect l="0" t="0" r="0" b="0"/>
            </a:stretch>
          </a:blipFill>
          <a:ln cap="rnd">
            <a:noFill/>
            <a:prstDash val="solid"/>
            <a:round/>
          </a:ln>
        </p:spPr>
      </p:sp>
      <p:grpSp>
        <p:nvGrpSpPr>
          <p:cNvPr name="Group 3" id="3"/>
          <p:cNvGrpSpPr/>
          <p:nvPr/>
        </p:nvGrpSpPr>
        <p:grpSpPr>
          <a:xfrm rot="0">
            <a:off x="796760" y="1305764"/>
            <a:ext cx="10484066" cy="8124809"/>
            <a:chOff x="0" y="0"/>
            <a:chExt cx="2761236" cy="2139867"/>
          </a:xfrm>
        </p:grpSpPr>
        <p:sp>
          <p:nvSpPr>
            <p:cNvPr name="Freeform 4" id="4"/>
            <p:cNvSpPr/>
            <p:nvPr/>
          </p:nvSpPr>
          <p:spPr>
            <a:xfrm flipH="false" flipV="false" rot="0">
              <a:off x="0" y="0"/>
              <a:ext cx="2761236" cy="2139867"/>
            </a:xfrm>
            <a:custGeom>
              <a:avLst/>
              <a:gdLst/>
              <a:ahLst/>
              <a:cxnLst/>
              <a:rect r="r" b="b" t="t" l="l"/>
              <a:pathLst>
                <a:path h="2139867" w="2761236">
                  <a:moveTo>
                    <a:pt x="37661" y="0"/>
                  </a:moveTo>
                  <a:lnTo>
                    <a:pt x="2723575" y="0"/>
                  </a:lnTo>
                  <a:cubicBezTo>
                    <a:pt x="2733563" y="0"/>
                    <a:pt x="2743142" y="3968"/>
                    <a:pt x="2750205" y="11031"/>
                  </a:cubicBezTo>
                  <a:cubicBezTo>
                    <a:pt x="2757268" y="18093"/>
                    <a:pt x="2761236" y="27673"/>
                    <a:pt x="2761236" y="37661"/>
                  </a:cubicBezTo>
                  <a:lnTo>
                    <a:pt x="2761236" y="2102207"/>
                  </a:lnTo>
                  <a:cubicBezTo>
                    <a:pt x="2761236" y="2112195"/>
                    <a:pt x="2757268" y="2121774"/>
                    <a:pt x="2750205" y="2128837"/>
                  </a:cubicBezTo>
                  <a:cubicBezTo>
                    <a:pt x="2743142" y="2135899"/>
                    <a:pt x="2733563" y="2139867"/>
                    <a:pt x="2723575" y="2139867"/>
                  </a:cubicBezTo>
                  <a:lnTo>
                    <a:pt x="37661" y="2139867"/>
                  </a:lnTo>
                  <a:cubicBezTo>
                    <a:pt x="27673" y="2139867"/>
                    <a:pt x="18093" y="2135899"/>
                    <a:pt x="11031" y="2128837"/>
                  </a:cubicBezTo>
                  <a:cubicBezTo>
                    <a:pt x="3968" y="2121774"/>
                    <a:pt x="0" y="2112195"/>
                    <a:pt x="0" y="2102207"/>
                  </a:cubicBezTo>
                  <a:lnTo>
                    <a:pt x="0" y="37661"/>
                  </a:lnTo>
                  <a:cubicBezTo>
                    <a:pt x="0" y="27673"/>
                    <a:pt x="3968" y="18093"/>
                    <a:pt x="11031" y="11031"/>
                  </a:cubicBezTo>
                  <a:cubicBezTo>
                    <a:pt x="18093" y="3968"/>
                    <a:pt x="27673" y="0"/>
                    <a:pt x="37661" y="0"/>
                  </a:cubicBezTo>
                  <a:close/>
                </a:path>
              </a:pathLst>
            </a:custGeom>
            <a:solidFill>
              <a:srgbClr val="A8DDE3"/>
            </a:solidFill>
          </p:spPr>
        </p:sp>
        <p:sp>
          <p:nvSpPr>
            <p:cNvPr name="TextBox 5" id="5"/>
            <p:cNvSpPr txBox="true"/>
            <p:nvPr/>
          </p:nvSpPr>
          <p:spPr>
            <a:xfrm>
              <a:off x="0" y="-228600"/>
              <a:ext cx="2761236" cy="2368467"/>
            </a:xfrm>
            <a:prstGeom prst="rect">
              <a:avLst/>
            </a:prstGeom>
          </p:spPr>
          <p:txBody>
            <a:bodyPr anchor="ctr" rtlCol="false" tIns="50800" lIns="50800" bIns="50800" rIns="50800"/>
            <a:lstStyle/>
            <a:p>
              <a:pPr algn="ctr">
                <a:lnSpc>
                  <a:spcPts val="6104"/>
                </a:lnSpc>
              </a:pPr>
              <a:r>
                <a:rPr lang="en-US" sz="3791">
                  <a:solidFill>
                    <a:srgbClr val="000000"/>
                  </a:solidFill>
                  <a:latin typeface="Abstracted Dream"/>
                  <a:ea typeface="Abstracted Dream"/>
                  <a:cs typeface="Abstracted Dream"/>
                  <a:sym typeface="Abstracted Dream"/>
                </a:rPr>
                <a:t>A major concern we addressed is whether individuals are executing exercises with proper form. Poor technique can contribute to injuries and ultimately limit the benefits of their workouts.</a:t>
              </a:r>
            </a:p>
          </p:txBody>
        </p:sp>
      </p:grpSp>
      <p:sp>
        <p:nvSpPr>
          <p:cNvPr name="Freeform 6" id="6"/>
          <p:cNvSpPr/>
          <p:nvPr/>
        </p:nvSpPr>
        <p:spPr>
          <a:xfrm flipH="false" flipV="false" rot="0">
            <a:off x="11475044" y="2367159"/>
            <a:ext cx="8034147" cy="8229600"/>
          </a:xfrm>
          <a:custGeom>
            <a:avLst/>
            <a:gdLst/>
            <a:ahLst/>
            <a:cxnLst/>
            <a:rect r="r" b="b" t="t" l="l"/>
            <a:pathLst>
              <a:path h="8229600" w="8034147">
                <a:moveTo>
                  <a:pt x="0" y="0"/>
                </a:moveTo>
                <a:lnTo>
                  <a:pt x="8034147" y="0"/>
                </a:lnTo>
                <a:lnTo>
                  <a:pt x="8034147" y="8229600"/>
                </a:lnTo>
                <a:lnTo>
                  <a:pt x="0" y="8229600"/>
                </a:lnTo>
                <a:lnTo>
                  <a:pt x="0" y="0"/>
                </a:lnTo>
                <a:close/>
              </a:path>
            </a:pathLst>
          </a:custGeom>
          <a:blipFill>
            <a:blip r:embed="rId4"/>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507844" y="1794640"/>
            <a:ext cx="6886727" cy="1171596"/>
          </a:xfrm>
          <a:prstGeom prst="rect">
            <a:avLst/>
          </a:prstGeom>
        </p:spPr>
        <p:txBody>
          <a:bodyPr anchor="t" rtlCol="false" tIns="0" lIns="0" bIns="0" rIns="0">
            <a:spAutoFit/>
          </a:bodyPr>
          <a:lstStyle/>
          <a:p>
            <a:pPr algn="l" marL="0" indent="0" lvl="0">
              <a:lnSpc>
                <a:spcPts val="9240"/>
              </a:lnSpc>
              <a:spcBef>
                <a:spcPct val="0"/>
              </a:spcBef>
            </a:pPr>
            <a:r>
              <a:rPr lang="en-US" b="true" sz="7700">
                <a:solidFill>
                  <a:srgbClr val="253439"/>
                </a:solidFill>
                <a:latin typeface="Glacial Indifference Bold"/>
                <a:ea typeface="Glacial Indifference Bold"/>
                <a:cs typeface="Glacial Indifference Bold"/>
                <a:sym typeface="Glacial Indifference Bold"/>
              </a:rPr>
              <a:t>PROBLEM</a:t>
            </a:r>
          </a:p>
        </p:txBody>
      </p:sp>
      <p:sp>
        <p:nvSpPr>
          <p:cNvPr name="TextBox 3" id="3"/>
          <p:cNvSpPr txBox="true"/>
          <p:nvPr/>
        </p:nvSpPr>
        <p:spPr>
          <a:xfrm rot="0">
            <a:off x="1507844" y="954626"/>
            <a:ext cx="6886727" cy="1009650"/>
          </a:xfrm>
          <a:prstGeom prst="rect">
            <a:avLst/>
          </a:prstGeom>
        </p:spPr>
        <p:txBody>
          <a:bodyPr anchor="t" rtlCol="false" tIns="0" lIns="0" bIns="0" rIns="0">
            <a:spAutoFit/>
          </a:bodyPr>
          <a:lstStyle/>
          <a:p>
            <a:pPr algn="l" marL="0" indent="0" lvl="0">
              <a:lnSpc>
                <a:spcPts val="7920"/>
              </a:lnSpc>
              <a:spcBef>
                <a:spcPct val="0"/>
              </a:spcBef>
            </a:pPr>
            <a:r>
              <a:rPr lang="en-US" sz="6600">
                <a:solidFill>
                  <a:srgbClr val="253439"/>
                </a:solidFill>
                <a:latin typeface="HK Grotesk"/>
                <a:ea typeface="HK Grotesk"/>
                <a:cs typeface="HK Grotesk"/>
                <a:sym typeface="HK Grotesk"/>
              </a:rPr>
              <a:t>RESEARCH</a:t>
            </a:r>
          </a:p>
        </p:txBody>
      </p:sp>
      <p:sp>
        <p:nvSpPr>
          <p:cNvPr name="AutoShape 4" id="4"/>
          <p:cNvSpPr/>
          <p:nvPr/>
        </p:nvSpPr>
        <p:spPr>
          <a:xfrm flipV="true">
            <a:off x="1328315" y="964151"/>
            <a:ext cx="0" cy="1885508"/>
          </a:xfrm>
          <a:prstGeom prst="line">
            <a:avLst/>
          </a:prstGeom>
          <a:ln cap="flat" w="133350">
            <a:solidFill>
              <a:srgbClr val="D15353"/>
            </a:solidFill>
            <a:prstDash val="solid"/>
            <a:headEnd type="none" len="sm" w="sm"/>
            <a:tailEnd type="none" len="sm" w="sm"/>
          </a:ln>
        </p:spPr>
      </p:sp>
      <p:sp>
        <p:nvSpPr>
          <p:cNvPr name="Freeform 5" id="5"/>
          <p:cNvSpPr/>
          <p:nvPr/>
        </p:nvSpPr>
        <p:spPr>
          <a:xfrm flipH="false" flipV="false" rot="-9388554">
            <a:off x="4983884" y="-5825395"/>
            <a:ext cx="15806184" cy="9426233"/>
          </a:xfrm>
          <a:custGeom>
            <a:avLst/>
            <a:gdLst/>
            <a:ahLst/>
            <a:cxnLst/>
            <a:rect r="r" b="b" t="t" l="l"/>
            <a:pathLst>
              <a:path h="9426233" w="15806184">
                <a:moveTo>
                  <a:pt x="0" y="0"/>
                </a:moveTo>
                <a:lnTo>
                  <a:pt x="15806184" y="0"/>
                </a:lnTo>
                <a:lnTo>
                  <a:pt x="15806184" y="9426233"/>
                </a:lnTo>
                <a:lnTo>
                  <a:pt x="0" y="9426233"/>
                </a:lnTo>
                <a:lnTo>
                  <a:pt x="0" y="0"/>
                </a:lnTo>
                <a:close/>
              </a:path>
            </a:pathLst>
          </a:custGeom>
          <a:blipFill>
            <a:blip r:embed="rId2">
              <a:alphaModFix amt="84000"/>
              <a:extLst>
                <a:ext uri="{96DAC541-7B7A-43D3-8B79-37D633B846F1}">
                  <asvg:svgBlip xmlns:asvg="http://schemas.microsoft.com/office/drawing/2016/SVG/main" r:embed="rId3"/>
                </a:ext>
              </a:extLst>
            </a:blip>
            <a:stretch>
              <a:fillRect l="0" t="0" r="0" b="0"/>
            </a:stretch>
          </a:blipFill>
          <a:ln cap="rnd">
            <a:noFill/>
            <a:prstDash val="solid"/>
            <a:round/>
          </a:ln>
        </p:spPr>
      </p:sp>
      <p:sp>
        <p:nvSpPr>
          <p:cNvPr name="Freeform 6" id="6"/>
          <p:cNvSpPr/>
          <p:nvPr/>
        </p:nvSpPr>
        <p:spPr>
          <a:xfrm flipH="false" flipV="false" rot="0">
            <a:off x="711114" y="5258901"/>
            <a:ext cx="8213845" cy="4696705"/>
          </a:xfrm>
          <a:custGeom>
            <a:avLst/>
            <a:gdLst/>
            <a:ahLst/>
            <a:cxnLst/>
            <a:rect r="r" b="b" t="t" l="l"/>
            <a:pathLst>
              <a:path h="4696705" w="8213845">
                <a:moveTo>
                  <a:pt x="0" y="0"/>
                </a:moveTo>
                <a:lnTo>
                  <a:pt x="8213845" y="0"/>
                </a:lnTo>
                <a:lnTo>
                  <a:pt x="8213845" y="4696705"/>
                </a:lnTo>
                <a:lnTo>
                  <a:pt x="0" y="4696705"/>
                </a:lnTo>
                <a:lnTo>
                  <a:pt x="0" y="0"/>
                </a:lnTo>
                <a:close/>
              </a:path>
            </a:pathLst>
          </a:custGeom>
          <a:blipFill>
            <a:blip r:embed="rId4">
              <a:alphaModFix amt="84000"/>
            </a:blip>
            <a:stretch>
              <a:fillRect l="-826" t="0" r="-826" b="0"/>
            </a:stretch>
          </a:blipFill>
        </p:spPr>
      </p:sp>
      <p:sp>
        <p:nvSpPr>
          <p:cNvPr name="TextBox 7" id="7"/>
          <p:cNvSpPr txBox="true"/>
          <p:nvPr/>
        </p:nvSpPr>
        <p:spPr>
          <a:xfrm rot="0">
            <a:off x="1818569" y="3309113"/>
            <a:ext cx="14440624" cy="1584506"/>
          </a:xfrm>
          <a:prstGeom prst="rect">
            <a:avLst/>
          </a:prstGeom>
        </p:spPr>
        <p:txBody>
          <a:bodyPr anchor="t" rtlCol="false" tIns="0" lIns="0" bIns="0" rIns="0">
            <a:spAutoFit/>
          </a:bodyPr>
          <a:lstStyle/>
          <a:p>
            <a:pPr algn="ctr">
              <a:lnSpc>
                <a:spcPts val="3068"/>
              </a:lnSpc>
              <a:spcBef>
                <a:spcPct val="0"/>
              </a:spcBef>
            </a:pPr>
            <a:r>
              <a:rPr lang="en-US" b="true" sz="2556" i="true">
                <a:solidFill>
                  <a:srgbClr val="253439"/>
                </a:solidFill>
                <a:latin typeface="Poppins Bold Italics"/>
                <a:ea typeface="Poppins Bold Italics"/>
                <a:cs typeface="Poppins Bold Italics"/>
                <a:sym typeface="Poppins Bold Italics"/>
              </a:rPr>
              <a:t>Existing mobile applications for exercise posture correction lack real-time adaptability to diverse body mechanics and exercise variations, often prioritizing speed over biomechanical accuracy, which limits their effectiveness in preventing injuries and improving workout outcomes.</a:t>
            </a:r>
          </a:p>
        </p:txBody>
      </p:sp>
      <p:sp>
        <p:nvSpPr>
          <p:cNvPr name="TextBox 8" id="8"/>
          <p:cNvSpPr txBox="true"/>
          <p:nvPr/>
        </p:nvSpPr>
        <p:spPr>
          <a:xfrm rot="0">
            <a:off x="9488563" y="5724625"/>
            <a:ext cx="8602553" cy="2628900"/>
          </a:xfrm>
          <a:prstGeom prst="rect">
            <a:avLst/>
          </a:prstGeom>
        </p:spPr>
        <p:txBody>
          <a:bodyPr anchor="t" rtlCol="false" tIns="0" lIns="0" bIns="0" rIns="0">
            <a:spAutoFit/>
          </a:bodyPr>
          <a:lstStyle/>
          <a:p>
            <a:pPr algn="ctr">
              <a:lnSpc>
                <a:spcPts val="3855"/>
              </a:lnSpc>
            </a:pPr>
          </a:p>
          <a:p>
            <a:pPr algn="ctr">
              <a:lnSpc>
                <a:spcPts val="4215"/>
              </a:lnSpc>
            </a:pPr>
            <a:r>
              <a:rPr lang="en-US" sz="3512">
                <a:solidFill>
                  <a:srgbClr val="253439"/>
                </a:solidFill>
                <a:latin typeface="Lato"/>
                <a:ea typeface="Lato"/>
                <a:cs typeface="Lato"/>
                <a:sym typeface="Lato"/>
              </a:rPr>
              <a:t>this research focuses on exploring how posture correction and injury detection can enhance exercise safety and efficiency. </a:t>
            </a:r>
          </a:p>
          <a:p>
            <a:pPr algn="ctr">
              <a:lnSpc>
                <a:spcPts val="4207"/>
              </a:lnSpc>
              <a:spcBef>
                <a:spcPct val="0"/>
              </a:spcBef>
            </a:pP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flipH="true">
            <a:off x="1095375" y="548524"/>
            <a:ext cx="0" cy="1434781"/>
          </a:xfrm>
          <a:prstGeom prst="line">
            <a:avLst/>
          </a:prstGeom>
          <a:ln cap="flat" w="133350">
            <a:solidFill>
              <a:srgbClr val="D15353"/>
            </a:solidFill>
            <a:prstDash val="solid"/>
            <a:headEnd type="none" len="sm" w="sm"/>
            <a:tailEnd type="none" len="sm" w="sm"/>
          </a:ln>
        </p:spPr>
      </p:sp>
      <p:sp>
        <p:nvSpPr>
          <p:cNvPr name="Freeform 3" id="3"/>
          <p:cNvSpPr/>
          <p:nvPr/>
        </p:nvSpPr>
        <p:spPr>
          <a:xfrm flipH="false" flipV="false" rot="-10800000">
            <a:off x="10627871" y="-1393657"/>
            <a:ext cx="11173984" cy="7393795"/>
          </a:xfrm>
          <a:custGeom>
            <a:avLst/>
            <a:gdLst/>
            <a:ahLst/>
            <a:cxnLst/>
            <a:rect r="r" b="b" t="t" l="l"/>
            <a:pathLst>
              <a:path h="7393795" w="11173984">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279142" y="922474"/>
            <a:ext cx="8881131" cy="1060831"/>
          </a:xfrm>
          <a:prstGeom prst="rect">
            <a:avLst/>
          </a:prstGeom>
        </p:spPr>
        <p:txBody>
          <a:bodyPr anchor="t" rtlCol="false" tIns="0" lIns="0" bIns="0" rIns="0">
            <a:spAutoFit/>
          </a:bodyPr>
          <a:lstStyle/>
          <a:p>
            <a:pPr algn="l">
              <a:lnSpc>
                <a:spcPts val="8162"/>
              </a:lnSpc>
            </a:pPr>
            <a:r>
              <a:rPr lang="en-US" b="true" sz="7700">
                <a:solidFill>
                  <a:srgbClr val="253439"/>
                </a:solidFill>
                <a:latin typeface="Glacial Indifference Bold"/>
                <a:ea typeface="Glacial Indifference Bold"/>
                <a:cs typeface="Glacial Indifference Bold"/>
                <a:sym typeface="Glacial Indifference Bold"/>
              </a:rPr>
              <a:t>OBJECTIVES</a:t>
            </a:r>
          </a:p>
        </p:txBody>
      </p:sp>
      <p:sp>
        <p:nvSpPr>
          <p:cNvPr name="TextBox 5" id="5"/>
          <p:cNvSpPr txBox="true"/>
          <p:nvPr/>
        </p:nvSpPr>
        <p:spPr>
          <a:xfrm rot="0">
            <a:off x="1482664" y="3146034"/>
            <a:ext cx="15261732" cy="3790950"/>
          </a:xfrm>
          <a:prstGeom prst="rect">
            <a:avLst/>
          </a:prstGeom>
        </p:spPr>
        <p:txBody>
          <a:bodyPr anchor="t" rtlCol="false" tIns="0" lIns="0" bIns="0" rIns="0">
            <a:spAutoFit/>
          </a:bodyPr>
          <a:lstStyle/>
          <a:p>
            <a:pPr algn="l" marL="890209" indent="-445104" lvl="1">
              <a:lnSpc>
                <a:spcPts val="4947"/>
              </a:lnSpc>
              <a:buFont typeface="Arial"/>
              <a:buChar char="•"/>
            </a:pPr>
            <a:r>
              <a:rPr lang="en-US" sz="4123">
                <a:solidFill>
                  <a:srgbClr val="253439"/>
                </a:solidFill>
                <a:latin typeface="Abstracted Dream"/>
                <a:ea typeface="Abstracted Dream"/>
                <a:cs typeface="Abstracted Dream"/>
                <a:sym typeface="Abstracted Dream"/>
              </a:rPr>
              <a:t>T</a:t>
            </a:r>
            <a:r>
              <a:rPr lang="en-US" sz="4123">
                <a:solidFill>
                  <a:srgbClr val="253439"/>
                </a:solidFill>
                <a:latin typeface="Abstracted Dream"/>
                <a:ea typeface="Abstracted Dream"/>
                <a:cs typeface="Abstracted Dream"/>
                <a:sym typeface="Abstracted Dream"/>
              </a:rPr>
              <a:t>o provide real-time or near-real-time feedback for posture correction</a:t>
            </a:r>
          </a:p>
          <a:p>
            <a:pPr algn="l" marL="890209" indent="-445104" lvl="1">
              <a:lnSpc>
                <a:spcPts val="4947"/>
              </a:lnSpc>
              <a:buFont typeface="Arial"/>
              <a:buChar char="•"/>
            </a:pPr>
            <a:r>
              <a:rPr lang="en-US" sz="4123">
                <a:solidFill>
                  <a:srgbClr val="253439"/>
                </a:solidFill>
                <a:latin typeface="Abstracted Dream"/>
                <a:ea typeface="Abstracted Dream"/>
                <a:cs typeface="Abstracted Dream"/>
                <a:sym typeface="Abstracted Dream"/>
              </a:rPr>
              <a:t>To increase accessibility to expert-level exercise guidance.</a:t>
            </a:r>
          </a:p>
          <a:p>
            <a:pPr algn="l" marL="890209" indent="-445104" lvl="1">
              <a:lnSpc>
                <a:spcPts val="4947"/>
              </a:lnSpc>
              <a:buFont typeface="Arial"/>
              <a:buChar char="•"/>
            </a:pPr>
            <a:r>
              <a:rPr lang="en-US" sz="4123">
                <a:solidFill>
                  <a:srgbClr val="253439"/>
                </a:solidFill>
                <a:latin typeface="Abstracted Dream"/>
                <a:ea typeface="Abstracted Dream"/>
                <a:cs typeface="Abstracted Dream"/>
                <a:sym typeface="Abstracted Dream"/>
              </a:rPr>
              <a:t>To evaluate the effectiveness of the app in improving exercise posture.</a:t>
            </a:r>
          </a:p>
          <a:p>
            <a:pPr algn="l" marL="890209" indent="-445104" lvl="1">
              <a:lnSpc>
                <a:spcPts val="4947"/>
              </a:lnSpc>
              <a:buFont typeface="Arial"/>
              <a:buChar char="•"/>
            </a:pPr>
            <a:r>
              <a:rPr lang="en-US" sz="4123">
                <a:solidFill>
                  <a:srgbClr val="253439"/>
                </a:solidFill>
                <a:latin typeface="Abstracted Dream"/>
                <a:ea typeface="Abstracted Dream"/>
                <a:cs typeface="Abstracted Dream"/>
                <a:sym typeface="Abstracted Dream"/>
              </a:rPr>
              <a:t>To ensure the app is user-friendly, scalable, and suitable for diverse populations.</a:t>
            </a:r>
          </a:p>
          <a:p>
            <a:pPr algn="l">
              <a:lnSpc>
                <a:spcPts val="4947"/>
              </a:lnSpc>
            </a:pP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flipH="true">
            <a:off x="1680065" y="868460"/>
            <a:ext cx="0" cy="1434781"/>
          </a:xfrm>
          <a:prstGeom prst="line">
            <a:avLst/>
          </a:prstGeom>
          <a:ln cap="flat" w="133350">
            <a:solidFill>
              <a:srgbClr val="D15353"/>
            </a:solidFill>
            <a:prstDash val="solid"/>
            <a:headEnd type="none" len="sm" w="sm"/>
            <a:tailEnd type="none" len="sm" w="sm"/>
          </a:ln>
        </p:spPr>
      </p:sp>
      <p:sp>
        <p:nvSpPr>
          <p:cNvPr name="Freeform 3" id="3"/>
          <p:cNvSpPr/>
          <p:nvPr/>
        </p:nvSpPr>
        <p:spPr>
          <a:xfrm flipH="false" flipV="false" rot="-10800000">
            <a:off x="10627871" y="-1393657"/>
            <a:ext cx="11173984" cy="7393795"/>
          </a:xfrm>
          <a:custGeom>
            <a:avLst/>
            <a:gdLst/>
            <a:ahLst/>
            <a:cxnLst/>
            <a:rect r="r" b="b" t="t" l="l"/>
            <a:pathLst>
              <a:path h="7393795" w="11173984">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4" id="4">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314" t="2643" r="0" b="2643"/>
          <a:stretch>
            <a:fillRect/>
          </a:stretch>
        </p:blipFill>
        <p:spPr>
          <a:xfrm flipH="false" flipV="false" rot="0">
            <a:off x="1943623" y="2878382"/>
            <a:ext cx="7800136" cy="4530235"/>
          </a:xfrm>
          <a:prstGeom prst="rect">
            <a:avLst/>
          </a:prstGeom>
        </p:spPr>
      </p:pic>
      <p:pic>
        <p:nvPicPr>
          <p:cNvPr name="Picture 5" id="5">
            <a:hlinkClick action="ppaction://media"/>
          </p:cNvPr>
          <p:cNvPicPr>
            <a:picLocks noChangeAspect="true"/>
          </p:cNvPicPr>
          <p:nvPr>
            <a:videoFile r:link="rId8"/>
            <p:extLst>
              <p:ext uri="{DAA4B4D4-6D71-4841-9C94-3DE7FCFB9230}">
                <p14:media xmlns:p14="http://schemas.microsoft.com/office/powerpoint/2010/main" r:embed="rId9"/>
              </p:ext>
            </p:extLst>
          </p:nvPr>
        </p:nvPicPr>
        <p:blipFill>
          <a:blip r:embed="rId7"/>
          <a:srcRect l="2569" t="0" r="2569" b="0"/>
          <a:stretch>
            <a:fillRect/>
          </a:stretch>
        </p:blipFill>
        <p:spPr>
          <a:xfrm flipH="false" flipV="false" rot="0">
            <a:off x="10109659" y="5143500"/>
            <a:ext cx="6835950" cy="4396318"/>
          </a:xfrm>
          <a:prstGeom prst="rect">
            <a:avLst/>
          </a:prstGeom>
        </p:spPr>
      </p:pic>
      <p:sp>
        <p:nvSpPr>
          <p:cNvPr name="TextBox 6" id="6"/>
          <p:cNvSpPr txBox="true"/>
          <p:nvPr/>
        </p:nvSpPr>
        <p:spPr>
          <a:xfrm rot="0">
            <a:off x="1943623" y="1133475"/>
            <a:ext cx="8881131" cy="1060831"/>
          </a:xfrm>
          <a:prstGeom prst="rect">
            <a:avLst/>
          </a:prstGeom>
        </p:spPr>
        <p:txBody>
          <a:bodyPr anchor="t" rtlCol="false" tIns="0" lIns="0" bIns="0" rIns="0">
            <a:spAutoFit/>
          </a:bodyPr>
          <a:lstStyle/>
          <a:p>
            <a:pPr algn="l">
              <a:lnSpc>
                <a:spcPts val="8162"/>
              </a:lnSpc>
            </a:pPr>
            <a:r>
              <a:rPr lang="en-US" b="true" sz="7700">
                <a:solidFill>
                  <a:srgbClr val="253439"/>
                </a:solidFill>
                <a:latin typeface="Glacial Indifference Bold"/>
                <a:ea typeface="Glacial Indifference Bold"/>
                <a:cs typeface="Glacial Indifference Bold"/>
                <a:sym typeface="Glacial Indifference Bold"/>
              </a:rPr>
              <a:t>HOW IT WORKS</a:t>
            </a:r>
          </a:p>
        </p:txBody>
      </p:sp>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video>
              <p:cMediaNode vol="100000">
                <p:cTn fill="hold" display="false">
                  <p:stCondLst>
                    <p:cond delay="indefinite"/>
                  </p:stCondLst>
                </p:cTn>
                <p:tgtEl>
                  <p:spTgt spid="5"/>
                </p:tgtEl>
              </p:cMediaNode>
            </p:video>
          </p:childTnLst>
        </p:cTn>
      </p:par>
    </p:tnLst>
  </p:timing>
</p:sld>
</file>

<file path=ppt/slides/slide5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9388554">
            <a:off x="4983884" y="-5825395"/>
            <a:ext cx="15806184" cy="9426233"/>
          </a:xfrm>
          <a:custGeom>
            <a:avLst/>
            <a:gdLst/>
            <a:ahLst/>
            <a:cxnLst/>
            <a:rect r="r" b="b" t="t" l="l"/>
            <a:pathLst>
              <a:path h="9426233" w="15806184">
                <a:moveTo>
                  <a:pt x="0" y="0"/>
                </a:moveTo>
                <a:lnTo>
                  <a:pt x="15806184" y="0"/>
                </a:lnTo>
                <a:lnTo>
                  <a:pt x="15806184" y="9426233"/>
                </a:lnTo>
                <a:lnTo>
                  <a:pt x="0" y="94262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49857" y="1358366"/>
            <a:ext cx="10771080" cy="2089531"/>
          </a:xfrm>
          <a:prstGeom prst="rect">
            <a:avLst/>
          </a:prstGeom>
        </p:spPr>
        <p:txBody>
          <a:bodyPr anchor="t" rtlCol="false" tIns="0" lIns="0" bIns="0" rIns="0">
            <a:spAutoFit/>
          </a:bodyPr>
          <a:lstStyle/>
          <a:p>
            <a:pPr algn="l">
              <a:lnSpc>
                <a:spcPts val="8162"/>
              </a:lnSpc>
            </a:pPr>
            <a:r>
              <a:rPr lang="en-US" b="true" sz="7700">
                <a:solidFill>
                  <a:srgbClr val="253439"/>
                </a:solidFill>
                <a:latin typeface="Glacial Indifference Bold"/>
                <a:ea typeface="Glacial Indifference Bold"/>
                <a:cs typeface="Glacial Indifference Bold"/>
                <a:sym typeface="Glacial Indifference Bold"/>
              </a:rPr>
              <a:t>FRONTEND INTERGRATION</a:t>
            </a:r>
          </a:p>
        </p:txBody>
      </p:sp>
      <p:sp>
        <p:nvSpPr>
          <p:cNvPr name="AutoShape 4" id="4"/>
          <p:cNvSpPr/>
          <p:nvPr/>
        </p:nvSpPr>
        <p:spPr>
          <a:xfrm>
            <a:off x="1229921" y="1028700"/>
            <a:ext cx="0" cy="2419198"/>
          </a:xfrm>
          <a:prstGeom prst="line">
            <a:avLst/>
          </a:prstGeom>
          <a:ln cap="flat" w="133350">
            <a:solidFill>
              <a:srgbClr val="D15353"/>
            </a:solidFill>
            <a:prstDash val="solid"/>
            <a:headEnd type="none" len="sm" w="sm"/>
            <a:tailEnd type="none" len="sm" w="sm"/>
          </a:ln>
        </p:spPr>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245775">
            <a:off x="12264336" y="-1659029"/>
            <a:ext cx="11173984" cy="7393795"/>
          </a:xfrm>
          <a:custGeom>
            <a:avLst/>
            <a:gdLst/>
            <a:ahLst/>
            <a:cxnLst/>
            <a:rect r="r" b="b" t="t" l="l"/>
            <a:pathLst>
              <a:path h="7393795" w="11173984">
                <a:moveTo>
                  <a:pt x="0" y="0"/>
                </a:moveTo>
                <a:lnTo>
                  <a:pt x="11173984" y="0"/>
                </a:lnTo>
                <a:lnTo>
                  <a:pt x="11173984" y="7393794"/>
                </a:lnTo>
                <a:lnTo>
                  <a:pt x="0" y="7393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H="true">
            <a:off x="1778507" y="782596"/>
            <a:ext cx="0" cy="1434781"/>
          </a:xfrm>
          <a:prstGeom prst="line">
            <a:avLst/>
          </a:prstGeom>
          <a:ln cap="flat" w="133350">
            <a:solidFill>
              <a:srgbClr val="D15353"/>
            </a:solidFill>
            <a:prstDash val="solid"/>
            <a:headEnd type="none" len="sm" w="sm"/>
            <a:tailEnd type="none" len="sm" w="sm"/>
          </a:ln>
        </p:spPr>
      </p:sp>
      <p:sp>
        <p:nvSpPr>
          <p:cNvPr name="Freeform 4" id="4"/>
          <p:cNvSpPr/>
          <p:nvPr/>
        </p:nvSpPr>
        <p:spPr>
          <a:xfrm flipH="false" flipV="false" rot="0">
            <a:off x="2091286" y="3005541"/>
            <a:ext cx="5714819" cy="4600429"/>
          </a:xfrm>
          <a:custGeom>
            <a:avLst/>
            <a:gdLst/>
            <a:ahLst/>
            <a:cxnLst/>
            <a:rect r="r" b="b" t="t" l="l"/>
            <a:pathLst>
              <a:path h="4600429" w="5714819">
                <a:moveTo>
                  <a:pt x="0" y="0"/>
                </a:moveTo>
                <a:lnTo>
                  <a:pt x="5714819" y="0"/>
                </a:lnTo>
                <a:lnTo>
                  <a:pt x="5714819" y="4600429"/>
                </a:lnTo>
                <a:lnTo>
                  <a:pt x="0" y="4600429"/>
                </a:lnTo>
                <a:lnTo>
                  <a:pt x="0" y="0"/>
                </a:lnTo>
                <a:close/>
              </a:path>
            </a:pathLst>
          </a:custGeom>
          <a:blipFill>
            <a:blip r:embed="rId4"/>
            <a:stretch>
              <a:fillRect l="0" t="0" r="0" b="0"/>
            </a:stretch>
          </a:blipFill>
        </p:spPr>
      </p:sp>
      <p:sp>
        <p:nvSpPr>
          <p:cNvPr name="Freeform 5" id="5"/>
          <p:cNvSpPr/>
          <p:nvPr/>
        </p:nvSpPr>
        <p:spPr>
          <a:xfrm flipH="false" flipV="false" rot="0">
            <a:off x="9427799" y="2451788"/>
            <a:ext cx="5403414" cy="6356958"/>
          </a:xfrm>
          <a:custGeom>
            <a:avLst/>
            <a:gdLst/>
            <a:ahLst/>
            <a:cxnLst/>
            <a:rect r="r" b="b" t="t" l="l"/>
            <a:pathLst>
              <a:path h="6356958" w="5403414">
                <a:moveTo>
                  <a:pt x="0" y="0"/>
                </a:moveTo>
                <a:lnTo>
                  <a:pt x="5403414" y="0"/>
                </a:lnTo>
                <a:lnTo>
                  <a:pt x="5403414" y="6356958"/>
                </a:lnTo>
                <a:lnTo>
                  <a:pt x="0" y="6356958"/>
                </a:lnTo>
                <a:lnTo>
                  <a:pt x="0" y="0"/>
                </a:lnTo>
                <a:close/>
              </a:path>
            </a:pathLst>
          </a:custGeom>
          <a:blipFill>
            <a:blip r:embed="rId5"/>
            <a:stretch>
              <a:fillRect l="0" t="0" r="0" b="0"/>
            </a:stretch>
          </a:blipFill>
        </p:spPr>
      </p:sp>
      <p:sp>
        <p:nvSpPr>
          <p:cNvPr name="TextBox 6" id="6"/>
          <p:cNvSpPr txBox="true"/>
          <p:nvPr/>
        </p:nvSpPr>
        <p:spPr>
          <a:xfrm rot="0">
            <a:off x="2091286" y="1156545"/>
            <a:ext cx="10771080" cy="1060831"/>
          </a:xfrm>
          <a:prstGeom prst="rect">
            <a:avLst/>
          </a:prstGeom>
        </p:spPr>
        <p:txBody>
          <a:bodyPr anchor="t" rtlCol="false" tIns="0" lIns="0" bIns="0" rIns="0">
            <a:spAutoFit/>
          </a:bodyPr>
          <a:lstStyle/>
          <a:p>
            <a:pPr algn="l">
              <a:lnSpc>
                <a:spcPts val="8162"/>
              </a:lnSpc>
            </a:pPr>
            <a:r>
              <a:rPr lang="en-US" b="true" sz="7700">
                <a:solidFill>
                  <a:srgbClr val="253439"/>
                </a:solidFill>
                <a:latin typeface="Glacial Indifference Bold"/>
                <a:ea typeface="Glacial Indifference Bold"/>
                <a:cs typeface="Glacial Indifference Bold"/>
                <a:sym typeface="Glacial Indifference Bold"/>
              </a:rPr>
              <a:t>EVIDENCE</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245775">
            <a:off x="12399641" y="-1795285"/>
            <a:ext cx="11173984" cy="7393795"/>
          </a:xfrm>
          <a:custGeom>
            <a:avLst/>
            <a:gdLst/>
            <a:ahLst/>
            <a:cxnLst/>
            <a:rect r="r" b="b" t="t" l="l"/>
            <a:pathLst>
              <a:path h="7393795" w="11173984">
                <a:moveTo>
                  <a:pt x="0" y="0"/>
                </a:moveTo>
                <a:lnTo>
                  <a:pt x="11173984" y="0"/>
                </a:lnTo>
                <a:lnTo>
                  <a:pt x="11173984" y="7393794"/>
                </a:lnTo>
                <a:lnTo>
                  <a:pt x="0" y="7393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88934" y="591279"/>
            <a:ext cx="6976608" cy="877529"/>
          </a:xfrm>
          <a:prstGeom prst="rect">
            <a:avLst/>
          </a:prstGeom>
        </p:spPr>
        <p:txBody>
          <a:bodyPr anchor="t" rtlCol="false" tIns="0" lIns="0" bIns="0" rIns="0">
            <a:spAutoFit/>
          </a:bodyPr>
          <a:lstStyle/>
          <a:p>
            <a:pPr algn="r" marL="0" indent="0" lvl="0">
              <a:lnSpc>
                <a:spcPts val="6710"/>
              </a:lnSpc>
            </a:pPr>
            <a:r>
              <a:rPr lang="en-US" b="true" sz="6100">
                <a:solidFill>
                  <a:srgbClr val="253439"/>
                </a:solidFill>
                <a:latin typeface="Glacial Indifference Bold"/>
                <a:ea typeface="Glacial Indifference Bold"/>
                <a:cs typeface="Glacial Indifference Bold"/>
                <a:sym typeface="Glacial Indifference Bold"/>
              </a:rPr>
              <a:t>SYSTEM DIAGRAM</a:t>
            </a:r>
          </a:p>
        </p:txBody>
      </p:sp>
      <p:sp>
        <p:nvSpPr>
          <p:cNvPr name="AutoShape 4" id="4"/>
          <p:cNvSpPr/>
          <p:nvPr/>
        </p:nvSpPr>
        <p:spPr>
          <a:xfrm flipH="true">
            <a:off x="1822259" y="288840"/>
            <a:ext cx="0" cy="1434781"/>
          </a:xfrm>
          <a:prstGeom prst="line">
            <a:avLst/>
          </a:prstGeom>
          <a:ln cap="flat" w="133350">
            <a:solidFill>
              <a:srgbClr val="D15353"/>
            </a:solidFill>
            <a:prstDash val="solid"/>
            <a:headEnd type="none" len="sm" w="sm"/>
            <a:tailEnd type="none" len="sm" w="sm"/>
          </a:ln>
        </p:spPr>
      </p:sp>
      <p:grpSp>
        <p:nvGrpSpPr>
          <p:cNvPr name="Group 5" id="5"/>
          <p:cNvGrpSpPr/>
          <p:nvPr/>
        </p:nvGrpSpPr>
        <p:grpSpPr>
          <a:xfrm rot="0">
            <a:off x="1319691" y="1468808"/>
            <a:ext cx="16210956" cy="8520393"/>
            <a:chOff x="0" y="0"/>
            <a:chExt cx="21614607" cy="11360524"/>
          </a:xfrm>
        </p:grpSpPr>
        <p:grpSp>
          <p:nvGrpSpPr>
            <p:cNvPr name="Group 6" id="6"/>
            <p:cNvGrpSpPr/>
            <p:nvPr/>
          </p:nvGrpSpPr>
          <p:grpSpPr>
            <a:xfrm rot="0">
              <a:off x="3098334" y="5672827"/>
              <a:ext cx="18516274" cy="5687698"/>
              <a:chOff x="0" y="0"/>
              <a:chExt cx="3657536" cy="1123496"/>
            </a:xfrm>
          </p:grpSpPr>
          <p:sp>
            <p:nvSpPr>
              <p:cNvPr name="Freeform 7" id="7"/>
              <p:cNvSpPr/>
              <p:nvPr/>
            </p:nvSpPr>
            <p:spPr>
              <a:xfrm flipH="false" flipV="false" rot="0">
                <a:off x="0" y="0"/>
                <a:ext cx="3657536" cy="1123496"/>
              </a:xfrm>
              <a:custGeom>
                <a:avLst/>
                <a:gdLst/>
                <a:ahLst/>
                <a:cxnLst/>
                <a:rect r="r" b="b" t="t" l="l"/>
                <a:pathLst>
                  <a:path h="1123496" w="3657536">
                    <a:moveTo>
                      <a:pt x="0" y="0"/>
                    </a:moveTo>
                    <a:lnTo>
                      <a:pt x="3657536" y="0"/>
                    </a:lnTo>
                    <a:lnTo>
                      <a:pt x="3657536" y="1123496"/>
                    </a:lnTo>
                    <a:lnTo>
                      <a:pt x="0" y="1123496"/>
                    </a:lnTo>
                    <a:close/>
                  </a:path>
                </a:pathLst>
              </a:custGeom>
              <a:solidFill>
                <a:srgbClr val="000000">
                  <a:alpha val="0"/>
                </a:srgbClr>
              </a:solidFill>
              <a:ln w="76200" cap="sq">
                <a:solidFill>
                  <a:srgbClr val="000000"/>
                </a:solidFill>
                <a:prstDash val="solid"/>
                <a:miter/>
              </a:ln>
            </p:spPr>
          </p:sp>
          <p:sp>
            <p:nvSpPr>
              <p:cNvPr name="TextBox 8" id="8"/>
              <p:cNvSpPr txBox="true"/>
              <p:nvPr/>
            </p:nvSpPr>
            <p:spPr>
              <a:xfrm>
                <a:off x="0" y="-9525"/>
                <a:ext cx="3657536" cy="1133021"/>
              </a:xfrm>
              <a:prstGeom prst="rect">
                <a:avLst/>
              </a:prstGeom>
            </p:spPr>
            <p:txBody>
              <a:bodyPr anchor="ctr" rtlCol="false" tIns="50800" lIns="50800" bIns="50800" rIns="50800"/>
              <a:lstStyle/>
              <a:p>
                <a:pPr algn="ctr">
                  <a:lnSpc>
                    <a:spcPts val="2816"/>
                  </a:lnSpc>
                </a:pPr>
              </a:p>
            </p:txBody>
          </p:sp>
        </p:grpSp>
        <p:sp>
          <p:nvSpPr>
            <p:cNvPr name="Freeform 9" id="9"/>
            <p:cNvSpPr/>
            <p:nvPr/>
          </p:nvSpPr>
          <p:spPr>
            <a:xfrm flipH="false" flipV="false" rot="-29288">
              <a:off x="7370" y="1182433"/>
              <a:ext cx="1519102" cy="1736635"/>
            </a:xfrm>
            <a:custGeom>
              <a:avLst/>
              <a:gdLst/>
              <a:ahLst/>
              <a:cxnLst/>
              <a:rect r="r" b="b" t="t" l="l"/>
              <a:pathLst>
                <a:path h="1736635" w="1519102">
                  <a:moveTo>
                    <a:pt x="0" y="0"/>
                  </a:moveTo>
                  <a:lnTo>
                    <a:pt x="1519102" y="0"/>
                  </a:lnTo>
                  <a:lnTo>
                    <a:pt x="1519102" y="1736635"/>
                  </a:lnTo>
                  <a:lnTo>
                    <a:pt x="0" y="1736635"/>
                  </a:lnTo>
                  <a:lnTo>
                    <a:pt x="0" y="0"/>
                  </a:lnTo>
                  <a:close/>
                </a:path>
              </a:pathLst>
            </a:custGeom>
            <a:blipFill>
              <a:blip r:embed="rId4"/>
              <a:stretch>
                <a:fillRect l="0" t="0" r="0" b="0"/>
              </a:stretch>
            </a:blipFill>
          </p:spPr>
        </p:sp>
        <p:sp>
          <p:nvSpPr>
            <p:cNvPr name="AutoShape 10" id="10"/>
            <p:cNvSpPr/>
            <p:nvPr/>
          </p:nvSpPr>
          <p:spPr>
            <a:xfrm>
              <a:off x="1526445" y="2044279"/>
              <a:ext cx="2023796" cy="6471"/>
            </a:xfrm>
            <a:prstGeom prst="line">
              <a:avLst/>
            </a:prstGeom>
            <a:ln cap="flat" w="50800">
              <a:solidFill>
                <a:srgbClr val="D15353"/>
              </a:solidFill>
              <a:prstDash val="solid"/>
              <a:headEnd type="none" len="sm" w="sm"/>
              <a:tailEnd type="arrow" len="sm" w="med"/>
            </a:ln>
          </p:spPr>
        </p:sp>
        <p:grpSp>
          <p:nvGrpSpPr>
            <p:cNvPr name="Group 11" id="11"/>
            <p:cNvGrpSpPr/>
            <p:nvPr/>
          </p:nvGrpSpPr>
          <p:grpSpPr>
            <a:xfrm rot="0">
              <a:off x="3550241" y="800947"/>
              <a:ext cx="9674541" cy="3210942"/>
              <a:chOff x="0" y="0"/>
              <a:chExt cx="1911020" cy="634260"/>
            </a:xfrm>
          </p:grpSpPr>
          <p:sp>
            <p:nvSpPr>
              <p:cNvPr name="Freeform 12" id="12"/>
              <p:cNvSpPr/>
              <p:nvPr/>
            </p:nvSpPr>
            <p:spPr>
              <a:xfrm flipH="false" flipV="false" rot="0">
                <a:off x="0" y="0"/>
                <a:ext cx="1911020" cy="634260"/>
              </a:xfrm>
              <a:custGeom>
                <a:avLst/>
                <a:gdLst/>
                <a:ahLst/>
                <a:cxnLst/>
                <a:rect r="r" b="b" t="t" l="l"/>
                <a:pathLst>
                  <a:path h="634260" w="1911020">
                    <a:moveTo>
                      <a:pt x="0" y="0"/>
                    </a:moveTo>
                    <a:lnTo>
                      <a:pt x="1911020" y="0"/>
                    </a:lnTo>
                    <a:lnTo>
                      <a:pt x="1911020" y="634260"/>
                    </a:lnTo>
                    <a:lnTo>
                      <a:pt x="0" y="634260"/>
                    </a:lnTo>
                    <a:close/>
                  </a:path>
                </a:pathLst>
              </a:custGeom>
              <a:solidFill>
                <a:srgbClr val="000000">
                  <a:alpha val="0"/>
                </a:srgbClr>
              </a:solidFill>
              <a:ln w="76200" cap="sq">
                <a:solidFill>
                  <a:srgbClr val="000000"/>
                </a:solidFill>
                <a:prstDash val="solid"/>
                <a:miter/>
              </a:ln>
            </p:spPr>
          </p:sp>
          <p:sp>
            <p:nvSpPr>
              <p:cNvPr name="TextBox 13" id="13"/>
              <p:cNvSpPr txBox="true"/>
              <p:nvPr/>
            </p:nvSpPr>
            <p:spPr>
              <a:xfrm>
                <a:off x="0" y="-9525"/>
                <a:ext cx="1911020" cy="643785"/>
              </a:xfrm>
              <a:prstGeom prst="rect">
                <a:avLst/>
              </a:prstGeom>
            </p:spPr>
            <p:txBody>
              <a:bodyPr anchor="ctr" rtlCol="false" tIns="50800" lIns="50800" bIns="50800" rIns="50800"/>
              <a:lstStyle/>
              <a:p>
                <a:pPr algn="ctr">
                  <a:lnSpc>
                    <a:spcPts val="2816"/>
                  </a:lnSpc>
                </a:pPr>
              </a:p>
            </p:txBody>
          </p:sp>
        </p:grpSp>
        <p:sp>
          <p:nvSpPr>
            <p:cNvPr name="Freeform 14" id="14"/>
            <p:cNvSpPr/>
            <p:nvPr/>
          </p:nvSpPr>
          <p:spPr>
            <a:xfrm flipH="false" flipV="false" rot="-29288">
              <a:off x="3736215" y="1116355"/>
              <a:ext cx="1199037" cy="1454151"/>
            </a:xfrm>
            <a:custGeom>
              <a:avLst/>
              <a:gdLst/>
              <a:ahLst/>
              <a:cxnLst/>
              <a:rect r="r" b="b" t="t" l="l"/>
              <a:pathLst>
                <a:path h="1454151" w="1199037">
                  <a:moveTo>
                    <a:pt x="0" y="0"/>
                  </a:moveTo>
                  <a:lnTo>
                    <a:pt x="1199037" y="0"/>
                  </a:lnTo>
                  <a:lnTo>
                    <a:pt x="1199037" y="1454151"/>
                  </a:lnTo>
                  <a:lnTo>
                    <a:pt x="0" y="1454151"/>
                  </a:lnTo>
                  <a:lnTo>
                    <a:pt x="0" y="0"/>
                  </a:lnTo>
                  <a:close/>
                </a:path>
              </a:pathLst>
            </a:custGeom>
            <a:blipFill>
              <a:blip r:embed="rId5"/>
              <a:stretch>
                <a:fillRect l="0" t="0" r="0" b="0"/>
              </a:stretch>
            </a:blipFill>
          </p:spPr>
        </p:sp>
        <p:sp>
          <p:nvSpPr>
            <p:cNvPr name="Freeform 15" id="15"/>
            <p:cNvSpPr/>
            <p:nvPr/>
          </p:nvSpPr>
          <p:spPr>
            <a:xfrm flipH="false" flipV="false" rot="-29288">
              <a:off x="6494992" y="1111247"/>
              <a:ext cx="1199037" cy="1454151"/>
            </a:xfrm>
            <a:custGeom>
              <a:avLst/>
              <a:gdLst/>
              <a:ahLst/>
              <a:cxnLst/>
              <a:rect r="r" b="b" t="t" l="l"/>
              <a:pathLst>
                <a:path h="1454151" w="1199037">
                  <a:moveTo>
                    <a:pt x="0" y="0"/>
                  </a:moveTo>
                  <a:lnTo>
                    <a:pt x="1199037" y="0"/>
                  </a:lnTo>
                  <a:lnTo>
                    <a:pt x="1199037" y="1454151"/>
                  </a:lnTo>
                  <a:lnTo>
                    <a:pt x="0" y="1454151"/>
                  </a:lnTo>
                  <a:lnTo>
                    <a:pt x="0" y="0"/>
                  </a:lnTo>
                  <a:close/>
                </a:path>
              </a:pathLst>
            </a:custGeom>
            <a:blipFill>
              <a:blip r:embed="rId5"/>
              <a:stretch>
                <a:fillRect l="0" t="0" r="0" b="0"/>
              </a:stretch>
            </a:blipFill>
          </p:spPr>
        </p:sp>
        <p:sp>
          <p:nvSpPr>
            <p:cNvPr name="AutoShape 16" id="16"/>
            <p:cNvSpPr/>
            <p:nvPr/>
          </p:nvSpPr>
          <p:spPr>
            <a:xfrm>
              <a:off x="4935230" y="1838323"/>
              <a:ext cx="1559784" cy="5108"/>
            </a:xfrm>
            <a:prstGeom prst="line">
              <a:avLst/>
            </a:prstGeom>
            <a:ln cap="flat" w="50800">
              <a:solidFill>
                <a:srgbClr val="D15353"/>
              </a:solidFill>
              <a:prstDash val="solid"/>
              <a:headEnd type="none" len="sm" w="sm"/>
              <a:tailEnd type="arrow" len="sm" w="med"/>
            </a:ln>
          </p:spPr>
        </p:sp>
        <p:sp>
          <p:nvSpPr>
            <p:cNvPr name="Freeform 17" id="17"/>
            <p:cNvSpPr/>
            <p:nvPr/>
          </p:nvSpPr>
          <p:spPr>
            <a:xfrm flipH="false" flipV="false" rot="-29288">
              <a:off x="11828773" y="1106139"/>
              <a:ext cx="1055396" cy="1454151"/>
            </a:xfrm>
            <a:custGeom>
              <a:avLst/>
              <a:gdLst/>
              <a:ahLst/>
              <a:cxnLst/>
              <a:rect r="r" b="b" t="t" l="l"/>
              <a:pathLst>
                <a:path h="1454151" w="1055396">
                  <a:moveTo>
                    <a:pt x="0" y="0"/>
                  </a:moveTo>
                  <a:lnTo>
                    <a:pt x="1055395" y="0"/>
                  </a:lnTo>
                  <a:lnTo>
                    <a:pt x="1055395" y="1454152"/>
                  </a:lnTo>
                  <a:lnTo>
                    <a:pt x="0" y="1454152"/>
                  </a:lnTo>
                  <a:lnTo>
                    <a:pt x="0" y="0"/>
                  </a:lnTo>
                  <a:close/>
                </a:path>
              </a:pathLst>
            </a:custGeom>
            <a:blipFill>
              <a:blip r:embed="rId5"/>
              <a:stretch>
                <a:fillRect l="-13610" t="-8210" r="-18655" b="-8210"/>
              </a:stretch>
            </a:blipFill>
          </p:spPr>
        </p:sp>
        <p:sp>
          <p:nvSpPr>
            <p:cNvPr name="AutoShape 18" id="18"/>
            <p:cNvSpPr/>
            <p:nvPr/>
          </p:nvSpPr>
          <p:spPr>
            <a:xfrm>
              <a:off x="7694008" y="1833215"/>
              <a:ext cx="4134784" cy="4496"/>
            </a:xfrm>
            <a:prstGeom prst="line">
              <a:avLst/>
            </a:prstGeom>
            <a:ln cap="flat" w="50800">
              <a:solidFill>
                <a:srgbClr val="D15353"/>
              </a:solidFill>
              <a:prstDash val="solid"/>
              <a:headEnd type="none" len="sm" w="sm"/>
              <a:tailEnd type="arrow" len="sm" w="med"/>
            </a:ln>
          </p:spPr>
        </p:sp>
        <p:grpSp>
          <p:nvGrpSpPr>
            <p:cNvPr name="Group 19" id="19"/>
            <p:cNvGrpSpPr/>
            <p:nvPr/>
          </p:nvGrpSpPr>
          <p:grpSpPr>
            <a:xfrm rot="0">
              <a:off x="8914157" y="6081989"/>
              <a:ext cx="6163898" cy="2645515"/>
              <a:chOff x="0" y="0"/>
              <a:chExt cx="1217560" cy="522571"/>
            </a:xfrm>
          </p:grpSpPr>
          <p:sp>
            <p:nvSpPr>
              <p:cNvPr name="Freeform 20" id="20"/>
              <p:cNvSpPr/>
              <p:nvPr/>
            </p:nvSpPr>
            <p:spPr>
              <a:xfrm flipH="false" flipV="false" rot="0">
                <a:off x="0" y="0"/>
                <a:ext cx="1217560" cy="522571"/>
              </a:xfrm>
              <a:custGeom>
                <a:avLst/>
                <a:gdLst/>
                <a:ahLst/>
                <a:cxnLst/>
                <a:rect r="r" b="b" t="t" l="l"/>
                <a:pathLst>
                  <a:path h="522571" w="1217560">
                    <a:moveTo>
                      <a:pt x="0" y="0"/>
                    </a:moveTo>
                    <a:lnTo>
                      <a:pt x="1217560" y="0"/>
                    </a:lnTo>
                    <a:lnTo>
                      <a:pt x="1217560" y="522571"/>
                    </a:lnTo>
                    <a:lnTo>
                      <a:pt x="0" y="522571"/>
                    </a:lnTo>
                    <a:close/>
                  </a:path>
                </a:pathLst>
              </a:custGeom>
              <a:solidFill>
                <a:srgbClr val="000000">
                  <a:alpha val="0"/>
                </a:srgbClr>
              </a:solidFill>
              <a:ln w="47625" cap="sq">
                <a:solidFill>
                  <a:srgbClr val="000000"/>
                </a:solidFill>
                <a:prstDash val="solid"/>
                <a:miter/>
              </a:ln>
            </p:spPr>
          </p:sp>
          <p:sp>
            <p:nvSpPr>
              <p:cNvPr name="TextBox 21" id="21"/>
              <p:cNvSpPr txBox="true"/>
              <p:nvPr/>
            </p:nvSpPr>
            <p:spPr>
              <a:xfrm>
                <a:off x="0" y="-9525"/>
                <a:ext cx="1217560" cy="532096"/>
              </a:xfrm>
              <a:prstGeom prst="rect">
                <a:avLst/>
              </a:prstGeom>
            </p:spPr>
            <p:txBody>
              <a:bodyPr anchor="ctr" rtlCol="false" tIns="50800" lIns="50800" bIns="50800" rIns="50800"/>
              <a:lstStyle/>
              <a:p>
                <a:pPr algn="ctr">
                  <a:lnSpc>
                    <a:spcPts val="2816"/>
                  </a:lnSpc>
                </a:pPr>
              </a:p>
            </p:txBody>
          </p:sp>
        </p:grpSp>
        <p:grpSp>
          <p:nvGrpSpPr>
            <p:cNvPr name="Group 22" id="22"/>
            <p:cNvGrpSpPr/>
            <p:nvPr/>
          </p:nvGrpSpPr>
          <p:grpSpPr>
            <a:xfrm rot="0">
              <a:off x="3562814" y="6079227"/>
              <a:ext cx="3359094" cy="4438044"/>
              <a:chOff x="0" y="0"/>
              <a:chExt cx="663525" cy="876651"/>
            </a:xfrm>
          </p:grpSpPr>
          <p:sp>
            <p:nvSpPr>
              <p:cNvPr name="Freeform 23" id="23"/>
              <p:cNvSpPr/>
              <p:nvPr/>
            </p:nvSpPr>
            <p:spPr>
              <a:xfrm flipH="false" flipV="false" rot="0">
                <a:off x="0" y="0"/>
                <a:ext cx="663525" cy="876651"/>
              </a:xfrm>
              <a:custGeom>
                <a:avLst/>
                <a:gdLst/>
                <a:ahLst/>
                <a:cxnLst/>
                <a:rect r="r" b="b" t="t" l="l"/>
                <a:pathLst>
                  <a:path h="876651" w="663525">
                    <a:moveTo>
                      <a:pt x="0" y="0"/>
                    </a:moveTo>
                    <a:lnTo>
                      <a:pt x="663525" y="0"/>
                    </a:lnTo>
                    <a:lnTo>
                      <a:pt x="663525" y="876651"/>
                    </a:lnTo>
                    <a:lnTo>
                      <a:pt x="0" y="876651"/>
                    </a:lnTo>
                    <a:close/>
                  </a:path>
                </a:pathLst>
              </a:custGeom>
              <a:solidFill>
                <a:srgbClr val="000000">
                  <a:alpha val="0"/>
                </a:srgbClr>
              </a:solidFill>
              <a:ln w="47625" cap="sq">
                <a:solidFill>
                  <a:srgbClr val="000000"/>
                </a:solidFill>
                <a:prstDash val="solid"/>
                <a:miter/>
              </a:ln>
            </p:spPr>
          </p:sp>
          <p:sp>
            <p:nvSpPr>
              <p:cNvPr name="TextBox 24" id="24"/>
              <p:cNvSpPr txBox="true"/>
              <p:nvPr/>
            </p:nvSpPr>
            <p:spPr>
              <a:xfrm>
                <a:off x="0" y="-9525"/>
                <a:ext cx="663525" cy="886176"/>
              </a:xfrm>
              <a:prstGeom prst="rect">
                <a:avLst/>
              </a:prstGeom>
            </p:spPr>
            <p:txBody>
              <a:bodyPr anchor="ctr" rtlCol="false" tIns="50800" lIns="50800" bIns="50800" rIns="50800"/>
              <a:lstStyle/>
              <a:p>
                <a:pPr algn="ctr">
                  <a:lnSpc>
                    <a:spcPts val="2816"/>
                  </a:lnSpc>
                </a:pPr>
              </a:p>
            </p:txBody>
          </p:sp>
        </p:grpSp>
        <p:sp>
          <p:nvSpPr>
            <p:cNvPr name="TextBox 25" id="25"/>
            <p:cNvSpPr txBox="true"/>
            <p:nvPr/>
          </p:nvSpPr>
          <p:spPr>
            <a:xfrm rot="0">
              <a:off x="3730042" y="2696237"/>
              <a:ext cx="2060094" cy="968788"/>
            </a:xfrm>
            <a:prstGeom prst="rect">
              <a:avLst/>
            </a:prstGeom>
          </p:spPr>
          <p:txBody>
            <a:bodyPr anchor="t" rtlCol="false" tIns="0" lIns="0" bIns="0" rIns="0">
              <a:spAutoFit/>
            </a:bodyPr>
            <a:lstStyle/>
            <a:p>
              <a:pPr algn="ctr">
                <a:lnSpc>
                  <a:spcPts val="2681"/>
                </a:lnSpc>
                <a:spcBef>
                  <a:spcPct val="0"/>
                </a:spcBef>
              </a:pPr>
              <a:r>
                <a:rPr lang="en-US" sz="2529">
                  <a:solidFill>
                    <a:srgbClr val="253439"/>
                  </a:solidFill>
                  <a:latin typeface="Abstracted Dream"/>
                  <a:ea typeface="Abstracted Dream"/>
                  <a:cs typeface="Abstracted Dream"/>
                  <a:sym typeface="Abstracted Dream"/>
                </a:rPr>
                <a:t>Exercise Selection UI</a:t>
              </a:r>
            </a:p>
          </p:txBody>
        </p:sp>
        <p:sp>
          <p:nvSpPr>
            <p:cNvPr name="AutoShape 26" id="26"/>
            <p:cNvSpPr/>
            <p:nvPr/>
          </p:nvSpPr>
          <p:spPr>
            <a:xfrm flipH="true">
              <a:off x="3751378" y="1843430"/>
              <a:ext cx="2743637" cy="4235796"/>
            </a:xfrm>
            <a:prstGeom prst="line">
              <a:avLst/>
            </a:prstGeom>
            <a:ln cap="flat" w="50800">
              <a:solidFill>
                <a:srgbClr val="D15353"/>
              </a:solidFill>
              <a:prstDash val="solid"/>
              <a:headEnd type="none" len="sm" w="sm"/>
              <a:tailEnd type="arrow" len="sm" w="med"/>
            </a:ln>
          </p:spPr>
        </p:sp>
        <p:grpSp>
          <p:nvGrpSpPr>
            <p:cNvPr name="Group 27" id="27"/>
            <p:cNvGrpSpPr/>
            <p:nvPr/>
          </p:nvGrpSpPr>
          <p:grpSpPr>
            <a:xfrm rot="0">
              <a:off x="16692599" y="6093204"/>
              <a:ext cx="4428603" cy="2645515"/>
              <a:chOff x="0" y="0"/>
              <a:chExt cx="874786" cy="522571"/>
            </a:xfrm>
          </p:grpSpPr>
          <p:sp>
            <p:nvSpPr>
              <p:cNvPr name="Freeform 28" id="28"/>
              <p:cNvSpPr/>
              <p:nvPr/>
            </p:nvSpPr>
            <p:spPr>
              <a:xfrm flipH="false" flipV="false" rot="0">
                <a:off x="0" y="0"/>
                <a:ext cx="874786" cy="522571"/>
              </a:xfrm>
              <a:custGeom>
                <a:avLst/>
                <a:gdLst/>
                <a:ahLst/>
                <a:cxnLst/>
                <a:rect r="r" b="b" t="t" l="l"/>
                <a:pathLst>
                  <a:path h="522571" w="874786">
                    <a:moveTo>
                      <a:pt x="0" y="0"/>
                    </a:moveTo>
                    <a:lnTo>
                      <a:pt x="874786" y="0"/>
                    </a:lnTo>
                    <a:lnTo>
                      <a:pt x="874786" y="522571"/>
                    </a:lnTo>
                    <a:lnTo>
                      <a:pt x="0" y="522571"/>
                    </a:lnTo>
                    <a:close/>
                  </a:path>
                </a:pathLst>
              </a:custGeom>
              <a:solidFill>
                <a:srgbClr val="000000">
                  <a:alpha val="0"/>
                </a:srgbClr>
              </a:solidFill>
              <a:ln w="47625" cap="sq">
                <a:solidFill>
                  <a:srgbClr val="000000"/>
                </a:solidFill>
                <a:prstDash val="solid"/>
                <a:miter/>
              </a:ln>
            </p:spPr>
          </p:sp>
          <p:sp>
            <p:nvSpPr>
              <p:cNvPr name="TextBox 29" id="29"/>
              <p:cNvSpPr txBox="true"/>
              <p:nvPr/>
            </p:nvSpPr>
            <p:spPr>
              <a:xfrm>
                <a:off x="0" y="-9525"/>
                <a:ext cx="874786" cy="532096"/>
              </a:xfrm>
              <a:prstGeom prst="rect">
                <a:avLst/>
              </a:prstGeom>
            </p:spPr>
            <p:txBody>
              <a:bodyPr anchor="ctr" rtlCol="false" tIns="50800" lIns="50800" bIns="50800" rIns="50800"/>
              <a:lstStyle/>
              <a:p>
                <a:pPr algn="ctr">
                  <a:lnSpc>
                    <a:spcPts val="2816"/>
                  </a:lnSpc>
                </a:pPr>
              </a:p>
            </p:txBody>
          </p:sp>
        </p:grpSp>
        <p:sp>
          <p:nvSpPr>
            <p:cNvPr name="AutoShape 30" id="30"/>
            <p:cNvSpPr/>
            <p:nvPr/>
          </p:nvSpPr>
          <p:spPr>
            <a:xfrm flipH="true" flipV="true">
              <a:off x="11353042" y="8090472"/>
              <a:ext cx="5455700" cy="76249"/>
            </a:xfrm>
            <a:prstGeom prst="line">
              <a:avLst/>
            </a:prstGeom>
            <a:ln cap="flat" w="50800">
              <a:solidFill>
                <a:srgbClr val="D15353"/>
              </a:solidFill>
              <a:prstDash val="solid"/>
              <a:headEnd type="none" len="sm" w="sm"/>
              <a:tailEnd type="arrow" len="sm" w="med"/>
            </a:ln>
          </p:spPr>
        </p:sp>
        <p:sp>
          <p:nvSpPr>
            <p:cNvPr name="Freeform 31" id="31"/>
            <p:cNvSpPr/>
            <p:nvPr/>
          </p:nvSpPr>
          <p:spPr>
            <a:xfrm flipH="false" flipV="false" rot="0">
              <a:off x="3847729" y="6273021"/>
              <a:ext cx="1128964" cy="1128964"/>
            </a:xfrm>
            <a:custGeom>
              <a:avLst/>
              <a:gdLst/>
              <a:ahLst/>
              <a:cxnLst/>
              <a:rect r="r" b="b" t="t" l="l"/>
              <a:pathLst>
                <a:path h="1128964" w="1128964">
                  <a:moveTo>
                    <a:pt x="0" y="0"/>
                  </a:moveTo>
                  <a:lnTo>
                    <a:pt x="1128964" y="0"/>
                  </a:lnTo>
                  <a:lnTo>
                    <a:pt x="1128964" y="1128963"/>
                  </a:lnTo>
                  <a:lnTo>
                    <a:pt x="0" y="11289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32" id="32"/>
            <p:cNvSpPr/>
            <p:nvPr/>
          </p:nvSpPr>
          <p:spPr>
            <a:xfrm flipV="true">
              <a:off x="6440749" y="8738719"/>
              <a:ext cx="10333936" cy="324273"/>
            </a:xfrm>
            <a:prstGeom prst="line">
              <a:avLst/>
            </a:prstGeom>
            <a:ln cap="flat" w="50800">
              <a:solidFill>
                <a:srgbClr val="D15353"/>
              </a:solidFill>
              <a:prstDash val="solid"/>
              <a:headEnd type="none" len="sm" w="sm"/>
              <a:tailEnd type="arrow" len="sm" w="med"/>
            </a:ln>
          </p:spPr>
        </p:sp>
        <p:sp>
          <p:nvSpPr>
            <p:cNvPr name="Freeform 33" id="33"/>
            <p:cNvSpPr/>
            <p:nvPr/>
          </p:nvSpPr>
          <p:spPr>
            <a:xfrm flipH="false" flipV="false" rot="0">
              <a:off x="16808742" y="6563748"/>
              <a:ext cx="1629640" cy="1602973"/>
            </a:xfrm>
            <a:custGeom>
              <a:avLst/>
              <a:gdLst/>
              <a:ahLst/>
              <a:cxnLst/>
              <a:rect r="r" b="b" t="t" l="l"/>
              <a:pathLst>
                <a:path h="1602973" w="1629640">
                  <a:moveTo>
                    <a:pt x="0" y="0"/>
                  </a:moveTo>
                  <a:lnTo>
                    <a:pt x="1629640" y="0"/>
                  </a:lnTo>
                  <a:lnTo>
                    <a:pt x="1629640" y="1602973"/>
                  </a:lnTo>
                  <a:lnTo>
                    <a:pt x="0" y="16029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34" id="34"/>
            <p:cNvGrpSpPr/>
            <p:nvPr/>
          </p:nvGrpSpPr>
          <p:grpSpPr>
            <a:xfrm rot="0">
              <a:off x="3887884" y="8626226"/>
              <a:ext cx="2552864" cy="1634465"/>
              <a:chOff x="0" y="0"/>
              <a:chExt cx="504269" cy="322857"/>
            </a:xfrm>
          </p:grpSpPr>
          <p:sp>
            <p:nvSpPr>
              <p:cNvPr name="Freeform 35" id="35"/>
              <p:cNvSpPr/>
              <p:nvPr/>
            </p:nvSpPr>
            <p:spPr>
              <a:xfrm flipH="false" flipV="false" rot="0">
                <a:off x="0" y="0"/>
                <a:ext cx="504269" cy="322857"/>
              </a:xfrm>
              <a:custGeom>
                <a:avLst/>
                <a:gdLst/>
                <a:ahLst/>
                <a:cxnLst/>
                <a:rect r="r" b="b" t="t" l="l"/>
                <a:pathLst>
                  <a:path h="322857" w="504269">
                    <a:moveTo>
                      <a:pt x="0" y="0"/>
                    </a:moveTo>
                    <a:lnTo>
                      <a:pt x="504269" y="0"/>
                    </a:lnTo>
                    <a:lnTo>
                      <a:pt x="504269" y="322857"/>
                    </a:lnTo>
                    <a:lnTo>
                      <a:pt x="0" y="322857"/>
                    </a:lnTo>
                    <a:close/>
                  </a:path>
                </a:pathLst>
              </a:custGeom>
              <a:solidFill>
                <a:srgbClr val="000000">
                  <a:alpha val="0"/>
                </a:srgbClr>
              </a:solidFill>
              <a:ln w="47625" cap="sq">
                <a:solidFill>
                  <a:srgbClr val="000000"/>
                </a:solidFill>
                <a:prstDash val="solid"/>
                <a:miter/>
              </a:ln>
            </p:spPr>
          </p:sp>
          <p:sp>
            <p:nvSpPr>
              <p:cNvPr name="TextBox 36" id="36"/>
              <p:cNvSpPr txBox="true"/>
              <p:nvPr/>
            </p:nvSpPr>
            <p:spPr>
              <a:xfrm>
                <a:off x="0" y="-9525"/>
                <a:ext cx="504269" cy="332382"/>
              </a:xfrm>
              <a:prstGeom prst="rect">
                <a:avLst/>
              </a:prstGeom>
            </p:spPr>
            <p:txBody>
              <a:bodyPr anchor="ctr" rtlCol="false" tIns="50800" lIns="50800" bIns="50800" rIns="50800"/>
              <a:lstStyle/>
              <a:p>
                <a:pPr algn="ctr">
                  <a:lnSpc>
                    <a:spcPts val="2816"/>
                  </a:lnSpc>
                </a:pPr>
              </a:p>
            </p:txBody>
          </p:sp>
        </p:grpSp>
        <p:sp>
          <p:nvSpPr>
            <p:cNvPr name="AutoShape 37" id="37"/>
            <p:cNvSpPr/>
            <p:nvPr/>
          </p:nvSpPr>
          <p:spPr>
            <a:xfrm>
              <a:off x="4412211" y="7401984"/>
              <a:ext cx="646837" cy="1325520"/>
            </a:xfrm>
            <a:prstGeom prst="line">
              <a:avLst/>
            </a:prstGeom>
            <a:ln cap="flat" w="50800">
              <a:solidFill>
                <a:srgbClr val="D15353"/>
              </a:solidFill>
              <a:prstDash val="solid"/>
              <a:headEnd type="none" len="sm" w="sm"/>
              <a:tailEnd type="arrow" len="sm" w="med"/>
            </a:ln>
          </p:spPr>
        </p:sp>
        <p:sp>
          <p:nvSpPr>
            <p:cNvPr name="AutoShape 38" id="38"/>
            <p:cNvSpPr/>
            <p:nvPr/>
          </p:nvSpPr>
          <p:spPr>
            <a:xfrm>
              <a:off x="14185004" y="7058992"/>
              <a:ext cx="2507595" cy="0"/>
            </a:xfrm>
            <a:prstGeom prst="line">
              <a:avLst/>
            </a:prstGeom>
            <a:ln cap="flat" w="50800">
              <a:solidFill>
                <a:srgbClr val="D15353"/>
              </a:solidFill>
              <a:prstDash val="solid"/>
              <a:headEnd type="none" len="sm" w="sm"/>
              <a:tailEnd type="arrow" len="sm" w="med"/>
            </a:ln>
          </p:spPr>
        </p:sp>
        <p:sp>
          <p:nvSpPr>
            <p:cNvPr name="Freeform 39" id="39"/>
            <p:cNvSpPr/>
            <p:nvPr/>
          </p:nvSpPr>
          <p:spPr>
            <a:xfrm flipH="false" flipV="false" rot="0">
              <a:off x="13326786" y="6356703"/>
              <a:ext cx="858218" cy="1404577"/>
            </a:xfrm>
            <a:custGeom>
              <a:avLst/>
              <a:gdLst/>
              <a:ahLst/>
              <a:cxnLst/>
              <a:rect r="r" b="b" t="t" l="l"/>
              <a:pathLst>
                <a:path h="1404577" w="858218">
                  <a:moveTo>
                    <a:pt x="0" y="0"/>
                  </a:moveTo>
                  <a:lnTo>
                    <a:pt x="858218" y="0"/>
                  </a:lnTo>
                  <a:lnTo>
                    <a:pt x="858218" y="1404577"/>
                  </a:lnTo>
                  <a:lnTo>
                    <a:pt x="0" y="1404577"/>
                  </a:lnTo>
                  <a:lnTo>
                    <a:pt x="0" y="0"/>
                  </a:lnTo>
                  <a:close/>
                </a:path>
              </a:pathLst>
            </a:custGeom>
            <a:blipFill>
              <a:blip r:embed="rId10"/>
              <a:stretch>
                <a:fillRect l="0" t="0" r="0" b="0"/>
              </a:stretch>
            </a:blipFill>
          </p:spPr>
        </p:sp>
        <p:sp>
          <p:nvSpPr>
            <p:cNvPr name="Freeform 40" id="40"/>
            <p:cNvSpPr/>
            <p:nvPr/>
          </p:nvSpPr>
          <p:spPr>
            <a:xfrm flipH="false" flipV="false" rot="0">
              <a:off x="9509400" y="6356703"/>
              <a:ext cx="1047544" cy="1234281"/>
            </a:xfrm>
            <a:custGeom>
              <a:avLst/>
              <a:gdLst/>
              <a:ahLst/>
              <a:cxnLst/>
              <a:rect r="r" b="b" t="t" l="l"/>
              <a:pathLst>
                <a:path h="1234281" w="1047544">
                  <a:moveTo>
                    <a:pt x="0" y="0"/>
                  </a:moveTo>
                  <a:lnTo>
                    <a:pt x="1047545" y="0"/>
                  </a:lnTo>
                  <a:lnTo>
                    <a:pt x="1047545" y="1234281"/>
                  </a:lnTo>
                  <a:lnTo>
                    <a:pt x="0" y="1234281"/>
                  </a:lnTo>
                  <a:lnTo>
                    <a:pt x="0" y="0"/>
                  </a:lnTo>
                  <a:close/>
                </a:path>
              </a:pathLst>
            </a:custGeom>
            <a:blipFill>
              <a:blip r:embed="rId11"/>
              <a:stretch>
                <a:fillRect l="0" t="0" r="0" b="0"/>
              </a:stretch>
            </a:blipFill>
          </p:spPr>
        </p:sp>
        <p:sp>
          <p:nvSpPr>
            <p:cNvPr name="TextBox 41" id="41"/>
            <p:cNvSpPr txBox="true"/>
            <p:nvPr/>
          </p:nvSpPr>
          <p:spPr>
            <a:xfrm rot="0">
              <a:off x="323294" y="2969657"/>
              <a:ext cx="887254" cy="695368"/>
            </a:xfrm>
            <a:prstGeom prst="rect">
              <a:avLst/>
            </a:prstGeom>
          </p:spPr>
          <p:txBody>
            <a:bodyPr anchor="t" rtlCol="false" tIns="0" lIns="0" bIns="0" rIns="0">
              <a:spAutoFit/>
            </a:bodyPr>
            <a:lstStyle/>
            <a:p>
              <a:pPr algn="ctr">
                <a:lnSpc>
                  <a:spcPts val="3551"/>
                </a:lnSpc>
                <a:spcBef>
                  <a:spcPct val="0"/>
                </a:spcBef>
              </a:pPr>
              <a:r>
                <a:rPr lang="en-US" sz="3350">
                  <a:solidFill>
                    <a:srgbClr val="253439"/>
                  </a:solidFill>
                  <a:latin typeface="Abstracted Dream"/>
                  <a:ea typeface="Abstracted Dream"/>
                  <a:cs typeface="Abstracted Dream"/>
                  <a:sym typeface="Abstracted Dream"/>
                </a:rPr>
                <a:t>user</a:t>
              </a:r>
            </a:p>
          </p:txBody>
        </p:sp>
        <p:sp>
          <p:nvSpPr>
            <p:cNvPr name="TextBox 42" id="42"/>
            <p:cNvSpPr txBox="true"/>
            <p:nvPr/>
          </p:nvSpPr>
          <p:spPr>
            <a:xfrm rot="0">
              <a:off x="10785896" y="-28575"/>
              <a:ext cx="4877771" cy="677122"/>
            </a:xfrm>
            <a:prstGeom prst="rect">
              <a:avLst/>
            </a:prstGeom>
          </p:spPr>
          <p:txBody>
            <a:bodyPr anchor="t" rtlCol="false" tIns="0" lIns="0" bIns="0" rIns="0">
              <a:spAutoFit/>
            </a:bodyPr>
            <a:lstStyle/>
            <a:p>
              <a:pPr algn="ctr">
                <a:lnSpc>
                  <a:spcPts val="3445"/>
                </a:lnSpc>
                <a:spcBef>
                  <a:spcPct val="0"/>
                </a:spcBef>
              </a:pPr>
              <a:r>
                <a:rPr lang="en-US" sz="3250">
                  <a:solidFill>
                    <a:srgbClr val="253439"/>
                  </a:solidFill>
                  <a:latin typeface="Abstracted Dream"/>
                  <a:ea typeface="Abstracted Dream"/>
                  <a:cs typeface="Abstracted Dream"/>
                  <a:sym typeface="Abstracted Dream"/>
                </a:rPr>
                <a:t>mobile applicationI</a:t>
              </a:r>
            </a:p>
          </p:txBody>
        </p:sp>
        <p:sp>
          <p:nvSpPr>
            <p:cNvPr name="TextBox 43" id="43"/>
            <p:cNvSpPr txBox="true"/>
            <p:nvPr/>
          </p:nvSpPr>
          <p:spPr>
            <a:xfrm rot="0">
              <a:off x="6181048" y="2638283"/>
              <a:ext cx="2206464" cy="1026742"/>
            </a:xfrm>
            <a:prstGeom prst="rect">
              <a:avLst/>
            </a:prstGeom>
          </p:spPr>
          <p:txBody>
            <a:bodyPr anchor="t" rtlCol="false" tIns="0" lIns="0" bIns="0" rIns="0">
              <a:spAutoFit/>
            </a:bodyPr>
            <a:lstStyle/>
            <a:p>
              <a:pPr algn="ctr">
                <a:lnSpc>
                  <a:spcPts val="2872"/>
                </a:lnSpc>
                <a:spcBef>
                  <a:spcPct val="0"/>
                </a:spcBef>
              </a:pPr>
              <a:r>
                <a:rPr lang="en-US" sz="2709">
                  <a:solidFill>
                    <a:srgbClr val="253439"/>
                  </a:solidFill>
                  <a:latin typeface="Abstracted Dream"/>
                  <a:ea typeface="Abstracted Dream"/>
                  <a:cs typeface="Abstracted Dream"/>
                  <a:sym typeface="Abstracted Dream"/>
                </a:rPr>
                <a:t>Camera Interface</a:t>
              </a:r>
            </a:p>
          </p:txBody>
        </p:sp>
        <p:sp>
          <p:nvSpPr>
            <p:cNvPr name="TextBox 44" id="44"/>
            <p:cNvSpPr txBox="true"/>
            <p:nvPr/>
          </p:nvSpPr>
          <p:spPr>
            <a:xfrm rot="0">
              <a:off x="11185702" y="2812222"/>
              <a:ext cx="2022298" cy="514645"/>
            </a:xfrm>
            <a:prstGeom prst="rect">
              <a:avLst/>
            </a:prstGeom>
          </p:spPr>
          <p:txBody>
            <a:bodyPr anchor="t" rtlCol="false" tIns="0" lIns="0" bIns="0" rIns="0">
              <a:spAutoFit/>
            </a:bodyPr>
            <a:lstStyle/>
            <a:p>
              <a:pPr algn="ctr">
                <a:lnSpc>
                  <a:spcPts val="2632"/>
                </a:lnSpc>
                <a:spcBef>
                  <a:spcPct val="0"/>
                </a:spcBef>
              </a:pPr>
              <a:r>
                <a:rPr lang="en-US" sz="2483">
                  <a:solidFill>
                    <a:srgbClr val="253439"/>
                  </a:solidFill>
                  <a:latin typeface="Abstracted Dream"/>
                  <a:ea typeface="Abstracted Dream"/>
                  <a:cs typeface="Abstracted Dream"/>
                  <a:sym typeface="Abstracted Dream"/>
                </a:rPr>
                <a:t>Result UI</a:t>
              </a:r>
            </a:p>
          </p:txBody>
        </p:sp>
        <p:sp>
          <p:nvSpPr>
            <p:cNvPr name="TextBox 45" id="45"/>
            <p:cNvSpPr txBox="true"/>
            <p:nvPr/>
          </p:nvSpPr>
          <p:spPr>
            <a:xfrm rot="0">
              <a:off x="16316189" y="4843305"/>
              <a:ext cx="4877771" cy="677122"/>
            </a:xfrm>
            <a:prstGeom prst="rect">
              <a:avLst/>
            </a:prstGeom>
          </p:spPr>
          <p:txBody>
            <a:bodyPr anchor="t" rtlCol="false" tIns="0" lIns="0" bIns="0" rIns="0">
              <a:spAutoFit/>
            </a:bodyPr>
            <a:lstStyle/>
            <a:p>
              <a:pPr algn="ctr">
                <a:lnSpc>
                  <a:spcPts val="3445"/>
                </a:lnSpc>
                <a:spcBef>
                  <a:spcPct val="0"/>
                </a:spcBef>
              </a:pPr>
              <a:r>
                <a:rPr lang="en-US" sz="3250">
                  <a:solidFill>
                    <a:srgbClr val="253439"/>
                  </a:solidFill>
                  <a:latin typeface="Abstracted Dream"/>
                  <a:ea typeface="Abstracted Dream"/>
                  <a:cs typeface="Abstracted Dream"/>
                  <a:sym typeface="Abstracted Dream"/>
                </a:rPr>
                <a:t>Backend server</a:t>
              </a:r>
            </a:p>
          </p:txBody>
        </p:sp>
        <p:sp>
          <p:nvSpPr>
            <p:cNvPr name="TextBox 46" id="46"/>
            <p:cNvSpPr txBox="true"/>
            <p:nvPr/>
          </p:nvSpPr>
          <p:spPr>
            <a:xfrm rot="0">
              <a:off x="9238469" y="8698929"/>
              <a:ext cx="4993982" cy="677122"/>
            </a:xfrm>
            <a:prstGeom prst="rect">
              <a:avLst/>
            </a:prstGeom>
          </p:spPr>
          <p:txBody>
            <a:bodyPr anchor="t" rtlCol="false" tIns="0" lIns="0" bIns="0" rIns="0">
              <a:spAutoFit/>
            </a:bodyPr>
            <a:lstStyle/>
            <a:p>
              <a:pPr algn="ctr">
                <a:lnSpc>
                  <a:spcPts val="3445"/>
                </a:lnSpc>
                <a:spcBef>
                  <a:spcPct val="0"/>
                </a:spcBef>
              </a:pPr>
              <a:r>
                <a:rPr lang="en-US" sz="3250">
                  <a:solidFill>
                    <a:srgbClr val="253439"/>
                  </a:solidFill>
                  <a:latin typeface="Abstracted Dream"/>
                  <a:ea typeface="Abstracted Dream"/>
                  <a:cs typeface="Abstracted Dream"/>
                  <a:sym typeface="Abstracted Dream"/>
                </a:rPr>
                <a:t>MediaPipe Pose Engine</a:t>
              </a:r>
            </a:p>
          </p:txBody>
        </p:sp>
        <p:sp>
          <p:nvSpPr>
            <p:cNvPr name="TextBox 47" id="47"/>
            <p:cNvSpPr txBox="true"/>
            <p:nvPr/>
          </p:nvSpPr>
          <p:spPr>
            <a:xfrm rot="0">
              <a:off x="8944333" y="7562409"/>
              <a:ext cx="2408710" cy="1027551"/>
            </a:xfrm>
            <a:prstGeom prst="rect">
              <a:avLst/>
            </a:prstGeom>
          </p:spPr>
          <p:txBody>
            <a:bodyPr anchor="t" rtlCol="false" tIns="0" lIns="0" bIns="0" rIns="0">
              <a:spAutoFit/>
            </a:bodyPr>
            <a:lstStyle/>
            <a:p>
              <a:pPr algn="ctr">
                <a:lnSpc>
                  <a:spcPts val="2820"/>
                </a:lnSpc>
              </a:pPr>
              <a:r>
                <a:rPr lang="en-US" sz="2661">
                  <a:solidFill>
                    <a:srgbClr val="253439"/>
                  </a:solidFill>
                  <a:latin typeface="Abstracted Dream"/>
                  <a:ea typeface="Abstracted Dream"/>
                  <a:cs typeface="Abstracted Dream"/>
                  <a:sym typeface="Abstracted Dream"/>
                </a:rPr>
                <a:t>landmarks</a:t>
              </a:r>
            </a:p>
            <a:p>
              <a:pPr algn="ctr">
                <a:lnSpc>
                  <a:spcPts val="2820"/>
                </a:lnSpc>
                <a:spcBef>
                  <a:spcPct val="0"/>
                </a:spcBef>
              </a:pPr>
              <a:r>
                <a:rPr lang="en-US" sz="2661">
                  <a:solidFill>
                    <a:srgbClr val="253439"/>
                  </a:solidFill>
                  <a:latin typeface="Abstracted Dream"/>
                  <a:ea typeface="Abstracted Dream"/>
                  <a:cs typeface="Abstracted Dream"/>
                  <a:sym typeface="Abstracted Dream"/>
                </a:rPr>
                <a:t>detection</a:t>
              </a:r>
            </a:p>
          </p:txBody>
        </p:sp>
        <p:sp>
          <p:nvSpPr>
            <p:cNvPr name="TextBox 48" id="48"/>
            <p:cNvSpPr txBox="true"/>
            <p:nvPr/>
          </p:nvSpPr>
          <p:spPr>
            <a:xfrm rot="0">
              <a:off x="3326524" y="4551639"/>
              <a:ext cx="2854524" cy="968788"/>
            </a:xfrm>
            <a:prstGeom prst="rect">
              <a:avLst/>
            </a:prstGeom>
          </p:spPr>
          <p:txBody>
            <a:bodyPr anchor="t" rtlCol="false" tIns="0" lIns="0" bIns="0" rIns="0">
              <a:spAutoFit/>
            </a:bodyPr>
            <a:lstStyle/>
            <a:p>
              <a:pPr algn="ctr">
                <a:lnSpc>
                  <a:spcPts val="2681"/>
                </a:lnSpc>
                <a:spcBef>
                  <a:spcPct val="0"/>
                </a:spcBef>
              </a:pPr>
              <a:r>
                <a:rPr lang="en-US" sz="2529">
                  <a:solidFill>
                    <a:srgbClr val="253439"/>
                  </a:solidFill>
                  <a:latin typeface="Abstracted Dream"/>
                  <a:ea typeface="Abstracted Dream"/>
                  <a:cs typeface="Abstracted Dream"/>
                  <a:sym typeface="Abstracted Dream"/>
                </a:rPr>
                <a:t>HTTP/POST recorded video </a:t>
              </a:r>
            </a:p>
          </p:txBody>
        </p:sp>
        <p:sp>
          <p:nvSpPr>
            <p:cNvPr name="TextBox 49" id="49"/>
            <p:cNvSpPr txBox="true"/>
            <p:nvPr/>
          </p:nvSpPr>
          <p:spPr>
            <a:xfrm rot="0">
              <a:off x="17213219" y="8684934"/>
              <a:ext cx="3083712" cy="602312"/>
            </a:xfrm>
            <a:prstGeom prst="rect">
              <a:avLst/>
            </a:prstGeom>
          </p:spPr>
          <p:txBody>
            <a:bodyPr anchor="t" rtlCol="false" tIns="0" lIns="0" bIns="0" rIns="0">
              <a:spAutoFit/>
            </a:bodyPr>
            <a:lstStyle/>
            <a:p>
              <a:pPr algn="ctr">
                <a:lnSpc>
                  <a:spcPts val="3098"/>
                </a:lnSpc>
                <a:spcBef>
                  <a:spcPct val="0"/>
                </a:spcBef>
              </a:pPr>
              <a:r>
                <a:rPr lang="en-US" sz="2922">
                  <a:solidFill>
                    <a:srgbClr val="253439"/>
                  </a:solidFill>
                  <a:latin typeface="Abstracted Dream"/>
                  <a:ea typeface="Abstracted Dream"/>
                  <a:cs typeface="Abstracted Dream"/>
                  <a:sym typeface="Abstracted Dream"/>
                </a:rPr>
                <a:t>Exercise Models</a:t>
              </a:r>
            </a:p>
          </p:txBody>
        </p:sp>
        <p:sp>
          <p:nvSpPr>
            <p:cNvPr name="TextBox 50" id="50"/>
            <p:cNvSpPr txBox="true"/>
            <p:nvPr/>
          </p:nvSpPr>
          <p:spPr>
            <a:xfrm rot="0">
              <a:off x="3693757" y="10488696"/>
              <a:ext cx="3228151" cy="677122"/>
            </a:xfrm>
            <a:prstGeom prst="rect">
              <a:avLst/>
            </a:prstGeom>
          </p:spPr>
          <p:txBody>
            <a:bodyPr anchor="t" rtlCol="false" tIns="0" lIns="0" bIns="0" rIns="0">
              <a:spAutoFit/>
            </a:bodyPr>
            <a:lstStyle/>
            <a:p>
              <a:pPr algn="ctr">
                <a:lnSpc>
                  <a:spcPts val="3445"/>
                </a:lnSpc>
                <a:spcBef>
                  <a:spcPct val="0"/>
                </a:spcBef>
              </a:pPr>
              <a:r>
                <a:rPr lang="en-US" sz="3250">
                  <a:solidFill>
                    <a:srgbClr val="253439"/>
                  </a:solidFill>
                  <a:latin typeface="Abstracted Dream"/>
                  <a:ea typeface="Abstracted Dream"/>
                  <a:cs typeface="Abstracted Dream"/>
                  <a:sym typeface="Abstracted Dream"/>
                </a:rPr>
                <a:t>FastAPI Server</a:t>
              </a:r>
            </a:p>
          </p:txBody>
        </p:sp>
        <p:sp>
          <p:nvSpPr>
            <p:cNvPr name="TextBox 51" id="51"/>
            <p:cNvSpPr txBox="true"/>
            <p:nvPr/>
          </p:nvSpPr>
          <p:spPr>
            <a:xfrm rot="0">
              <a:off x="4888204" y="6470230"/>
              <a:ext cx="1803866" cy="1027551"/>
            </a:xfrm>
            <a:prstGeom prst="rect">
              <a:avLst/>
            </a:prstGeom>
          </p:spPr>
          <p:txBody>
            <a:bodyPr anchor="t" rtlCol="false" tIns="0" lIns="0" bIns="0" rIns="0">
              <a:spAutoFit/>
            </a:bodyPr>
            <a:lstStyle/>
            <a:p>
              <a:pPr algn="ctr">
                <a:lnSpc>
                  <a:spcPts val="2820"/>
                </a:lnSpc>
                <a:spcBef>
                  <a:spcPct val="0"/>
                </a:spcBef>
              </a:pPr>
              <a:r>
                <a:rPr lang="en-US" sz="2661">
                  <a:solidFill>
                    <a:srgbClr val="253439"/>
                  </a:solidFill>
                  <a:latin typeface="Abstracted Dream"/>
                  <a:ea typeface="Abstracted Dream"/>
                  <a:cs typeface="Abstracted Dream"/>
                  <a:sym typeface="Abstracted Dream"/>
                </a:rPr>
                <a:t>http Endpoint</a:t>
              </a:r>
            </a:p>
          </p:txBody>
        </p:sp>
        <p:sp>
          <p:nvSpPr>
            <p:cNvPr name="TextBox 52" id="52"/>
            <p:cNvSpPr txBox="true"/>
            <p:nvPr/>
          </p:nvSpPr>
          <p:spPr>
            <a:xfrm rot="0">
              <a:off x="18567064" y="7080103"/>
              <a:ext cx="2295707" cy="835346"/>
            </a:xfrm>
            <a:prstGeom prst="rect">
              <a:avLst/>
            </a:prstGeom>
          </p:spPr>
          <p:txBody>
            <a:bodyPr anchor="t" rtlCol="false" tIns="0" lIns="0" bIns="0" rIns="0">
              <a:spAutoFit/>
            </a:bodyPr>
            <a:lstStyle/>
            <a:p>
              <a:pPr algn="ctr">
                <a:lnSpc>
                  <a:spcPts val="2304"/>
                </a:lnSpc>
                <a:spcBef>
                  <a:spcPct val="0"/>
                </a:spcBef>
              </a:pPr>
              <a:r>
                <a:rPr lang="en-US" sz="2174">
                  <a:solidFill>
                    <a:srgbClr val="253439"/>
                  </a:solidFill>
                  <a:latin typeface="Abstracted Dream"/>
                  <a:ea typeface="Abstracted Dream"/>
                  <a:cs typeface="Abstracted Dream"/>
                  <a:sym typeface="Abstracted Dream"/>
                </a:rPr>
                <a:t>Posture Analysis Models</a:t>
              </a:r>
            </a:p>
          </p:txBody>
        </p:sp>
        <p:sp>
          <p:nvSpPr>
            <p:cNvPr name="TextBox 53" id="53"/>
            <p:cNvSpPr txBox="true"/>
            <p:nvPr/>
          </p:nvSpPr>
          <p:spPr>
            <a:xfrm rot="0">
              <a:off x="4263085" y="8879088"/>
              <a:ext cx="2032938" cy="1247598"/>
            </a:xfrm>
            <a:prstGeom prst="rect">
              <a:avLst/>
            </a:prstGeom>
          </p:spPr>
          <p:txBody>
            <a:bodyPr anchor="t" rtlCol="false" tIns="0" lIns="0" bIns="0" rIns="0">
              <a:spAutoFit/>
            </a:bodyPr>
            <a:lstStyle/>
            <a:p>
              <a:pPr algn="ctr">
                <a:lnSpc>
                  <a:spcPts val="2380"/>
                </a:lnSpc>
                <a:spcBef>
                  <a:spcPct val="0"/>
                </a:spcBef>
              </a:pPr>
              <a:r>
                <a:rPr lang="en-US" sz="2245">
                  <a:solidFill>
                    <a:srgbClr val="253439"/>
                  </a:solidFill>
                  <a:latin typeface="Abstracted Dream"/>
                  <a:ea typeface="Abstracted Dream"/>
                  <a:cs typeface="Abstracted Dream"/>
                  <a:sym typeface="Abstracted Dream"/>
                </a:rPr>
                <a:t>video Processing PipeLines</a:t>
              </a:r>
            </a:p>
          </p:txBody>
        </p:sp>
        <p:sp>
          <p:nvSpPr>
            <p:cNvPr name="TextBox 54" id="54"/>
            <p:cNvSpPr txBox="true"/>
            <p:nvPr/>
          </p:nvSpPr>
          <p:spPr>
            <a:xfrm rot="0">
              <a:off x="12746609" y="7733738"/>
              <a:ext cx="2018571" cy="856222"/>
            </a:xfrm>
            <a:prstGeom prst="rect">
              <a:avLst/>
            </a:prstGeom>
          </p:spPr>
          <p:txBody>
            <a:bodyPr anchor="t" rtlCol="false" tIns="0" lIns="0" bIns="0" rIns="0">
              <a:spAutoFit/>
            </a:bodyPr>
            <a:lstStyle/>
            <a:p>
              <a:pPr algn="ctr">
                <a:lnSpc>
                  <a:spcPts val="2363"/>
                </a:lnSpc>
                <a:spcBef>
                  <a:spcPct val="0"/>
                </a:spcBef>
              </a:pPr>
              <a:r>
                <a:rPr lang="en-US" sz="2230">
                  <a:solidFill>
                    <a:srgbClr val="253439"/>
                  </a:solidFill>
                  <a:latin typeface="Abstracted Dream"/>
                  <a:ea typeface="Abstracted Dream"/>
                  <a:cs typeface="Abstracted Dream"/>
                  <a:sym typeface="Abstracted Dream"/>
                </a:rPr>
                <a:t>biomechanical Analyisi</a:t>
              </a:r>
            </a:p>
          </p:txBody>
        </p:sp>
        <p:sp>
          <p:nvSpPr>
            <p:cNvPr name="AutoShape 55" id="55"/>
            <p:cNvSpPr/>
            <p:nvPr/>
          </p:nvSpPr>
          <p:spPr>
            <a:xfrm flipV="true">
              <a:off x="10584537" y="7058992"/>
              <a:ext cx="2742248" cy="190778"/>
            </a:xfrm>
            <a:prstGeom prst="line">
              <a:avLst/>
            </a:prstGeom>
            <a:ln cap="flat" w="50800">
              <a:solidFill>
                <a:srgbClr val="D15353"/>
              </a:solidFill>
              <a:prstDash val="solid"/>
              <a:headEnd type="none" len="sm" w="sm"/>
              <a:tailEnd type="arrow" len="sm" w="med"/>
            </a:ln>
          </p:spPr>
        </p:sp>
        <p:sp>
          <p:nvSpPr>
            <p:cNvPr name="AutoShape 56" id="56"/>
            <p:cNvSpPr/>
            <p:nvPr/>
          </p:nvSpPr>
          <p:spPr>
            <a:xfrm flipH="true">
              <a:off x="6495014" y="8738719"/>
              <a:ext cx="14505256" cy="1193833"/>
            </a:xfrm>
            <a:prstGeom prst="line">
              <a:avLst/>
            </a:prstGeom>
            <a:ln cap="flat" w="50800">
              <a:solidFill>
                <a:srgbClr val="D15353"/>
              </a:solidFill>
              <a:prstDash val="solid"/>
              <a:headEnd type="none" len="sm" w="sm"/>
              <a:tailEnd type="arrow" len="sm" w="med"/>
            </a:ln>
          </p:spPr>
        </p:sp>
        <p:sp>
          <p:nvSpPr>
            <p:cNvPr name="TextBox 57" id="57"/>
            <p:cNvSpPr txBox="true"/>
            <p:nvPr/>
          </p:nvSpPr>
          <p:spPr>
            <a:xfrm rot="0">
              <a:off x="17230599" y="10309596"/>
              <a:ext cx="3352603" cy="856222"/>
            </a:xfrm>
            <a:prstGeom prst="rect">
              <a:avLst/>
            </a:prstGeom>
          </p:spPr>
          <p:txBody>
            <a:bodyPr anchor="t" rtlCol="false" tIns="0" lIns="0" bIns="0" rIns="0">
              <a:spAutoFit/>
            </a:bodyPr>
            <a:lstStyle/>
            <a:p>
              <a:pPr algn="ctr">
                <a:lnSpc>
                  <a:spcPts val="2363"/>
                </a:lnSpc>
                <a:spcBef>
                  <a:spcPct val="0"/>
                </a:spcBef>
              </a:pPr>
              <a:r>
                <a:rPr lang="en-US" sz="2230">
                  <a:solidFill>
                    <a:srgbClr val="253439"/>
                  </a:solidFill>
                  <a:latin typeface="Abstracted Dream"/>
                  <a:ea typeface="Abstracted Dream"/>
                  <a:cs typeface="Abstracted Dream"/>
                  <a:sym typeface="Abstracted Dream"/>
                </a:rPr>
                <a:t>Annotated video + Report</a:t>
              </a:r>
            </a:p>
          </p:txBody>
        </p:sp>
        <p:sp>
          <p:nvSpPr>
            <p:cNvPr name="TextBox 58" id="58"/>
            <p:cNvSpPr txBox="true"/>
            <p:nvPr/>
          </p:nvSpPr>
          <p:spPr>
            <a:xfrm rot="0">
              <a:off x="8085098" y="1719366"/>
              <a:ext cx="3352603" cy="856222"/>
            </a:xfrm>
            <a:prstGeom prst="rect">
              <a:avLst/>
            </a:prstGeom>
          </p:spPr>
          <p:txBody>
            <a:bodyPr anchor="t" rtlCol="false" tIns="0" lIns="0" bIns="0" rIns="0">
              <a:spAutoFit/>
            </a:bodyPr>
            <a:lstStyle/>
            <a:p>
              <a:pPr algn="ctr">
                <a:lnSpc>
                  <a:spcPts val="2363"/>
                </a:lnSpc>
                <a:spcBef>
                  <a:spcPct val="0"/>
                </a:spcBef>
              </a:pPr>
              <a:r>
                <a:rPr lang="en-US" sz="2230">
                  <a:solidFill>
                    <a:srgbClr val="253439"/>
                  </a:solidFill>
                  <a:latin typeface="Abstracted Dream"/>
                  <a:ea typeface="Abstracted Dream"/>
                  <a:cs typeface="Abstracted Dream"/>
                  <a:sym typeface="Abstracted Dream"/>
                </a:rPr>
                <a:t>Displays Annotated video + Report</a:t>
              </a:r>
            </a:p>
          </p:txBody>
        </p:sp>
      </p:gr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9388554">
            <a:off x="4983884" y="-5825395"/>
            <a:ext cx="15806184" cy="9426233"/>
          </a:xfrm>
          <a:custGeom>
            <a:avLst/>
            <a:gdLst/>
            <a:ahLst/>
            <a:cxnLst/>
            <a:rect r="r" b="b" t="t" l="l"/>
            <a:pathLst>
              <a:path h="9426233" w="15806184">
                <a:moveTo>
                  <a:pt x="0" y="0"/>
                </a:moveTo>
                <a:lnTo>
                  <a:pt x="15806184" y="0"/>
                </a:lnTo>
                <a:lnTo>
                  <a:pt x="15806184" y="9426233"/>
                </a:lnTo>
                <a:lnTo>
                  <a:pt x="0" y="94262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21691" y="1992810"/>
            <a:ext cx="12934236" cy="8576038"/>
          </a:xfrm>
          <a:prstGeom prst="rect">
            <a:avLst/>
          </a:prstGeom>
        </p:spPr>
        <p:txBody>
          <a:bodyPr anchor="t" rtlCol="false" tIns="0" lIns="0" bIns="0" rIns="0">
            <a:spAutoFit/>
          </a:bodyPr>
          <a:lstStyle/>
          <a:p>
            <a:pPr algn="l" marL="667521" indent="-333761" lvl="1">
              <a:lnSpc>
                <a:spcPts val="4977"/>
              </a:lnSpc>
              <a:buAutoNum type="arabicPeriod" startAt="1"/>
            </a:pPr>
            <a:r>
              <a:rPr lang="en-US" sz="3091">
                <a:solidFill>
                  <a:srgbClr val="253439"/>
                </a:solidFill>
                <a:latin typeface="Abstracted Dream"/>
                <a:ea typeface="Abstracted Dream"/>
                <a:cs typeface="Abstracted Dream"/>
                <a:sym typeface="Abstracted Dream"/>
              </a:rPr>
              <a:t>machine learning framework </a:t>
            </a:r>
          </a:p>
          <a:p>
            <a:pPr algn="l" marL="1291864" indent="-430621" lvl="2">
              <a:lnSpc>
                <a:spcPts val="4816"/>
              </a:lnSpc>
              <a:buFont typeface="Arial"/>
              <a:buChar char="⚬"/>
            </a:pPr>
            <a:r>
              <a:rPr lang="en-US" sz="2991" spc="236">
                <a:solidFill>
                  <a:srgbClr val="253439"/>
                </a:solidFill>
                <a:latin typeface="Abstracted Dream"/>
                <a:ea typeface="Abstracted Dream"/>
                <a:cs typeface="Abstracted Dream"/>
                <a:sym typeface="Abstracted Dream"/>
              </a:rPr>
              <a:t>TensorFlow: is an open-source machine learning framework</a:t>
            </a:r>
            <a:r>
              <a:rPr lang="en-US" sz="2991" spc="236">
                <a:solidFill>
                  <a:srgbClr val="253439"/>
                </a:solidFill>
                <a:latin typeface="Abstracted Dream"/>
                <a:ea typeface="Abstracted Dream"/>
                <a:cs typeface="Abstracted Dream"/>
                <a:sym typeface="Abstracted Dream"/>
              </a:rPr>
              <a:t>.</a:t>
            </a:r>
          </a:p>
          <a:p>
            <a:pPr algn="l" marL="645932" indent="-322966" lvl="1">
              <a:lnSpc>
                <a:spcPts val="4816"/>
              </a:lnSpc>
              <a:buAutoNum type="arabicPeriod" startAt="1"/>
            </a:pPr>
            <a:r>
              <a:rPr lang="en-US" sz="2991" spc="38">
                <a:solidFill>
                  <a:srgbClr val="253439"/>
                </a:solidFill>
                <a:latin typeface="Abstracted Dream"/>
                <a:ea typeface="Abstracted Dream"/>
                <a:cs typeface="Abstracted Dream"/>
                <a:sym typeface="Abstracted Dream"/>
              </a:rPr>
              <a:t>Object Detection and Tracking:</a:t>
            </a:r>
          </a:p>
          <a:p>
            <a:pPr algn="l" marL="1291864" indent="-430621" lvl="2">
              <a:lnSpc>
                <a:spcPts val="4816"/>
              </a:lnSpc>
              <a:buFont typeface="Arial"/>
              <a:buChar char="⚬"/>
            </a:pPr>
            <a:r>
              <a:rPr lang="en-US" sz="2991" spc="38">
                <a:solidFill>
                  <a:srgbClr val="253439"/>
                </a:solidFill>
                <a:latin typeface="Abstracted Dream"/>
                <a:ea typeface="Abstracted Dream"/>
                <a:cs typeface="Abstracted Dream"/>
                <a:sym typeface="Abstracted Dream"/>
              </a:rPr>
              <a:t>OpenCV: Used for computer vision and image processing tasks.</a:t>
            </a:r>
          </a:p>
          <a:p>
            <a:pPr algn="l" marL="1291864" indent="-430621" lvl="2">
              <a:lnSpc>
                <a:spcPts val="4816"/>
              </a:lnSpc>
              <a:buFont typeface="Arial"/>
              <a:buChar char="⚬"/>
            </a:pPr>
            <a:r>
              <a:rPr lang="en-US" sz="2991" spc="38">
                <a:solidFill>
                  <a:srgbClr val="253439"/>
                </a:solidFill>
                <a:latin typeface="Abstracted Dream"/>
                <a:ea typeface="Abstracted Dream"/>
                <a:cs typeface="Abstracted Dream"/>
                <a:sym typeface="Abstracted Dream"/>
              </a:rPr>
              <a:t>MediaPipe: Detecting and tracking objects of interest within video frames .</a:t>
            </a:r>
          </a:p>
          <a:p>
            <a:pPr algn="l" marL="645932" indent="-322966" lvl="1">
              <a:lnSpc>
                <a:spcPts val="4816"/>
              </a:lnSpc>
              <a:buAutoNum type="arabicPeriod" startAt="1"/>
            </a:pPr>
            <a:r>
              <a:rPr lang="en-US" sz="2991" spc="38">
                <a:solidFill>
                  <a:srgbClr val="253439"/>
                </a:solidFill>
                <a:latin typeface="Abstracted Dream"/>
                <a:ea typeface="Abstracted Dream"/>
                <a:cs typeface="Abstracted Dream"/>
                <a:sym typeface="Abstracted Dream"/>
              </a:rPr>
              <a:t>Data Analytics and Visualization:</a:t>
            </a:r>
          </a:p>
          <a:p>
            <a:pPr algn="l" marL="1291864" indent="-430621" lvl="2">
              <a:lnSpc>
                <a:spcPts val="4816"/>
              </a:lnSpc>
              <a:buFont typeface="Arial"/>
              <a:buChar char="⚬"/>
            </a:pPr>
            <a:r>
              <a:rPr lang="en-US" sz="2991" spc="38">
                <a:solidFill>
                  <a:srgbClr val="253439"/>
                </a:solidFill>
                <a:latin typeface="Abstracted Dream"/>
                <a:ea typeface="Abstracted Dream"/>
                <a:cs typeface="Abstracted Dream"/>
                <a:sym typeface="Abstracted Dream"/>
              </a:rPr>
              <a:t>Pandas: data manipulation and analysis</a:t>
            </a:r>
          </a:p>
          <a:p>
            <a:pPr algn="l" marL="1291864" indent="-430621" lvl="2">
              <a:lnSpc>
                <a:spcPts val="4816"/>
              </a:lnSpc>
              <a:buFont typeface="Arial"/>
              <a:buChar char="⚬"/>
            </a:pPr>
            <a:r>
              <a:rPr lang="en-US" sz="2991" spc="38">
                <a:solidFill>
                  <a:srgbClr val="253439"/>
                </a:solidFill>
                <a:latin typeface="Abstracted Dream"/>
                <a:ea typeface="Abstracted Dream"/>
                <a:cs typeface="Abstracted Dream"/>
                <a:sym typeface="Abstracted Dream"/>
              </a:rPr>
              <a:t>pickle: serialize and deserialize Python objects</a:t>
            </a:r>
          </a:p>
          <a:p>
            <a:pPr algn="l" marL="645932" indent="-322966" lvl="1">
              <a:lnSpc>
                <a:spcPts val="4816"/>
              </a:lnSpc>
              <a:buAutoNum type="arabicPeriod" startAt="1"/>
            </a:pPr>
            <a:r>
              <a:rPr lang="en-US" sz="2991" spc="38">
                <a:solidFill>
                  <a:srgbClr val="253439"/>
                </a:solidFill>
                <a:latin typeface="Abstracted Dream"/>
                <a:ea typeface="Abstracted Dream"/>
                <a:cs typeface="Abstracted Dream"/>
                <a:sym typeface="Abstracted Dream"/>
              </a:rPr>
              <a:t>Mobile Development:</a:t>
            </a:r>
          </a:p>
          <a:p>
            <a:pPr algn="l" marL="1291864" indent="-430621" lvl="2">
              <a:lnSpc>
                <a:spcPts val="4816"/>
              </a:lnSpc>
              <a:buFont typeface="Arial"/>
              <a:buChar char="⚬"/>
            </a:pPr>
            <a:r>
              <a:rPr lang="en-US" sz="2991" spc="38">
                <a:solidFill>
                  <a:srgbClr val="253439"/>
                </a:solidFill>
                <a:latin typeface="Abstracted Dream"/>
                <a:ea typeface="Abstracted Dream"/>
                <a:cs typeface="Abstracted Dream"/>
                <a:sym typeface="Abstracted Dream"/>
              </a:rPr>
              <a:t>Flutter </a:t>
            </a:r>
            <a:r>
              <a:rPr lang="en-US" sz="2991" spc="38">
                <a:solidFill>
                  <a:srgbClr val="253439"/>
                </a:solidFill>
                <a:latin typeface="Abstracted Dream"/>
                <a:ea typeface="Abstracted Dream"/>
                <a:cs typeface="Abstracted Dream"/>
                <a:sym typeface="Abstracted Dream"/>
              </a:rPr>
              <a:t>(Android): Programming languages for native mobile app development.</a:t>
            </a:r>
          </a:p>
          <a:p>
            <a:pPr algn="l" marL="645932" indent="-322966" lvl="1">
              <a:lnSpc>
                <a:spcPts val="4816"/>
              </a:lnSpc>
              <a:buAutoNum type="arabicPeriod" startAt="1"/>
            </a:pPr>
            <a:r>
              <a:rPr lang="en-US" sz="2991" spc="38">
                <a:solidFill>
                  <a:srgbClr val="253439"/>
                </a:solidFill>
                <a:latin typeface="Abstracted Dream"/>
                <a:ea typeface="Abstracted Dream"/>
                <a:cs typeface="Abstracted Dream"/>
                <a:sym typeface="Abstracted Dream"/>
              </a:rPr>
              <a:t>Data Storages:</a:t>
            </a:r>
          </a:p>
          <a:p>
            <a:pPr algn="l" marL="1291864" indent="-430621" lvl="2">
              <a:lnSpc>
                <a:spcPts val="4816"/>
              </a:lnSpc>
              <a:buFont typeface="Arial"/>
              <a:buChar char="⚬"/>
            </a:pPr>
            <a:r>
              <a:rPr lang="en-US" sz="2991" spc="38">
                <a:solidFill>
                  <a:srgbClr val="253439"/>
                </a:solidFill>
                <a:latin typeface="Abstracted Dream"/>
                <a:ea typeface="Abstracted Dream"/>
                <a:cs typeface="Abstracted Dream"/>
                <a:sym typeface="Abstracted Dream"/>
              </a:rPr>
              <a:t>firebase</a:t>
            </a:r>
          </a:p>
          <a:p>
            <a:pPr algn="l">
              <a:lnSpc>
                <a:spcPts val="4816"/>
              </a:lnSpc>
            </a:pPr>
          </a:p>
          <a:p>
            <a:pPr algn="ctr">
              <a:lnSpc>
                <a:spcPts val="4816"/>
              </a:lnSpc>
            </a:pPr>
          </a:p>
        </p:txBody>
      </p:sp>
      <p:sp>
        <p:nvSpPr>
          <p:cNvPr name="Freeform 4" id="4"/>
          <p:cNvSpPr/>
          <p:nvPr/>
        </p:nvSpPr>
        <p:spPr>
          <a:xfrm flipH="false" flipV="false" rot="0">
            <a:off x="15264828" y="7039611"/>
            <a:ext cx="2601769" cy="2598517"/>
          </a:xfrm>
          <a:custGeom>
            <a:avLst/>
            <a:gdLst/>
            <a:ahLst/>
            <a:cxnLst/>
            <a:rect r="r" b="b" t="t" l="l"/>
            <a:pathLst>
              <a:path h="2598517" w="2601769">
                <a:moveTo>
                  <a:pt x="0" y="0"/>
                </a:moveTo>
                <a:lnTo>
                  <a:pt x="2601769" y="0"/>
                </a:lnTo>
                <a:lnTo>
                  <a:pt x="2601769" y="2598517"/>
                </a:lnTo>
                <a:lnTo>
                  <a:pt x="0" y="2598517"/>
                </a:lnTo>
                <a:lnTo>
                  <a:pt x="0" y="0"/>
                </a:lnTo>
                <a:close/>
              </a:path>
            </a:pathLst>
          </a:custGeom>
          <a:blipFill>
            <a:blip r:embed="rId4"/>
            <a:stretch>
              <a:fillRect l="0" t="0" r="0" b="0"/>
            </a:stretch>
          </a:blipFill>
        </p:spPr>
      </p:sp>
      <p:sp>
        <p:nvSpPr>
          <p:cNvPr name="AutoShape 5" id="5"/>
          <p:cNvSpPr/>
          <p:nvPr/>
        </p:nvSpPr>
        <p:spPr>
          <a:xfrm flipH="true">
            <a:off x="962025" y="567907"/>
            <a:ext cx="0" cy="1434781"/>
          </a:xfrm>
          <a:prstGeom prst="line">
            <a:avLst/>
          </a:prstGeom>
          <a:ln cap="flat" w="133350">
            <a:solidFill>
              <a:srgbClr val="D15353"/>
            </a:solidFill>
            <a:prstDash val="solid"/>
            <a:headEnd type="none" len="sm" w="sm"/>
            <a:tailEnd type="none" len="sm" w="sm"/>
          </a:ln>
        </p:spPr>
      </p:sp>
      <p:sp>
        <p:nvSpPr>
          <p:cNvPr name="TextBox 6" id="6"/>
          <p:cNvSpPr txBox="true"/>
          <p:nvPr/>
        </p:nvSpPr>
        <p:spPr>
          <a:xfrm rot="0">
            <a:off x="1279142" y="846659"/>
            <a:ext cx="10771080" cy="1060831"/>
          </a:xfrm>
          <a:prstGeom prst="rect">
            <a:avLst/>
          </a:prstGeom>
        </p:spPr>
        <p:txBody>
          <a:bodyPr anchor="t" rtlCol="false" tIns="0" lIns="0" bIns="0" rIns="0">
            <a:spAutoFit/>
          </a:bodyPr>
          <a:lstStyle/>
          <a:p>
            <a:pPr algn="l">
              <a:lnSpc>
                <a:spcPts val="8162"/>
              </a:lnSpc>
            </a:pPr>
            <a:r>
              <a:rPr lang="en-US" b="true" sz="7700">
                <a:solidFill>
                  <a:srgbClr val="253439"/>
                </a:solidFill>
                <a:latin typeface="Glacial Indifference Bold"/>
                <a:ea typeface="Glacial Indifference Bold"/>
                <a:cs typeface="Glacial Indifference Bold"/>
                <a:sym typeface="Glacial Indifference Bold"/>
              </a:rPr>
              <a:t>METHODOLOGY</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9388554">
            <a:off x="4983884" y="-5825395"/>
            <a:ext cx="15806184" cy="9426233"/>
          </a:xfrm>
          <a:custGeom>
            <a:avLst/>
            <a:gdLst/>
            <a:ahLst/>
            <a:cxnLst/>
            <a:rect r="r" b="b" t="t" l="l"/>
            <a:pathLst>
              <a:path h="9426233" w="15806184">
                <a:moveTo>
                  <a:pt x="0" y="0"/>
                </a:moveTo>
                <a:lnTo>
                  <a:pt x="15806184" y="0"/>
                </a:lnTo>
                <a:lnTo>
                  <a:pt x="15806184" y="9426233"/>
                </a:lnTo>
                <a:lnTo>
                  <a:pt x="0" y="94262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2369704" y="1353074"/>
          <a:ext cx="13548592" cy="8618174"/>
        </p:xfrm>
        <a:graphic>
          <a:graphicData uri="http://schemas.openxmlformats.org/drawingml/2006/table">
            <a:tbl>
              <a:tblPr/>
              <a:tblGrid>
                <a:gridCol w="6774296"/>
                <a:gridCol w="6774296"/>
              </a:tblGrid>
              <a:tr h="1101258">
                <a:tc>
                  <a:txBody>
                    <a:bodyPr anchor="t" rtlCol="false"/>
                    <a:lstStyle/>
                    <a:p>
                      <a:pPr algn="ctr">
                        <a:lnSpc>
                          <a:spcPts val="2928"/>
                        </a:lnSpc>
                        <a:defRPr/>
                      </a:pPr>
                      <a:r>
                        <a:rPr lang="en-US" sz="2091" b="true">
                          <a:solidFill>
                            <a:srgbClr val="000000"/>
                          </a:solidFill>
                          <a:latin typeface="Biski Bold"/>
                          <a:ea typeface="Biski Bold"/>
                          <a:cs typeface="Biski Bold"/>
                          <a:sym typeface="Biski Bold"/>
                        </a:rPr>
                        <a:t>Approach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28"/>
                        </a:lnSpc>
                        <a:defRPr/>
                      </a:pPr>
                      <a:r>
                        <a:rPr lang="en-US" sz="2091" b="true">
                          <a:solidFill>
                            <a:srgbClr val="000000"/>
                          </a:solidFill>
                          <a:latin typeface="Biski Bold"/>
                          <a:ea typeface="Biski Bold"/>
                          <a:cs typeface="Biski Bold"/>
                          <a:sym typeface="Biski Bold"/>
                        </a:rPr>
                        <a:t>Major Difficulties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17284">
                <a:tc>
                  <a:txBody>
                    <a:bodyPr anchor="t" rtlCol="false"/>
                    <a:lstStyle/>
                    <a:p>
                      <a:pPr algn="ctr">
                        <a:lnSpc>
                          <a:spcPts val="2928"/>
                        </a:lnSpc>
                        <a:defRPr/>
                      </a:pPr>
                      <a:r>
                        <a:rPr lang="en-US" sz="2091">
                          <a:solidFill>
                            <a:srgbClr val="000000"/>
                          </a:solidFill>
                          <a:latin typeface="Biski"/>
                          <a:ea typeface="Biski"/>
                          <a:cs typeface="Biski"/>
                          <a:sym typeface="Biski"/>
                        </a:rPr>
                        <a:t>WebSocket-Based Real-Time Analysis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28"/>
                        </a:lnSpc>
                        <a:defRPr/>
                      </a:pPr>
                      <a:r>
                        <a:rPr lang="en-US" sz="2091">
                          <a:solidFill>
                            <a:srgbClr val="000000"/>
                          </a:solidFill>
                          <a:latin typeface="Biski"/>
                          <a:ea typeface="Biski"/>
                          <a:cs typeface="Biski"/>
                          <a:sym typeface="Biski"/>
                        </a:rPr>
                        <a:t>Network latency, server processing load, synchronization issues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722113">
                <a:tc>
                  <a:txBody>
                    <a:bodyPr anchor="t" rtlCol="false"/>
                    <a:lstStyle/>
                    <a:p>
                      <a:pPr algn="ctr">
                        <a:lnSpc>
                          <a:spcPts val="2928"/>
                        </a:lnSpc>
                        <a:defRPr/>
                      </a:pPr>
                      <a:r>
                        <a:rPr lang="en-US" sz="2091">
                          <a:solidFill>
                            <a:srgbClr val="000000"/>
                          </a:solidFill>
                          <a:latin typeface="Biski"/>
                          <a:ea typeface="Biski"/>
                          <a:cs typeface="Biski"/>
                          <a:sym typeface="Biski"/>
                        </a:rPr>
                        <a:t>Java + MediaPipe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28"/>
                        </a:lnSpc>
                        <a:defRPr/>
                      </a:pPr>
                      <a:r>
                        <a:rPr lang="en-US" sz="2091">
                          <a:solidFill>
                            <a:srgbClr val="000000"/>
                          </a:solidFill>
                          <a:latin typeface="Biski"/>
                          <a:ea typeface="Biski"/>
                          <a:cs typeface="Biski"/>
                          <a:sym typeface="Biski"/>
                        </a:rPr>
                        <a:t>Limited AI capabilities, high CPU usage, difficult debugging and implementing issues with others components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09156">
                <a:tc>
                  <a:txBody>
                    <a:bodyPr anchor="t" rtlCol="false"/>
                    <a:lstStyle/>
                    <a:p>
                      <a:pPr algn="ctr">
                        <a:lnSpc>
                          <a:spcPts val="2928"/>
                        </a:lnSpc>
                        <a:defRPr/>
                      </a:pPr>
                      <a:r>
                        <a:rPr lang="en-US" sz="2091">
                          <a:solidFill>
                            <a:srgbClr val="000000"/>
                          </a:solidFill>
                          <a:latin typeface="Biski"/>
                          <a:ea typeface="Biski"/>
                          <a:cs typeface="Biski"/>
                          <a:sym typeface="Biski"/>
                        </a:rPr>
                        <a:t>Cloud AI Services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28"/>
                        </a:lnSpc>
                        <a:defRPr/>
                      </a:pPr>
                      <a:r>
                        <a:rPr lang="en-US" sz="2091">
                          <a:solidFill>
                            <a:srgbClr val="000000"/>
                          </a:solidFill>
                          <a:latin typeface="Biski"/>
                          <a:ea typeface="Biski"/>
                          <a:cs typeface="Biski"/>
                          <a:sym typeface="Biski"/>
                        </a:rPr>
                        <a:t>Expensive, high latency, privacy concerns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468362">
                <a:tc>
                  <a:txBody>
                    <a:bodyPr anchor="t" rtlCol="false"/>
                    <a:lstStyle/>
                    <a:p>
                      <a:pPr algn="ctr">
                        <a:lnSpc>
                          <a:spcPts val="2928"/>
                        </a:lnSpc>
                        <a:defRPr/>
                      </a:pPr>
                      <a:r>
                        <a:rPr lang="en-US" sz="2091">
                          <a:solidFill>
                            <a:srgbClr val="000000"/>
                          </a:solidFill>
                          <a:latin typeface="Biski"/>
                          <a:ea typeface="Biski"/>
                          <a:cs typeface="Biski"/>
                          <a:sym typeface="Biski"/>
                        </a:rPr>
                        <a:t>Technology Issues</a:t>
                      </a:r>
                      <a:r>
                        <a:rPr lang="en-US" sz="2091">
                          <a:solidFill>
                            <a:srgbClr val="000000"/>
                          </a:solidFill>
                          <a:latin typeface="Biski"/>
                          <a:ea typeface="Biski"/>
                          <a:cs typeface="Biski"/>
                          <a:sym typeface="Biski"/>
                        </a:rPr>
                        <a:t>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28"/>
                        </a:lnSpc>
                        <a:defRPr/>
                      </a:pPr>
                      <a:r>
                        <a:rPr lang="en-US" sz="2091">
                          <a:solidFill>
                            <a:srgbClr val="000000"/>
                          </a:solidFill>
                          <a:latin typeface="Biski"/>
                          <a:ea typeface="Biski"/>
                          <a:cs typeface="Biski"/>
                          <a:sym typeface="Biski"/>
                        </a:rPr>
                        <a:t>Flutter doesn’t have a plugins for pose detection.</a:t>
                      </a:r>
                      <a:endParaRPr lang="en-US" sz="1100"/>
                    </a:p>
                    <a:p>
                      <a:pPr algn="ctr">
                        <a:lnSpc>
                          <a:spcPts val="2928"/>
                        </a:lnSpc>
                      </a:pPr>
                      <a:r>
                        <a:rPr lang="en-US" sz="2091">
                          <a:solidFill>
                            <a:srgbClr val="000000"/>
                          </a:solidFill>
                          <a:latin typeface="Biski"/>
                          <a:ea typeface="Biski"/>
                          <a:cs typeface="Biski"/>
                          <a:sym typeface="Biski"/>
                        </a:rPr>
                        <a:t>smart phone camera’s quality issues.</a:t>
                      </a:r>
                    </a:p>
                    <a:p>
                      <a:pPr algn="ctr">
                        <a:lnSpc>
                          <a:spcPts val="2928"/>
                        </a:lnSpc>
                      </a:pPr>
                      <a:r>
                        <a:rPr lang="en-US" sz="2091">
                          <a:solidFill>
                            <a:srgbClr val="000000"/>
                          </a:solidFill>
                          <a:latin typeface="Biski"/>
                          <a:ea typeface="Biski"/>
                          <a:cs typeface="Biski"/>
                          <a:sym typeface="Biski"/>
                        </a:rPr>
                        <a:t>network quality issues.</a:t>
                      </a:r>
                    </a:p>
                    <a:p>
                      <a:pPr algn="ctr">
                        <a:lnSpc>
                          <a:spcPts val="2928"/>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6488097" y="86363"/>
            <a:ext cx="4470488" cy="1266712"/>
          </a:xfrm>
          <a:prstGeom prst="rect">
            <a:avLst/>
          </a:prstGeom>
        </p:spPr>
        <p:txBody>
          <a:bodyPr anchor="t" rtlCol="false" tIns="0" lIns="0" bIns="0" rIns="0">
            <a:spAutoFit/>
          </a:bodyPr>
          <a:lstStyle/>
          <a:p>
            <a:pPr algn="ctr">
              <a:lnSpc>
                <a:spcPts val="4719"/>
              </a:lnSpc>
              <a:spcBef>
                <a:spcPct val="0"/>
              </a:spcBef>
            </a:pPr>
            <a:r>
              <a:rPr lang="en-US" sz="3932">
                <a:solidFill>
                  <a:srgbClr val="000000"/>
                </a:solidFill>
                <a:latin typeface="Abstracted Dream"/>
                <a:ea typeface="Abstracted Dream"/>
                <a:cs typeface="Abstracted Dream"/>
                <a:sym typeface="Abstracted Dream"/>
              </a:rPr>
              <a:t>Difficulties And Different Approaches </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8775859">
            <a:off x="8799413" y="-4806904"/>
            <a:ext cx="15806184" cy="9426233"/>
          </a:xfrm>
          <a:custGeom>
            <a:avLst/>
            <a:gdLst/>
            <a:ahLst/>
            <a:cxnLst/>
            <a:rect r="r" b="b" t="t" l="l"/>
            <a:pathLst>
              <a:path h="9426233" w="15806184">
                <a:moveTo>
                  <a:pt x="0" y="0"/>
                </a:moveTo>
                <a:lnTo>
                  <a:pt x="15806184" y="0"/>
                </a:lnTo>
                <a:lnTo>
                  <a:pt x="15806184" y="9426234"/>
                </a:lnTo>
                <a:lnTo>
                  <a:pt x="0" y="94262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420439" y="1251925"/>
            <a:ext cx="6976608" cy="877571"/>
          </a:xfrm>
          <a:prstGeom prst="rect">
            <a:avLst/>
          </a:prstGeom>
        </p:spPr>
        <p:txBody>
          <a:bodyPr anchor="t" rtlCol="false" tIns="0" lIns="0" bIns="0" rIns="0">
            <a:spAutoFit/>
          </a:bodyPr>
          <a:lstStyle/>
          <a:p>
            <a:pPr algn="just" marL="0" indent="0" lvl="0">
              <a:lnSpc>
                <a:spcPts val="6710"/>
              </a:lnSpc>
            </a:pPr>
            <a:r>
              <a:rPr lang="en-US" b="true" sz="6100">
                <a:solidFill>
                  <a:srgbClr val="253439"/>
                </a:solidFill>
                <a:latin typeface="Glacial Indifference Bold"/>
                <a:ea typeface="Glacial Indifference Bold"/>
                <a:cs typeface="Glacial Indifference Bold"/>
                <a:sym typeface="Glacial Indifference Bold"/>
              </a:rPr>
              <a:t>IMPROVEMENTS</a:t>
            </a:r>
          </a:p>
        </p:txBody>
      </p:sp>
      <p:sp>
        <p:nvSpPr>
          <p:cNvPr name="TextBox 4" id="4"/>
          <p:cNvSpPr txBox="true"/>
          <p:nvPr/>
        </p:nvSpPr>
        <p:spPr>
          <a:xfrm rot="0">
            <a:off x="1534796" y="3414002"/>
            <a:ext cx="15724504" cy="4391025"/>
          </a:xfrm>
          <a:prstGeom prst="rect">
            <a:avLst/>
          </a:prstGeom>
        </p:spPr>
        <p:txBody>
          <a:bodyPr anchor="t" rtlCol="false" tIns="0" lIns="0" bIns="0" rIns="0">
            <a:spAutoFit/>
          </a:bodyPr>
          <a:lstStyle/>
          <a:p>
            <a:pPr algn="l" marL="1221425" indent="-610712" lvl="1">
              <a:lnSpc>
                <a:spcPts val="6788"/>
              </a:lnSpc>
              <a:buFont typeface="Arial"/>
              <a:buChar char="•"/>
            </a:pPr>
            <a:r>
              <a:rPr lang="en-US" sz="5657">
                <a:solidFill>
                  <a:srgbClr val="253439"/>
                </a:solidFill>
                <a:latin typeface="Abstracted Dream"/>
                <a:ea typeface="Abstracted Dream"/>
                <a:cs typeface="Abstracted Dream"/>
                <a:sym typeface="Abstracted Dream"/>
              </a:rPr>
              <a:t>now users can review the results according to exact second</a:t>
            </a:r>
          </a:p>
          <a:p>
            <a:pPr algn="l" marL="1221425" indent="-610712" lvl="1">
              <a:lnSpc>
                <a:spcPts val="6788"/>
              </a:lnSpc>
              <a:buFont typeface="Arial"/>
              <a:buChar char="•"/>
            </a:pPr>
            <a:r>
              <a:rPr lang="en-US" sz="5657">
                <a:solidFill>
                  <a:srgbClr val="253439"/>
                </a:solidFill>
                <a:latin typeface="Abstracted Dream"/>
                <a:ea typeface="Abstracted Dream"/>
                <a:cs typeface="Abstracted Dream"/>
                <a:sym typeface="Abstracted Dream"/>
              </a:rPr>
              <a:t>user can view a playback video of the exercise detection </a:t>
            </a:r>
          </a:p>
          <a:p>
            <a:pPr algn="l" marL="1221425" indent="-610712" lvl="1">
              <a:lnSpc>
                <a:spcPts val="6788"/>
              </a:lnSpc>
              <a:buFont typeface="Arial"/>
              <a:buChar char="•"/>
            </a:pPr>
            <a:r>
              <a:rPr lang="en-US" sz="5657">
                <a:solidFill>
                  <a:srgbClr val="253439"/>
                </a:solidFill>
                <a:latin typeface="Abstracted Dream"/>
                <a:ea typeface="Abstracted Dream"/>
                <a:cs typeface="Abstracted Dream"/>
                <a:sym typeface="Abstracted Dream"/>
              </a:rPr>
              <a:t>Improvement of detection logic in bicep curl</a:t>
            </a:r>
          </a:p>
        </p:txBody>
      </p:sp>
      <p:sp>
        <p:nvSpPr>
          <p:cNvPr name="AutoShape 5" id="5"/>
          <p:cNvSpPr/>
          <p:nvPr/>
        </p:nvSpPr>
        <p:spPr>
          <a:xfrm flipH="true">
            <a:off x="2031908" y="949508"/>
            <a:ext cx="0" cy="1434781"/>
          </a:xfrm>
          <a:prstGeom prst="line">
            <a:avLst/>
          </a:prstGeom>
          <a:ln cap="flat" w="133350">
            <a:solidFill>
              <a:srgbClr val="D15353"/>
            </a:solidFill>
            <a:prstDash val="solid"/>
            <a:headEnd type="none" len="sm" w="sm"/>
            <a:tailEnd type="none" len="sm" w="sm"/>
          </a:ln>
        </p:spPr>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0800000">
            <a:off x="7663734" y="-2444292"/>
            <a:ext cx="18304935" cy="12112325"/>
          </a:xfrm>
          <a:custGeom>
            <a:avLst/>
            <a:gdLst/>
            <a:ahLst/>
            <a:cxnLst/>
            <a:rect r="r" b="b" t="t" l="l"/>
            <a:pathLst>
              <a:path h="12112325" w="18304935">
                <a:moveTo>
                  <a:pt x="0" y="0"/>
                </a:moveTo>
                <a:lnTo>
                  <a:pt x="18304936" y="0"/>
                </a:lnTo>
                <a:lnTo>
                  <a:pt x="18304936" y="12112325"/>
                </a:lnTo>
                <a:lnTo>
                  <a:pt x="0" y="12112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585293" y="1484441"/>
            <a:ext cx="4810876" cy="877571"/>
          </a:xfrm>
          <a:prstGeom prst="rect">
            <a:avLst/>
          </a:prstGeom>
        </p:spPr>
        <p:txBody>
          <a:bodyPr anchor="t" rtlCol="false" tIns="0" lIns="0" bIns="0" rIns="0">
            <a:spAutoFit/>
          </a:bodyPr>
          <a:lstStyle/>
          <a:p>
            <a:pPr algn="just" marL="0" indent="0" lvl="0">
              <a:lnSpc>
                <a:spcPts val="6710"/>
              </a:lnSpc>
            </a:pPr>
            <a:r>
              <a:rPr lang="en-US" b="true" sz="6100">
                <a:solidFill>
                  <a:srgbClr val="253439"/>
                </a:solidFill>
                <a:latin typeface="Glacial Indifference Bold"/>
                <a:ea typeface="Glacial Indifference Bold"/>
                <a:cs typeface="Glacial Indifference Bold"/>
                <a:sym typeface="Glacial Indifference Bold"/>
              </a:rPr>
              <a:t>FITFLOW 2.1</a:t>
            </a:r>
          </a:p>
        </p:txBody>
      </p:sp>
      <p:sp>
        <p:nvSpPr>
          <p:cNvPr name="AutoShape 4" id="4"/>
          <p:cNvSpPr/>
          <p:nvPr/>
        </p:nvSpPr>
        <p:spPr>
          <a:xfrm flipH="true">
            <a:off x="2251053" y="1123490"/>
            <a:ext cx="0" cy="1434781"/>
          </a:xfrm>
          <a:prstGeom prst="line">
            <a:avLst/>
          </a:prstGeom>
          <a:ln cap="flat" w="133350">
            <a:solidFill>
              <a:srgbClr val="D15353"/>
            </a:solidFill>
            <a:prstDash val="solid"/>
            <a:headEnd type="none" len="sm" w="sm"/>
            <a:tailEnd type="none" len="sm" w="sm"/>
          </a:ln>
        </p:spPr>
      </p:sp>
      <p:sp>
        <p:nvSpPr>
          <p:cNvPr name="TextBox 5" id="5"/>
          <p:cNvSpPr txBox="true"/>
          <p:nvPr/>
        </p:nvSpPr>
        <p:spPr>
          <a:xfrm rot="0">
            <a:off x="2251053" y="3497570"/>
            <a:ext cx="13182574" cy="5230987"/>
          </a:xfrm>
          <a:prstGeom prst="rect">
            <a:avLst/>
          </a:prstGeom>
        </p:spPr>
        <p:txBody>
          <a:bodyPr anchor="t" rtlCol="false" tIns="0" lIns="0" bIns="0" rIns="0">
            <a:spAutoFit/>
          </a:bodyPr>
          <a:lstStyle/>
          <a:p>
            <a:pPr algn="l" marL="1218685" indent="-609343" lvl="1">
              <a:lnSpc>
                <a:spcPts val="6773"/>
              </a:lnSpc>
              <a:buFont typeface="Arial"/>
              <a:buChar char="•"/>
            </a:pPr>
            <a:r>
              <a:rPr lang="en-US" sz="5644">
                <a:solidFill>
                  <a:srgbClr val="253439"/>
                </a:solidFill>
                <a:latin typeface="Abstracted Dream"/>
                <a:ea typeface="Abstracted Dream"/>
                <a:cs typeface="Abstracted Dream"/>
                <a:sym typeface="Abstracted Dream"/>
              </a:rPr>
              <a:t>User can experience more range of exercises.</a:t>
            </a:r>
          </a:p>
          <a:p>
            <a:pPr algn="l" marL="1218685" indent="-609343" lvl="1">
              <a:lnSpc>
                <a:spcPts val="6773"/>
              </a:lnSpc>
              <a:buFont typeface="Arial"/>
              <a:buChar char="•"/>
            </a:pPr>
            <a:r>
              <a:rPr lang="en-US" sz="5644">
                <a:solidFill>
                  <a:srgbClr val="253439"/>
                </a:solidFill>
                <a:latin typeface="Abstracted Dream"/>
                <a:ea typeface="Abstracted Dream"/>
                <a:cs typeface="Abstracted Dream"/>
                <a:sym typeface="Abstracted Dream"/>
              </a:rPr>
              <a:t>Voice and Audio Coaching</a:t>
            </a:r>
          </a:p>
          <a:p>
            <a:pPr algn="l" marL="1218685" indent="-609343" lvl="1">
              <a:lnSpc>
                <a:spcPts val="6773"/>
              </a:lnSpc>
              <a:buFont typeface="Arial"/>
              <a:buChar char="•"/>
            </a:pPr>
            <a:r>
              <a:rPr lang="en-US" sz="5644">
                <a:solidFill>
                  <a:srgbClr val="253439"/>
                </a:solidFill>
                <a:latin typeface="Abstracted Dream"/>
                <a:ea typeface="Abstracted Dream"/>
                <a:cs typeface="Abstracted Dream"/>
                <a:sym typeface="Abstracted Dream"/>
              </a:rPr>
              <a:t>Offline Mode and Low-Light Adaptation</a:t>
            </a:r>
          </a:p>
          <a:p>
            <a:pPr algn="ctr">
              <a:lnSpc>
                <a:spcPts val="6773"/>
              </a:lnSpc>
              <a:spcBef>
                <a:spcPct val="0"/>
              </a:spcBef>
            </a:pPr>
          </a:p>
          <a:p>
            <a:pPr algn="ctr">
              <a:lnSpc>
                <a:spcPts val="6773"/>
              </a:lnSpc>
              <a:spcBef>
                <a:spcPct val="0"/>
              </a:spcBef>
            </a:pPr>
          </a:p>
          <a:p>
            <a:pPr algn="ctr">
              <a:lnSpc>
                <a:spcPts val="6773"/>
              </a:lnSpc>
              <a:spcBef>
                <a:spcPct val="0"/>
              </a:spcBef>
            </a:pP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4828517">
            <a:off x="7185812" y="-1798722"/>
            <a:ext cx="23281843" cy="13884444"/>
          </a:xfrm>
          <a:custGeom>
            <a:avLst/>
            <a:gdLst/>
            <a:ahLst/>
            <a:cxnLst/>
            <a:rect r="r" b="b" t="t" l="l"/>
            <a:pathLst>
              <a:path h="13884444" w="23281843">
                <a:moveTo>
                  <a:pt x="0" y="0"/>
                </a:moveTo>
                <a:lnTo>
                  <a:pt x="23281843" y="0"/>
                </a:lnTo>
                <a:lnTo>
                  <a:pt x="23281843" y="13884444"/>
                </a:lnTo>
                <a:lnTo>
                  <a:pt x="0" y="13884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037647" y="1181994"/>
            <a:ext cx="5901636" cy="4114800"/>
          </a:xfrm>
          <a:custGeom>
            <a:avLst/>
            <a:gdLst/>
            <a:ahLst/>
            <a:cxnLst/>
            <a:rect r="r" b="b" t="t" l="l"/>
            <a:pathLst>
              <a:path h="4114800" w="5901636">
                <a:moveTo>
                  <a:pt x="0" y="0"/>
                </a:moveTo>
                <a:lnTo>
                  <a:pt x="5901635" y="0"/>
                </a:lnTo>
                <a:lnTo>
                  <a:pt x="590163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222487" y="327198"/>
            <a:ext cx="5336364"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MARKETABILITY</a:t>
            </a:r>
          </a:p>
        </p:txBody>
      </p:sp>
      <p:sp>
        <p:nvSpPr>
          <p:cNvPr name="TextBox 5" id="5"/>
          <p:cNvSpPr txBox="true"/>
          <p:nvPr/>
        </p:nvSpPr>
        <p:spPr>
          <a:xfrm rot="0">
            <a:off x="3890669" y="8472953"/>
            <a:ext cx="8855039" cy="1228895"/>
          </a:xfrm>
          <a:prstGeom prst="rect">
            <a:avLst/>
          </a:prstGeom>
        </p:spPr>
        <p:txBody>
          <a:bodyPr anchor="t" rtlCol="false" tIns="0" lIns="0" bIns="0" rIns="0">
            <a:spAutoFit/>
          </a:bodyPr>
          <a:lstStyle/>
          <a:p>
            <a:pPr algn="ctr">
              <a:lnSpc>
                <a:spcPts val="3264"/>
              </a:lnSpc>
              <a:spcBef>
                <a:spcPct val="0"/>
              </a:spcBef>
            </a:pPr>
            <a:r>
              <a:rPr lang="en-US" b="true" sz="2720" i="true">
                <a:solidFill>
                  <a:srgbClr val="253439"/>
                </a:solidFill>
                <a:latin typeface="Aileron Bold Italics"/>
                <a:ea typeface="Aileron Bold Italics"/>
                <a:cs typeface="Aileron Bold Italics"/>
                <a:sym typeface="Aileron Bold Italics"/>
              </a:rPr>
              <a:t>“</a:t>
            </a:r>
            <a:r>
              <a:rPr lang="en-US" b="true" sz="2720" i="true">
                <a:solidFill>
                  <a:srgbClr val="253439"/>
                </a:solidFill>
                <a:latin typeface="Aileron Bold Italics"/>
                <a:ea typeface="Aileron Bold Italics"/>
                <a:cs typeface="Aileron Bold Italics"/>
                <a:sym typeface="Aileron Bold Italics"/>
              </a:rPr>
              <a:t>It's like having a personal trainer with you, </a:t>
            </a:r>
          </a:p>
          <a:p>
            <a:pPr algn="ctr">
              <a:lnSpc>
                <a:spcPts val="3264"/>
              </a:lnSpc>
              <a:spcBef>
                <a:spcPct val="0"/>
              </a:spcBef>
            </a:pPr>
            <a:r>
              <a:rPr lang="en-US" b="true" sz="2720" i="true">
                <a:solidFill>
                  <a:srgbClr val="253439"/>
                </a:solidFill>
                <a:latin typeface="Aileron Bold Italics"/>
                <a:ea typeface="Aileron Bold Italics"/>
                <a:cs typeface="Aileron Bold Italics"/>
                <a:sym typeface="Aileron Bold Italics"/>
              </a:rPr>
              <a:t>guiding you with personalized tips based on how you move.”</a:t>
            </a:r>
          </a:p>
        </p:txBody>
      </p:sp>
      <p:sp>
        <p:nvSpPr>
          <p:cNvPr name="TextBox 6" id="6"/>
          <p:cNvSpPr txBox="true"/>
          <p:nvPr/>
        </p:nvSpPr>
        <p:spPr>
          <a:xfrm rot="0">
            <a:off x="1489670" y="1513826"/>
            <a:ext cx="7654330" cy="3389278"/>
          </a:xfrm>
          <a:prstGeom prst="rect">
            <a:avLst/>
          </a:prstGeom>
        </p:spPr>
        <p:txBody>
          <a:bodyPr anchor="t" rtlCol="false" tIns="0" lIns="0" bIns="0" rIns="0">
            <a:spAutoFit/>
          </a:bodyPr>
          <a:lstStyle/>
          <a:p>
            <a:pPr algn="l">
              <a:lnSpc>
                <a:spcPts val="3367"/>
              </a:lnSpc>
              <a:spcBef>
                <a:spcPct val="0"/>
              </a:spcBef>
            </a:pPr>
            <a:r>
              <a:rPr lang="en-US" sz="2806">
                <a:solidFill>
                  <a:srgbClr val="253439"/>
                </a:solidFill>
                <a:latin typeface="HK Grotesk"/>
                <a:ea typeface="HK Grotesk"/>
                <a:cs typeface="HK Grotesk"/>
                <a:sym typeface="HK Grotesk"/>
              </a:rPr>
              <a:t>Ta</a:t>
            </a:r>
            <a:r>
              <a:rPr lang="en-US" sz="2806">
                <a:solidFill>
                  <a:srgbClr val="253439"/>
                </a:solidFill>
                <a:latin typeface="HK Grotesk"/>
                <a:ea typeface="HK Grotesk"/>
                <a:cs typeface="HK Grotesk"/>
                <a:sym typeface="HK Grotesk"/>
              </a:rPr>
              <a:t>rget Market Segments</a:t>
            </a:r>
          </a:p>
          <a:p>
            <a:pPr algn="l">
              <a:lnSpc>
                <a:spcPts val="3367"/>
              </a:lnSpc>
              <a:spcBef>
                <a:spcPct val="0"/>
              </a:spcBef>
            </a:pPr>
          </a:p>
          <a:p>
            <a:pPr algn="l" marL="605916" indent="-302958" lvl="1">
              <a:lnSpc>
                <a:spcPts val="3367"/>
              </a:lnSpc>
              <a:buAutoNum type="arabicPeriod" startAt="1"/>
            </a:pPr>
            <a:r>
              <a:rPr lang="en-US" sz="2806">
                <a:solidFill>
                  <a:srgbClr val="253439"/>
                </a:solidFill>
                <a:latin typeface="HK Grotesk"/>
                <a:ea typeface="HK Grotesk"/>
                <a:cs typeface="HK Grotesk"/>
                <a:sym typeface="HK Grotesk"/>
              </a:rPr>
              <a:t>Professional Sports Teams</a:t>
            </a:r>
          </a:p>
          <a:p>
            <a:pPr algn="l" marL="605916" indent="-302958" lvl="1">
              <a:lnSpc>
                <a:spcPts val="3367"/>
              </a:lnSpc>
              <a:spcBef>
                <a:spcPct val="0"/>
              </a:spcBef>
              <a:buAutoNum type="arabicPeriod" startAt="1"/>
            </a:pPr>
            <a:r>
              <a:rPr lang="en-US" sz="2806">
                <a:solidFill>
                  <a:srgbClr val="253439"/>
                </a:solidFill>
                <a:latin typeface="HK Grotesk"/>
                <a:ea typeface="HK Grotesk"/>
                <a:cs typeface="HK Grotesk"/>
                <a:sym typeface="HK Grotesk"/>
              </a:rPr>
              <a:t>Fitness Centers and Gyms</a:t>
            </a:r>
          </a:p>
          <a:p>
            <a:pPr algn="l" marL="605916" indent="-302958" lvl="1">
              <a:lnSpc>
                <a:spcPts val="3367"/>
              </a:lnSpc>
              <a:spcBef>
                <a:spcPct val="0"/>
              </a:spcBef>
              <a:buAutoNum type="arabicPeriod" startAt="1"/>
            </a:pPr>
            <a:r>
              <a:rPr lang="en-US" sz="2806">
                <a:solidFill>
                  <a:srgbClr val="253439"/>
                </a:solidFill>
                <a:latin typeface="HK Grotesk"/>
                <a:ea typeface="HK Grotesk"/>
                <a:cs typeface="HK Grotesk"/>
                <a:sym typeface="HK Grotesk"/>
              </a:rPr>
              <a:t>Personal Trainers</a:t>
            </a:r>
          </a:p>
          <a:p>
            <a:pPr algn="l" marL="605916" indent="-302958" lvl="1">
              <a:lnSpc>
                <a:spcPts val="3367"/>
              </a:lnSpc>
              <a:spcBef>
                <a:spcPct val="0"/>
              </a:spcBef>
              <a:buAutoNum type="arabicPeriod" startAt="1"/>
            </a:pPr>
            <a:r>
              <a:rPr lang="en-US" sz="2806">
                <a:solidFill>
                  <a:srgbClr val="253439"/>
                </a:solidFill>
                <a:latin typeface="HK Grotesk"/>
                <a:ea typeface="HK Grotesk"/>
                <a:cs typeface="HK Grotesk"/>
                <a:sym typeface="HK Grotesk"/>
              </a:rPr>
              <a:t>Rehabilitation Clinics</a:t>
            </a:r>
          </a:p>
          <a:p>
            <a:pPr algn="l" marL="605916" indent="-302958" lvl="1">
              <a:lnSpc>
                <a:spcPts val="3367"/>
              </a:lnSpc>
              <a:spcBef>
                <a:spcPct val="0"/>
              </a:spcBef>
              <a:buAutoNum type="arabicPeriod" startAt="1"/>
            </a:pPr>
            <a:r>
              <a:rPr lang="en-US" sz="2806">
                <a:solidFill>
                  <a:srgbClr val="253439"/>
                </a:solidFill>
                <a:latin typeface="HK Grotesk"/>
                <a:ea typeface="HK Grotesk"/>
                <a:cs typeface="HK Grotesk"/>
                <a:sym typeface="HK Grotesk"/>
              </a:rPr>
              <a:t>Individual Athletes and Fitness Enthusiasts</a:t>
            </a:r>
          </a:p>
          <a:p>
            <a:pPr algn="ctr">
              <a:lnSpc>
                <a:spcPts val="3367"/>
              </a:lnSpc>
              <a:spcBef>
                <a:spcPct val="0"/>
              </a:spcBef>
            </a:pPr>
          </a:p>
        </p:txBody>
      </p:sp>
      <p:sp>
        <p:nvSpPr>
          <p:cNvPr name="TextBox 7" id="7"/>
          <p:cNvSpPr txBox="true"/>
          <p:nvPr/>
        </p:nvSpPr>
        <p:spPr>
          <a:xfrm rot="0">
            <a:off x="1489670" y="5013568"/>
            <a:ext cx="9097473" cy="3067100"/>
          </a:xfrm>
          <a:prstGeom prst="rect">
            <a:avLst/>
          </a:prstGeom>
        </p:spPr>
        <p:txBody>
          <a:bodyPr anchor="t" rtlCol="false" tIns="0" lIns="0" bIns="0" rIns="0">
            <a:spAutoFit/>
          </a:bodyPr>
          <a:lstStyle/>
          <a:p>
            <a:pPr algn="l">
              <a:lnSpc>
                <a:spcPts val="3483"/>
              </a:lnSpc>
              <a:spcBef>
                <a:spcPct val="0"/>
              </a:spcBef>
            </a:pPr>
            <a:r>
              <a:rPr lang="en-US" sz="2902">
                <a:solidFill>
                  <a:srgbClr val="253439"/>
                </a:solidFill>
                <a:latin typeface="HK Grotesk"/>
                <a:ea typeface="HK Grotesk"/>
                <a:cs typeface="HK Grotesk"/>
                <a:sym typeface="HK Grotesk"/>
              </a:rPr>
              <a:t>Unique Value Prop</a:t>
            </a:r>
            <a:r>
              <a:rPr lang="en-US" sz="2902">
                <a:solidFill>
                  <a:srgbClr val="253439"/>
                </a:solidFill>
                <a:latin typeface="HK Grotesk"/>
                <a:ea typeface="HK Grotesk"/>
                <a:cs typeface="HK Grotesk"/>
                <a:sym typeface="HK Grotesk"/>
              </a:rPr>
              <a:t>ositions</a:t>
            </a:r>
          </a:p>
          <a:p>
            <a:pPr algn="l">
              <a:lnSpc>
                <a:spcPts val="3483"/>
              </a:lnSpc>
              <a:spcBef>
                <a:spcPct val="0"/>
              </a:spcBef>
            </a:pPr>
          </a:p>
          <a:p>
            <a:pPr algn="l" marL="626650" indent="-313325" lvl="1">
              <a:lnSpc>
                <a:spcPts val="3483"/>
              </a:lnSpc>
              <a:spcBef>
                <a:spcPct val="0"/>
              </a:spcBef>
              <a:buFont typeface="Arial"/>
              <a:buChar char="•"/>
            </a:pPr>
            <a:r>
              <a:rPr lang="en-US" sz="2902">
                <a:solidFill>
                  <a:srgbClr val="253439"/>
                </a:solidFill>
                <a:latin typeface="HK Grotesk"/>
                <a:ea typeface="HK Grotesk"/>
                <a:cs typeface="HK Grotesk"/>
                <a:sym typeface="HK Grotesk"/>
              </a:rPr>
              <a:t>Real-time injury risk prediction</a:t>
            </a:r>
          </a:p>
          <a:p>
            <a:pPr algn="l" marL="626650" indent="-313325" lvl="1">
              <a:lnSpc>
                <a:spcPts val="3483"/>
              </a:lnSpc>
              <a:spcBef>
                <a:spcPct val="0"/>
              </a:spcBef>
              <a:buFont typeface="Arial"/>
              <a:buChar char="•"/>
            </a:pPr>
            <a:r>
              <a:rPr lang="en-US" sz="2902">
                <a:solidFill>
                  <a:srgbClr val="253439"/>
                </a:solidFill>
                <a:latin typeface="HK Grotesk"/>
                <a:ea typeface="HK Grotesk"/>
                <a:cs typeface="HK Grotesk"/>
                <a:sym typeface="HK Grotesk"/>
              </a:rPr>
              <a:t>Personalized biomechanical insights</a:t>
            </a:r>
          </a:p>
          <a:p>
            <a:pPr algn="l" marL="626650" indent="-313325" lvl="1">
              <a:lnSpc>
                <a:spcPts val="3483"/>
              </a:lnSpc>
              <a:spcBef>
                <a:spcPct val="0"/>
              </a:spcBef>
              <a:buFont typeface="Arial"/>
              <a:buChar char="•"/>
            </a:pPr>
            <a:r>
              <a:rPr lang="en-US" sz="2902">
                <a:solidFill>
                  <a:srgbClr val="253439"/>
                </a:solidFill>
                <a:latin typeface="HK Grotesk"/>
                <a:ea typeface="HK Grotesk"/>
                <a:cs typeface="HK Grotesk"/>
                <a:sym typeface="HK Grotesk"/>
              </a:rPr>
              <a:t>Performance optimization</a:t>
            </a:r>
          </a:p>
          <a:p>
            <a:pPr algn="l" marL="626650" indent="-313325" lvl="1">
              <a:lnSpc>
                <a:spcPts val="3483"/>
              </a:lnSpc>
              <a:spcBef>
                <a:spcPct val="0"/>
              </a:spcBef>
              <a:buFont typeface="Arial"/>
              <a:buChar char="•"/>
            </a:pPr>
            <a:r>
              <a:rPr lang="en-US" sz="2902">
                <a:solidFill>
                  <a:srgbClr val="253439"/>
                </a:solidFill>
                <a:latin typeface="HK Grotesk"/>
                <a:ea typeface="HK Grotesk"/>
                <a:cs typeface="HK Grotesk"/>
                <a:sym typeface="HK Grotesk"/>
              </a:rPr>
              <a:t>Cost-effective injury prevention</a:t>
            </a:r>
          </a:p>
          <a:p>
            <a:pPr algn="l">
              <a:lnSpc>
                <a:spcPts val="3483"/>
              </a:lnSpc>
              <a:spcBef>
                <a:spcPct val="0"/>
              </a:spcBef>
            </a:pP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58132" y="447323"/>
            <a:ext cx="4349840" cy="826136"/>
          </a:xfrm>
          <a:prstGeom prst="rect">
            <a:avLst/>
          </a:prstGeom>
        </p:spPr>
        <p:txBody>
          <a:bodyPr anchor="t" rtlCol="false" tIns="0" lIns="0" bIns="0" rIns="0">
            <a:spAutoFit/>
          </a:bodyPr>
          <a:lstStyle/>
          <a:p>
            <a:pPr algn="r" marL="0" indent="0" lvl="0">
              <a:lnSpc>
                <a:spcPts val="6380"/>
              </a:lnSpc>
            </a:pPr>
            <a:r>
              <a:rPr lang="en-US" b="true" sz="5800">
                <a:solidFill>
                  <a:srgbClr val="253439"/>
                </a:solidFill>
                <a:latin typeface="Glacial Indifference Bold"/>
                <a:ea typeface="Glacial Indifference Bold"/>
                <a:cs typeface="Glacial Indifference Bold"/>
                <a:sym typeface="Glacial Indifference Bold"/>
              </a:rPr>
              <a:t>REFERENCES</a:t>
            </a:r>
          </a:p>
        </p:txBody>
      </p:sp>
      <p:sp>
        <p:nvSpPr>
          <p:cNvPr name="Freeform 3" id="3"/>
          <p:cNvSpPr/>
          <p:nvPr/>
        </p:nvSpPr>
        <p:spPr>
          <a:xfrm flipH="false" flipV="false" rot="5400000">
            <a:off x="12970267" y="2374956"/>
            <a:ext cx="11173984" cy="7393795"/>
          </a:xfrm>
          <a:custGeom>
            <a:avLst/>
            <a:gdLst/>
            <a:ahLst/>
            <a:cxnLst/>
            <a:rect r="r" b="b" t="t" l="l"/>
            <a:pathLst>
              <a:path h="7393795" w="11173984">
                <a:moveTo>
                  <a:pt x="0" y="0"/>
                </a:moveTo>
                <a:lnTo>
                  <a:pt x="11173985" y="0"/>
                </a:lnTo>
                <a:lnTo>
                  <a:pt x="11173985"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187495" y="1687042"/>
            <a:ext cx="15222606" cy="7247186"/>
          </a:xfrm>
          <a:prstGeom prst="rect">
            <a:avLst/>
          </a:prstGeom>
        </p:spPr>
        <p:txBody>
          <a:bodyPr anchor="t" rtlCol="false" tIns="0" lIns="0" bIns="0" rIns="0">
            <a:spAutoFit/>
          </a:bodyPr>
          <a:lstStyle/>
          <a:p>
            <a:pPr algn="l" marL="494806" indent="-247403" lvl="1">
              <a:lnSpc>
                <a:spcPts val="2750"/>
              </a:lnSpc>
              <a:buFont typeface="Arial"/>
              <a:buChar char="•"/>
            </a:pPr>
            <a:r>
              <a:rPr lang="en-US" sz="2291">
                <a:solidFill>
                  <a:srgbClr val="253439"/>
                </a:solidFill>
                <a:latin typeface="Times New Roman"/>
                <a:ea typeface="Times New Roman"/>
                <a:cs typeface="Times New Roman"/>
                <a:sym typeface="Times New Roman"/>
              </a:rPr>
              <a:t>R. Martinez and P. Wong, "Machine Learning Models for Predictive Injury Risk Assessment in Athletes," IEEE Journal of Biomedical and Health Informatics, vol. 26, no. 3, pp. 987-998, Mar. 2024.</a:t>
            </a:r>
          </a:p>
          <a:p>
            <a:pPr algn="l">
              <a:lnSpc>
                <a:spcPts val="2750"/>
              </a:lnSpc>
            </a:pPr>
          </a:p>
          <a:p>
            <a:pPr algn="l" marL="494806" indent="-247403" lvl="1">
              <a:lnSpc>
                <a:spcPts val="2750"/>
              </a:lnSpc>
              <a:buFont typeface="Arial"/>
              <a:buChar char="•"/>
            </a:pPr>
            <a:r>
              <a:rPr lang="en-US" sz="2291">
                <a:solidFill>
                  <a:srgbClr val="253439"/>
                </a:solidFill>
                <a:latin typeface="Times New Roman"/>
                <a:ea typeface="Times New Roman"/>
                <a:cs typeface="Times New Roman"/>
                <a:sym typeface="Times New Roman"/>
              </a:rPr>
              <a:t>E. Chen, S. Park, and T. Rodriguez, "Advanced Motion Tracking Systems for Real-Time Biomechanical Analysis," IEEE Access, vol. 11, pp. 45678-45690, 2023.</a:t>
            </a:r>
          </a:p>
          <a:p>
            <a:pPr algn="l">
              <a:lnSpc>
                <a:spcPts val="2750"/>
              </a:lnSpc>
            </a:pPr>
          </a:p>
          <a:p>
            <a:pPr algn="l" marL="494806" indent="-247403" lvl="1">
              <a:lnSpc>
                <a:spcPts val="2750"/>
              </a:lnSpc>
              <a:buFont typeface="Arial"/>
              <a:buChar char="•"/>
            </a:pPr>
            <a:r>
              <a:rPr lang="en-US" sz="2291">
                <a:solidFill>
                  <a:srgbClr val="253439"/>
                </a:solidFill>
                <a:latin typeface="Times New Roman"/>
                <a:ea typeface="Times New Roman"/>
                <a:cs typeface="Times New Roman"/>
                <a:sym typeface="Times New Roman"/>
              </a:rPr>
              <a:t>Bompa TO (1990). Periodization of strength: the most effective methodology of strength training, National Strength and Conditioning Association Journal, 12(5): 49-52.</a:t>
            </a:r>
          </a:p>
          <a:p>
            <a:pPr algn="l">
              <a:lnSpc>
                <a:spcPts val="2750"/>
              </a:lnSpc>
            </a:pPr>
          </a:p>
          <a:p>
            <a:pPr algn="l" marL="494806" indent="-247403" lvl="1">
              <a:lnSpc>
                <a:spcPts val="2750"/>
              </a:lnSpc>
              <a:buFont typeface="Arial"/>
              <a:buChar char="•"/>
            </a:pPr>
            <a:r>
              <a:rPr lang="en-US" sz="2291">
                <a:solidFill>
                  <a:srgbClr val="253439"/>
                </a:solidFill>
                <a:latin typeface="Times New Roman"/>
                <a:ea typeface="Times New Roman"/>
                <a:cs typeface="Times New Roman"/>
                <a:sym typeface="Times New Roman"/>
              </a:rPr>
              <a:t>Ackland DC, Pandy MG (2011). Moment arms of the shoulder muscles during axial rotation. J Orthop Res. 29(5): 658-67.</a:t>
            </a:r>
          </a:p>
          <a:p>
            <a:pPr algn="ctr">
              <a:lnSpc>
                <a:spcPts val="2750"/>
              </a:lnSpc>
            </a:pPr>
          </a:p>
          <a:p>
            <a:pPr algn="l" marL="494806" indent="-247403" lvl="1">
              <a:lnSpc>
                <a:spcPts val="2750"/>
              </a:lnSpc>
              <a:buFont typeface="Arial"/>
              <a:buChar char="•"/>
            </a:pPr>
            <a:r>
              <a:rPr lang="en-US" sz="2291">
                <a:solidFill>
                  <a:srgbClr val="253439"/>
                </a:solidFill>
                <a:latin typeface="Times New Roman"/>
                <a:ea typeface="Times New Roman"/>
                <a:cs typeface="Times New Roman"/>
                <a:sym typeface="Times New Roman"/>
              </a:rPr>
              <a:t>Baker JS, Davies B, Cooper SM, Wong DP, Buchan DS, Kilgore L (2013). Strength and body composition changes in recreationally strength-trained individuals: comparison of one versus three sets resistance-training programmes. Biomed Res Int. doi: 10.1155/2013/615901.</a:t>
            </a:r>
          </a:p>
          <a:p>
            <a:pPr algn="ctr">
              <a:lnSpc>
                <a:spcPts val="2750"/>
              </a:lnSpc>
            </a:pPr>
          </a:p>
          <a:p>
            <a:pPr algn="l" marL="494806" indent="-247403" lvl="1">
              <a:lnSpc>
                <a:spcPts val="2750"/>
              </a:lnSpc>
              <a:buFont typeface="Arial"/>
              <a:buChar char="•"/>
            </a:pPr>
            <a:r>
              <a:rPr lang="en-US" sz="2291">
                <a:solidFill>
                  <a:srgbClr val="253439"/>
                </a:solidFill>
                <a:latin typeface="Times New Roman"/>
                <a:ea typeface="Times New Roman"/>
                <a:cs typeface="Times New Roman"/>
                <a:sym typeface="Times New Roman"/>
              </a:rPr>
              <a:t>A. Smith, J. Doe, and M. Johnson, "Real-Time Biomechanical Analysis for Sports Injury Prevention: A Machine Learning Approach," IEEE Transactions on Biomedical Engineering, vol. 68, no. 4, pp. 1245-1256, Apr. 2023.</a:t>
            </a:r>
          </a:p>
          <a:p>
            <a:pPr algn="ctr">
              <a:lnSpc>
                <a:spcPts val="2750"/>
              </a:lnSpc>
            </a:pPr>
          </a:p>
          <a:p>
            <a:pPr algn="l" marL="494806" indent="-247403" lvl="1">
              <a:lnSpc>
                <a:spcPts val="2750"/>
              </a:lnSpc>
              <a:buFont typeface="Arial"/>
              <a:buChar char="•"/>
            </a:pPr>
            <a:r>
              <a:rPr lang="en-US" sz="2291">
                <a:solidFill>
                  <a:srgbClr val="253439"/>
                </a:solidFill>
                <a:latin typeface="Times New Roman"/>
                <a:ea typeface="Times New Roman"/>
                <a:cs typeface="Times New Roman"/>
                <a:sym typeface="Times New Roman"/>
              </a:rPr>
              <a:t>Norkin C, Levangie P (1992) Joint Structure and Function: A Comprehensive Analysis. Philadelfhia: Davis, 2, 105.</a:t>
            </a:r>
          </a:p>
          <a:p>
            <a:pPr algn="ctr">
              <a:lnSpc>
                <a:spcPts val="2750"/>
              </a:lnSpc>
              <a:spcBef>
                <a:spcPct val="0"/>
              </a:spcBef>
            </a:pP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0315211">
            <a:off x="12359857" y="-1061878"/>
            <a:ext cx="8835755" cy="5846594"/>
          </a:xfrm>
          <a:custGeom>
            <a:avLst/>
            <a:gdLst/>
            <a:ahLst/>
            <a:cxnLst/>
            <a:rect r="r" b="b" t="t" l="l"/>
            <a:pathLst>
              <a:path h="5846594" w="8835755">
                <a:moveTo>
                  <a:pt x="0" y="0"/>
                </a:moveTo>
                <a:lnTo>
                  <a:pt x="8835754" y="0"/>
                </a:lnTo>
                <a:lnTo>
                  <a:pt x="8835754" y="5846594"/>
                </a:lnTo>
                <a:lnTo>
                  <a:pt x="0" y="58465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71419" y="3371855"/>
            <a:ext cx="1676733" cy="2004786"/>
          </a:xfrm>
          <a:custGeom>
            <a:avLst/>
            <a:gdLst/>
            <a:ahLst/>
            <a:cxnLst/>
            <a:rect r="r" b="b" t="t" l="l"/>
            <a:pathLst>
              <a:path h="2004786" w="1676733">
                <a:moveTo>
                  <a:pt x="0" y="0"/>
                </a:moveTo>
                <a:lnTo>
                  <a:pt x="1676733" y="0"/>
                </a:lnTo>
                <a:lnTo>
                  <a:pt x="1676733" y="2004785"/>
                </a:lnTo>
                <a:lnTo>
                  <a:pt x="0" y="2004785"/>
                </a:lnTo>
                <a:lnTo>
                  <a:pt x="0" y="0"/>
                </a:lnTo>
                <a:close/>
              </a:path>
            </a:pathLst>
          </a:custGeom>
          <a:blipFill>
            <a:blip r:embed="rId4"/>
            <a:stretch>
              <a:fillRect l="-10171" t="-8069" r="0" b="-14504"/>
            </a:stretch>
          </a:blipFill>
        </p:spPr>
      </p:sp>
      <p:sp>
        <p:nvSpPr>
          <p:cNvPr name="TextBox 4" id="4"/>
          <p:cNvSpPr txBox="true"/>
          <p:nvPr/>
        </p:nvSpPr>
        <p:spPr>
          <a:xfrm rot="0">
            <a:off x="918708" y="3580521"/>
            <a:ext cx="5871465" cy="1108312"/>
          </a:xfrm>
          <a:prstGeom prst="rect">
            <a:avLst/>
          </a:prstGeom>
        </p:spPr>
        <p:txBody>
          <a:bodyPr anchor="t" rtlCol="false" tIns="0" lIns="0" bIns="0" rIns="0">
            <a:spAutoFit/>
          </a:bodyPr>
          <a:lstStyle/>
          <a:p>
            <a:pPr algn="ctr">
              <a:lnSpc>
                <a:spcPts val="9098"/>
              </a:lnSpc>
              <a:spcBef>
                <a:spcPct val="0"/>
              </a:spcBef>
            </a:pPr>
            <a:r>
              <a:rPr lang="en-US" b="true" sz="6498">
                <a:solidFill>
                  <a:srgbClr val="9D0000"/>
                </a:solidFill>
                <a:latin typeface="Aileron Bold"/>
                <a:ea typeface="Aileron Bold"/>
                <a:cs typeface="Aileron Bold"/>
                <a:sym typeface="Aileron Bold"/>
              </a:rPr>
              <a:t>Component 04</a:t>
            </a:r>
          </a:p>
        </p:txBody>
      </p:sp>
      <p:sp>
        <p:nvSpPr>
          <p:cNvPr name="TextBox 5" id="5"/>
          <p:cNvSpPr txBox="true"/>
          <p:nvPr/>
        </p:nvSpPr>
        <p:spPr>
          <a:xfrm rot="0">
            <a:off x="14771419" y="5719247"/>
            <a:ext cx="1816577" cy="363573"/>
          </a:xfrm>
          <a:prstGeom prst="rect">
            <a:avLst/>
          </a:prstGeom>
        </p:spPr>
        <p:txBody>
          <a:bodyPr anchor="t" rtlCol="false" tIns="0" lIns="0" bIns="0" rIns="0">
            <a:spAutoFit/>
          </a:bodyPr>
          <a:lstStyle/>
          <a:p>
            <a:pPr algn="ctr">
              <a:lnSpc>
                <a:spcPts val="2816"/>
              </a:lnSpc>
              <a:spcBef>
                <a:spcPct val="0"/>
              </a:spcBef>
            </a:pPr>
            <a:r>
              <a:rPr lang="en-US" b="true" sz="2347" i="true">
                <a:solidFill>
                  <a:srgbClr val="000000"/>
                </a:solidFill>
                <a:latin typeface="Aileron Bold Italics"/>
                <a:ea typeface="Aileron Bold Italics"/>
                <a:cs typeface="Aileron Bold Italics"/>
                <a:sym typeface="Aileron Bold Italics"/>
              </a:rPr>
              <a:t>PINIDIYA Y.H</a:t>
            </a:r>
          </a:p>
        </p:txBody>
      </p:sp>
      <p:sp>
        <p:nvSpPr>
          <p:cNvPr name="TextBox 6" id="6"/>
          <p:cNvSpPr txBox="true"/>
          <p:nvPr/>
        </p:nvSpPr>
        <p:spPr>
          <a:xfrm rot="0">
            <a:off x="14911264" y="6073295"/>
            <a:ext cx="1536888" cy="319358"/>
          </a:xfrm>
          <a:prstGeom prst="rect">
            <a:avLst/>
          </a:prstGeom>
        </p:spPr>
        <p:txBody>
          <a:bodyPr anchor="t" rtlCol="false" tIns="0" lIns="0" bIns="0" rIns="0">
            <a:spAutoFit/>
          </a:bodyPr>
          <a:lstStyle/>
          <a:p>
            <a:pPr algn="ctr">
              <a:lnSpc>
                <a:spcPts val="2457"/>
              </a:lnSpc>
              <a:spcBef>
                <a:spcPct val="0"/>
              </a:spcBef>
            </a:pPr>
            <a:r>
              <a:rPr lang="en-US" b="true" sz="2047" i="true">
                <a:solidFill>
                  <a:srgbClr val="000000"/>
                </a:solidFill>
                <a:latin typeface="Aileron Bold Italics"/>
                <a:ea typeface="Aileron Bold Italics"/>
                <a:cs typeface="Aileron Bold Italics"/>
                <a:sym typeface="Aileron Bold Italics"/>
              </a:rPr>
              <a:t>IT21387012</a:t>
            </a:r>
          </a:p>
        </p:txBody>
      </p:sp>
      <p:sp>
        <p:nvSpPr>
          <p:cNvPr name="TextBox 7" id="7"/>
          <p:cNvSpPr txBox="true"/>
          <p:nvPr/>
        </p:nvSpPr>
        <p:spPr>
          <a:xfrm rot="0">
            <a:off x="904426" y="5059153"/>
            <a:ext cx="11771493" cy="1266825"/>
          </a:xfrm>
          <a:prstGeom prst="rect">
            <a:avLst/>
          </a:prstGeom>
        </p:spPr>
        <p:txBody>
          <a:bodyPr anchor="t" rtlCol="false" tIns="0" lIns="0" bIns="0" rIns="0">
            <a:spAutoFit/>
          </a:bodyPr>
          <a:lstStyle/>
          <a:p>
            <a:pPr algn="just">
              <a:lnSpc>
                <a:spcPts val="5001"/>
              </a:lnSpc>
            </a:pPr>
            <a:r>
              <a:rPr lang="en-US" sz="4167" b="true">
                <a:solidFill>
                  <a:srgbClr val="000000"/>
                </a:solidFill>
                <a:latin typeface="Aileron Bold"/>
                <a:ea typeface="Aileron Bold"/>
                <a:cs typeface="Aileron Bold"/>
                <a:sym typeface="Aileron Bold"/>
              </a:rPr>
              <a:t>captured the body measurement, Body image </a:t>
            </a:r>
          </a:p>
          <a:p>
            <a:pPr algn="just">
              <a:lnSpc>
                <a:spcPts val="5001"/>
              </a:lnSpc>
              <a:spcBef>
                <a:spcPct val="0"/>
              </a:spcBef>
            </a:pPr>
            <a:r>
              <a:rPr lang="en-US" b="true" sz="4167">
                <a:solidFill>
                  <a:srgbClr val="000000"/>
                </a:solidFill>
                <a:latin typeface="Aileron Bold"/>
                <a:ea typeface="Aileron Bold"/>
                <a:cs typeface="Aileron Bold"/>
                <a:sym typeface="Aileron Bold"/>
              </a:rPr>
              <a:t>&amp; used that measurement to draw conclusions.</a:t>
            </a:r>
            <a:r>
              <a:rPr lang="en-US" b="true" sz="4167">
                <a:solidFill>
                  <a:srgbClr val="000000"/>
                </a:solidFill>
                <a:latin typeface="Aileron Bold"/>
                <a:ea typeface="Aileron Bold"/>
                <a:cs typeface="Aileron Bold"/>
                <a:sym typeface="Aileron Bold"/>
              </a:rPr>
              <a:t> </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6199142">
            <a:off x="-3810184" y="-1447548"/>
            <a:ext cx="11173984" cy="7393795"/>
          </a:xfrm>
          <a:custGeom>
            <a:avLst/>
            <a:gdLst/>
            <a:ahLst/>
            <a:cxnLst/>
            <a:rect r="r" b="b" t="t" l="l"/>
            <a:pathLst>
              <a:path h="7393795" w="11173984">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2109242" y="2390531"/>
            <a:ext cx="0" cy="1247775"/>
          </a:xfrm>
          <a:prstGeom prst="line">
            <a:avLst/>
          </a:prstGeom>
          <a:ln cap="flat" w="133350">
            <a:solidFill>
              <a:srgbClr val="D15353"/>
            </a:solidFill>
            <a:prstDash val="solid"/>
            <a:headEnd type="none" len="sm" w="sm"/>
            <a:tailEnd type="none" len="sm" w="sm"/>
          </a:ln>
        </p:spPr>
      </p:sp>
      <p:sp>
        <p:nvSpPr>
          <p:cNvPr name="TextBox 4" id="4"/>
          <p:cNvSpPr txBox="true"/>
          <p:nvPr/>
        </p:nvSpPr>
        <p:spPr>
          <a:xfrm rot="0">
            <a:off x="2301807" y="2534626"/>
            <a:ext cx="5007291" cy="85477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INTRODUCTION</a:t>
            </a:r>
          </a:p>
        </p:txBody>
      </p:sp>
      <p:sp>
        <p:nvSpPr>
          <p:cNvPr name="TextBox 5" id="5"/>
          <p:cNvSpPr txBox="true"/>
          <p:nvPr/>
        </p:nvSpPr>
        <p:spPr>
          <a:xfrm rot="0">
            <a:off x="2037691" y="3965731"/>
            <a:ext cx="15221609" cy="4295775"/>
          </a:xfrm>
          <a:prstGeom prst="rect">
            <a:avLst/>
          </a:prstGeom>
        </p:spPr>
        <p:txBody>
          <a:bodyPr anchor="t" rtlCol="false" tIns="0" lIns="0" bIns="0" rIns="0">
            <a:spAutoFit/>
          </a:bodyPr>
          <a:lstStyle/>
          <a:p>
            <a:pPr algn="just" marL="564568" indent="-282284" lvl="1">
              <a:lnSpc>
                <a:spcPts val="3137"/>
              </a:lnSpc>
              <a:buFont typeface="Arial"/>
              <a:buChar char="•"/>
            </a:pPr>
            <a:r>
              <a:rPr lang="en-US" sz="2614">
                <a:solidFill>
                  <a:srgbClr val="253439"/>
                </a:solidFill>
                <a:latin typeface="Aileron"/>
                <a:ea typeface="Aileron"/>
                <a:cs typeface="Aileron"/>
                <a:sym typeface="Aileron"/>
              </a:rPr>
              <a:t>Tracking body measurements is crucial for athletes to monitor fitness progress.</a:t>
            </a:r>
          </a:p>
          <a:p>
            <a:pPr algn="just">
              <a:lnSpc>
                <a:spcPts val="3137"/>
              </a:lnSpc>
            </a:pPr>
            <a:r>
              <a:rPr lang="en-US" sz="2614">
                <a:solidFill>
                  <a:srgbClr val="253439"/>
                </a:solidFill>
                <a:latin typeface="Aileron"/>
                <a:ea typeface="Aileron"/>
                <a:cs typeface="Aileron"/>
                <a:sym typeface="Aileron"/>
              </a:rPr>
              <a:t>        </a:t>
            </a:r>
          </a:p>
          <a:p>
            <a:pPr algn="just" marL="564568" indent="-282284" lvl="1">
              <a:lnSpc>
                <a:spcPts val="3137"/>
              </a:lnSpc>
              <a:buFont typeface="Arial"/>
              <a:buChar char="•"/>
            </a:pPr>
            <a:r>
              <a:rPr lang="en-US" sz="2614">
                <a:solidFill>
                  <a:srgbClr val="253439"/>
                </a:solidFill>
                <a:latin typeface="Aileron"/>
                <a:ea typeface="Aileron"/>
                <a:cs typeface="Aileron"/>
                <a:sym typeface="Aileron"/>
              </a:rPr>
              <a:t>This research focuses on predicting future body measurements and classifying body shape using training models.</a:t>
            </a:r>
          </a:p>
          <a:p>
            <a:pPr algn="just">
              <a:lnSpc>
                <a:spcPts val="3137"/>
              </a:lnSpc>
            </a:pPr>
          </a:p>
          <a:p>
            <a:pPr algn="just" marL="564568" indent="-282284" lvl="1">
              <a:lnSpc>
                <a:spcPts val="3137"/>
              </a:lnSpc>
              <a:buFont typeface="Arial"/>
              <a:buChar char="•"/>
            </a:pPr>
            <a:r>
              <a:rPr lang="en-US" sz="2614">
                <a:solidFill>
                  <a:srgbClr val="253439"/>
                </a:solidFill>
                <a:latin typeface="Aileron"/>
                <a:ea typeface="Aileron"/>
                <a:cs typeface="Aileron"/>
                <a:sym typeface="Aileron"/>
              </a:rPr>
              <a:t>Body Measurement Prediction Model – Predicts an athlete’s measurements based on current stats, workout, and meal plans. </a:t>
            </a:r>
          </a:p>
          <a:p>
            <a:pPr algn="just">
              <a:lnSpc>
                <a:spcPts val="3137"/>
              </a:lnSpc>
            </a:pPr>
          </a:p>
          <a:p>
            <a:pPr algn="just" marL="564568" indent="-282284" lvl="1">
              <a:lnSpc>
                <a:spcPts val="3137"/>
              </a:lnSpc>
              <a:buFont typeface="Arial"/>
              <a:buChar char="•"/>
            </a:pPr>
            <a:r>
              <a:rPr lang="en-US" sz="2614">
                <a:solidFill>
                  <a:srgbClr val="253439"/>
                </a:solidFill>
                <a:latin typeface="Aileron"/>
                <a:ea typeface="Aileron"/>
                <a:cs typeface="Aileron"/>
                <a:sym typeface="Aileron"/>
              </a:rPr>
              <a:t>Body Shape Classification Model – Uses image processing to classify an athlete’s body shape into Fat, Normal, or Very Thin categories. </a:t>
            </a:r>
          </a:p>
          <a:p>
            <a:pPr algn="just">
              <a:lnSpc>
                <a:spcPts val="3137"/>
              </a:lnSpc>
              <a:spcBef>
                <a:spcPct val="0"/>
              </a:spcBef>
            </a:pP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2044688" y="1329557"/>
            <a:ext cx="0" cy="1247775"/>
          </a:xfrm>
          <a:prstGeom prst="line">
            <a:avLst/>
          </a:prstGeom>
          <a:ln cap="flat" w="133350">
            <a:solidFill>
              <a:srgbClr val="D15353"/>
            </a:solidFill>
            <a:prstDash val="solid"/>
            <a:headEnd type="none" len="sm" w="sm"/>
            <a:tailEnd type="none" len="sm" w="sm"/>
          </a:ln>
        </p:spPr>
      </p:sp>
      <p:sp>
        <p:nvSpPr>
          <p:cNvPr name="TextBox 3" id="3"/>
          <p:cNvSpPr txBox="true"/>
          <p:nvPr/>
        </p:nvSpPr>
        <p:spPr>
          <a:xfrm rot="0">
            <a:off x="2321842" y="1367670"/>
            <a:ext cx="9893533" cy="1171548"/>
          </a:xfrm>
          <a:prstGeom prst="rect">
            <a:avLst/>
          </a:prstGeom>
        </p:spPr>
        <p:txBody>
          <a:bodyPr anchor="t" rtlCol="false" tIns="0" lIns="0" bIns="0" rIns="0">
            <a:spAutoFit/>
          </a:bodyPr>
          <a:lstStyle/>
          <a:p>
            <a:pPr algn="l" marL="0" indent="0" lvl="0">
              <a:lnSpc>
                <a:spcPts val="9240"/>
              </a:lnSpc>
              <a:spcBef>
                <a:spcPct val="0"/>
              </a:spcBef>
            </a:pPr>
            <a:r>
              <a:rPr lang="en-US" b="true" sz="7700">
                <a:solidFill>
                  <a:srgbClr val="253439"/>
                </a:solidFill>
                <a:latin typeface="Glacial Indifference Bold"/>
                <a:ea typeface="Glacial Indifference Bold"/>
                <a:cs typeface="Glacial Indifference Bold"/>
                <a:sym typeface="Glacial Indifference Bold"/>
              </a:rPr>
              <a:t>RESEARCH PROBLEM</a:t>
            </a:r>
          </a:p>
        </p:txBody>
      </p:sp>
      <p:sp>
        <p:nvSpPr>
          <p:cNvPr name="TextBox 4" id="4"/>
          <p:cNvSpPr txBox="true"/>
          <p:nvPr/>
        </p:nvSpPr>
        <p:spPr>
          <a:xfrm rot="0">
            <a:off x="2044688" y="2845359"/>
            <a:ext cx="14373117" cy="2095500"/>
          </a:xfrm>
          <a:prstGeom prst="rect">
            <a:avLst/>
          </a:prstGeom>
        </p:spPr>
        <p:txBody>
          <a:bodyPr anchor="t" rtlCol="false" tIns="0" lIns="0" bIns="0" rIns="0">
            <a:spAutoFit/>
          </a:bodyPr>
          <a:lstStyle/>
          <a:p>
            <a:pPr algn="just">
              <a:lnSpc>
                <a:spcPts val="4199"/>
              </a:lnSpc>
            </a:pPr>
            <a:r>
              <a:rPr lang="en-US" sz="3499">
                <a:solidFill>
                  <a:srgbClr val="253439"/>
                </a:solidFill>
                <a:latin typeface="Aileron"/>
                <a:ea typeface="Aileron"/>
                <a:cs typeface="Aileron"/>
                <a:sym typeface="Aileron"/>
              </a:rPr>
              <a:t>It is necessary to see how fit an athlete is at the end of a month after making some changes to the diet and exercise plan each month.</a:t>
            </a:r>
          </a:p>
          <a:p>
            <a:pPr algn="just">
              <a:lnSpc>
                <a:spcPts val="4199"/>
              </a:lnSpc>
            </a:pPr>
          </a:p>
          <a:p>
            <a:pPr algn="just">
              <a:lnSpc>
                <a:spcPts val="4199"/>
              </a:lnSpc>
              <a:spcBef>
                <a:spcPct val="0"/>
              </a:spcBef>
            </a:pPr>
            <a:r>
              <a:rPr lang="en-US" sz="3499">
                <a:solidFill>
                  <a:srgbClr val="253439"/>
                </a:solidFill>
                <a:latin typeface="Aileron"/>
                <a:ea typeface="Aileron"/>
                <a:cs typeface="Aileron"/>
                <a:sym typeface="Aileron"/>
              </a:rPr>
              <a:t>Helps athletes and trainers adjust training and nutrition plans effectively.</a:t>
            </a:r>
          </a:p>
        </p:txBody>
      </p:sp>
      <p:sp>
        <p:nvSpPr>
          <p:cNvPr name="Freeform 5" id="5"/>
          <p:cNvSpPr/>
          <p:nvPr/>
        </p:nvSpPr>
        <p:spPr>
          <a:xfrm flipH="false" flipV="false" rot="6224051">
            <a:off x="-2900713" y="-2407467"/>
            <a:ext cx="9890803" cy="6544717"/>
          </a:xfrm>
          <a:custGeom>
            <a:avLst/>
            <a:gdLst/>
            <a:ahLst/>
            <a:cxnLst/>
            <a:rect r="r" b="b" t="t" l="l"/>
            <a:pathLst>
              <a:path h="6544717" w="9890803">
                <a:moveTo>
                  <a:pt x="0" y="0"/>
                </a:moveTo>
                <a:lnTo>
                  <a:pt x="9890803" y="0"/>
                </a:lnTo>
                <a:lnTo>
                  <a:pt x="9890803" y="6544717"/>
                </a:lnTo>
                <a:lnTo>
                  <a:pt x="0" y="65447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03633" y="6514072"/>
            <a:ext cx="2118209" cy="2149474"/>
          </a:xfrm>
          <a:custGeom>
            <a:avLst/>
            <a:gdLst/>
            <a:ahLst/>
            <a:cxnLst/>
            <a:rect r="r" b="b" t="t" l="l"/>
            <a:pathLst>
              <a:path h="2149474" w="2118209">
                <a:moveTo>
                  <a:pt x="0" y="0"/>
                </a:moveTo>
                <a:lnTo>
                  <a:pt x="2118209" y="0"/>
                </a:lnTo>
                <a:lnTo>
                  <a:pt x="2118209" y="2149474"/>
                </a:lnTo>
                <a:lnTo>
                  <a:pt x="0" y="2149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7" id="7"/>
          <p:cNvSpPr/>
          <p:nvPr/>
        </p:nvSpPr>
        <p:spPr>
          <a:xfrm flipV="true">
            <a:off x="2321842" y="7588809"/>
            <a:ext cx="4463845" cy="0"/>
          </a:xfrm>
          <a:prstGeom prst="line">
            <a:avLst/>
          </a:prstGeom>
          <a:ln cap="flat" w="38100">
            <a:solidFill>
              <a:srgbClr val="D15353"/>
            </a:solidFill>
            <a:prstDash val="solid"/>
            <a:headEnd type="none" len="sm" w="sm"/>
            <a:tailEnd type="arrow" len="sm" w="med"/>
          </a:ln>
        </p:spPr>
      </p:sp>
      <p:sp>
        <p:nvSpPr>
          <p:cNvPr name="Freeform 8" id="8"/>
          <p:cNvSpPr/>
          <p:nvPr/>
        </p:nvSpPr>
        <p:spPr>
          <a:xfrm flipH="false" flipV="false" rot="0">
            <a:off x="16619610" y="5802871"/>
            <a:ext cx="1279381" cy="3571875"/>
          </a:xfrm>
          <a:custGeom>
            <a:avLst/>
            <a:gdLst/>
            <a:ahLst/>
            <a:cxnLst/>
            <a:rect r="r" b="b" t="t" l="l"/>
            <a:pathLst>
              <a:path h="3571875" w="1279381">
                <a:moveTo>
                  <a:pt x="0" y="0"/>
                </a:moveTo>
                <a:lnTo>
                  <a:pt x="1279380" y="0"/>
                </a:lnTo>
                <a:lnTo>
                  <a:pt x="1279380" y="3571875"/>
                </a:lnTo>
                <a:lnTo>
                  <a:pt x="0" y="35718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9" id="9"/>
          <p:cNvSpPr/>
          <p:nvPr/>
        </p:nvSpPr>
        <p:spPr>
          <a:xfrm>
            <a:off x="11009700" y="7588809"/>
            <a:ext cx="5609910" cy="0"/>
          </a:xfrm>
          <a:prstGeom prst="line">
            <a:avLst/>
          </a:prstGeom>
          <a:ln cap="flat" w="38100">
            <a:solidFill>
              <a:srgbClr val="D15353"/>
            </a:solidFill>
            <a:prstDash val="solid"/>
            <a:headEnd type="none" len="sm" w="sm"/>
            <a:tailEnd type="arrow" len="sm" w="med"/>
          </a:ln>
        </p:spPr>
      </p:sp>
      <p:sp>
        <p:nvSpPr>
          <p:cNvPr name="TextBox 10" id="10"/>
          <p:cNvSpPr txBox="true"/>
          <p:nvPr/>
        </p:nvSpPr>
        <p:spPr>
          <a:xfrm rot="0">
            <a:off x="352663" y="8906420"/>
            <a:ext cx="1820148" cy="628650"/>
          </a:xfrm>
          <a:prstGeom prst="rect">
            <a:avLst/>
          </a:prstGeom>
        </p:spPr>
        <p:txBody>
          <a:bodyPr anchor="t" rtlCol="false" tIns="0" lIns="0" bIns="0" rIns="0">
            <a:spAutoFit/>
          </a:bodyPr>
          <a:lstStyle/>
          <a:p>
            <a:pPr algn="ctr">
              <a:lnSpc>
                <a:spcPts val="4986"/>
              </a:lnSpc>
              <a:spcBef>
                <a:spcPct val="0"/>
              </a:spcBef>
            </a:pPr>
            <a:r>
              <a:rPr lang="en-US" b="true" sz="4155">
                <a:solidFill>
                  <a:srgbClr val="253439"/>
                </a:solidFill>
                <a:latin typeface="Glacial Indifference Bold"/>
                <a:ea typeface="Glacial Indifference Bold"/>
                <a:cs typeface="Glacial Indifference Bold"/>
                <a:sym typeface="Glacial Indifference Bold"/>
              </a:rPr>
              <a:t>PLAYER</a:t>
            </a:r>
          </a:p>
        </p:txBody>
      </p:sp>
      <p:sp>
        <p:nvSpPr>
          <p:cNvPr name="TextBox 11" id="11"/>
          <p:cNvSpPr txBox="true"/>
          <p:nvPr/>
        </p:nvSpPr>
        <p:spPr>
          <a:xfrm rot="0">
            <a:off x="12385465" y="9535070"/>
            <a:ext cx="5902535" cy="447702"/>
          </a:xfrm>
          <a:prstGeom prst="rect">
            <a:avLst/>
          </a:prstGeom>
        </p:spPr>
        <p:txBody>
          <a:bodyPr anchor="t" rtlCol="false" tIns="0" lIns="0" bIns="0" rIns="0">
            <a:spAutoFit/>
          </a:bodyPr>
          <a:lstStyle/>
          <a:p>
            <a:pPr algn="ctr">
              <a:lnSpc>
                <a:spcPts val="3546"/>
              </a:lnSpc>
              <a:spcBef>
                <a:spcPct val="0"/>
              </a:spcBef>
            </a:pPr>
            <a:r>
              <a:rPr lang="en-US" b="true" sz="2955">
                <a:solidFill>
                  <a:srgbClr val="253439"/>
                </a:solidFill>
                <a:latin typeface="Glacial Indifference Bold"/>
                <a:ea typeface="Glacial Indifference Bold"/>
                <a:cs typeface="Glacial Indifference Bold"/>
                <a:sym typeface="Glacial Indifference Bold"/>
              </a:rPr>
              <a:t>MONTHLY BODY MEASUREMENT</a:t>
            </a:r>
          </a:p>
        </p:txBody>
      </p:sp>
      <p:sp>
        <p:nvSpPr>
          <p:cNvPr name="TextBox 12" id="12"/>
          <p:cNvSpPr txBox="true"/>
          <p:nvPr/>
        </p:nvSpPr>
        <p:spPr>
          <a:xfrm rot="0">
            <a:off x="6785687" y="6817284"/>
            <a:ext cx="4224013" cy="1533525"/>
          </a:xfrm>
          <a:prstGeom prst="rect">
            <a:avLst/>
          </a:prstGeom>
        </p:spPr>
        <p:txBody>
          <a:bodyPr anchor="t" rtlCol="false" tIns="0" lIns="0" bIns="0" rIns="0">
            <a:spAutoFit/>
          </a:bodyPr>
          <a:lstStyle/>
          <a:p>
            <a:pPr algn="ctr">
              <a:lnSpc>
                <a:spcPts val="6000"/>
              </a:lnSpc>
            </a:pPr>
            <a:r>
              <a:rPr lang="en-US" sz="5000" b="true">
                <a:solidFill>
                  <a:srgbClr val="0087D3"/>
                </a:solidFill>
                <a:latin typeface="Aileron Bold"/>
                <a:ea typeface="Aileron Bold"/>
                <a:cs typeface="Aileron Bold"/>
                <a:sym typeface="Aileron Bold"/>
              </a:rPr>
              <a:t> Meal Plan &amp;  </a:t>
            </a:r>
          </a:p>
          <a:p>
            <a:pPr algn="ctr">
              <a:lnSpc>
                <a:spcPts val="6000"/>
              </a:lnSpc>
              <a:spcBef>
                <a:spcPct val="0"/>
              </a:spcBef>
            </a:pPr>
            <a:r>
              <a:rPr lang="en-US" b="true" sz="5000">
                <a:solidFill>
                  <a:srgbClr val="0087D3"/>
                </a:solidFill>
                <a:latin typeface="Aileron Bold"/>
                <a:ea typeface="Aileron Bold"/>
                <a:cs typeface="Aileron Bold"/>
                <a:sym typeface="Aileron Bold"/>
              </a:rPr>
              <a:t> workout Plan </a:t>
            </a:r>
          </a:p>
        </p:txBody>
      </p:sp>
      <p:sp>
        <p:nvSpPr>
          <p:cNvPr name="TextBox 13" id="13"/>
          <p:cNvSpPr txBox="true"/>
          <p:nvPr/>
        </p:nvSpPr>
        <p:spPr>
          <a:xfrm rot="0">
            <a:off x="2824111" y="7020861"/>
            <a:ext cx="3459307" cy="361923"/>
          </a:xfrm>
          <a:prstGeom prst="rect">
            <a:avLst/>
          </a:prstGeom>
        </p:spPr>
        <p:txBody>
          <a:bodyPr anchor="t" rtlCol="false" tIns="0" lIns="0" bIns="0" rIns="0">
            <a:spAutoFit/>
          </a:bodyPr>
          <a:lstStyle/>
          <a:p>
            <a:pPr algn="ctr">
              <a:lnSpc>
                <a:spcPts val="2870"/>
              </a:lnSpc>
              <a:spcBef>
                <a:spcPct val="0"/>
              </a:spcBef>
            </a:pPr>
            <a:r>
              <a:rPr lang="en-US" b="true" sz="2391" i="true">
                <a:solidFill>
                  <a:srgbClr val="000000"/>
                </a:solidFill>
                <a:latin typeface="Aileron Bold Italics"/>
                <a:ea typeface="Aileron Bold Italics"/>
                <a:cs typeface="Aileron Bold Italics"/>
                <a:sym typeface="Aileron Bold Italics"/>
              </a:rPr>
              <a:t>Need to change or make</a:t>
            </a:r>
          </a:p>
        </p:txBody>
      </p:sp>
      <p:sp>
        <p:nvSpPr>
          <p:cNvPr name="TextBox 14" id="14"/>
          <p:cNvSpPr txBox="true"/>
          <p:nvPr/>
        </p:nvSpPr>
        <p:spPr>
          <a:xfrm rot="0">
            <a:off x="11650915" y="7201822"/>
            <a:ext cx="4327480" cy="1000125"/>
          </a:xfrm>
          <a:prstGeom prst="rect">
            <a:avLst/>
          </a:prstGeom>
        </p:spPr>
        <p:txBody>
          <a:bodyPr anchor="t" rtlCol="false" tIns="0" lIns="0" bIns="0" rIns="0">
            <a:spAutoFit/>
          </a:bodyPr>
          <a:lstStyle/>
          <a:p>
            <a:pPr algn="ctr">
              <a:lnSpc>
                <a:spcPts val="2631"/>
              </a:lnSpc>
              <a:spcBef>
                <a:spcPct val="0"/>
              </a:spcBef>
            </a:pPr>
            <a:r>
              <a:rPr lang="en-US" b="true" sz="2192">
                <a:solidFill>
                  <a:srgbClr val="000000"/>
                </a:solidFill>
                <a:latin typeface="Aileron Bold"/>
                <a:ea typeface="Aileron Bold"/>
                <a:cs typeface="Aileron Bold"/>
                <a:sym typeface="Aileron Bold"/>
              </a:rPr>
              <a:t>The difference between the player's body measurements within 30 days is required.</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true" rot="4732281">
            <a:off x="11181072" y="-2156016"/>
            <a:ext cx="10058549" cy="6655714"/>
          </a:xfrm>
          <a:custGeom>
            <a:avLst/>
            <a:gdLst/>
            <a:ahLst/>
            <a:cxnLst/>
            <a:rect r="r" b="b" t="t" l="l"/>
            <a:pathLst>
              <a:path h="6655714" w="10058549">
                <a:moveTo>
                  <a:pt x="0" y="6655714"/>
                </a:moveTo>
                <a:lnTo>
                  <a:pt x="10058549" y="6655714"/>
                </a:lnTo>
                <a:lnTo>
                  <a:pt x="10058549" y="0"/>
                </a:lnTo>
                <a:lnTo>
                  <a:pt x="0" y="0"/>
                </a:lnTo>
                <a:lnTo>
                  <a:pt x="0" y="665571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75852" y="729908"/>
            <a:ext cx="3841313" cy="941016"/>
          </a:xfrm>
          <a:prstGeom prst="rect">
            <a:avLst/>
          </a:prstGeom>
        </p:spPr>
        <p:txBody>
          <a:bodyPr anchor="t" rtlCol="false" tIns="0" lIns="0" bIns="0" rIns="0">
            <a:spAutoFit/>
          </a:bodyPr>
          <a:lstStyle/>
          <a:p>
            <a:pPr algn="r" marL="0" indent="0" lvl="0">
              <a:lnSpc>
                <a:spcPts val="7260"/>
              </a:lnSpc>
            </a:pPr>
            <a:r>
              <a:rPr lang="en-US" sz="6600">
                <a:solidFill>
                  <a:srgbClr val="253439"/>
                </a:solidFill>
                <a:latin typeface="HK Grotesk"/>
                <a:ea typeface="HK Grotesk"/>
                <a:cs typeface="HK Grotesk"/>
                <a:sym typeface="HK Grotesk"/>
              </a:rPr>
              <a:t>SPECIFIC </a:t>
            </a:r>
          </a:p>
        </p:txBody>
      </p:sp>
      <p:sp>
        <p:nvSpPr>
          <p:cNvPr name="TextBox 4" id="4"/>
          <p:cNvSpPr txBox="true"/>
          <p:nvPr/>
        </p:nvSpPr>
        <p:spPr>
          <a:xfrm rot="0">
            <a:off x="1575852" y="1552400"/>
            <a:ext cx="5537528" cy="1076326"/>
          </a:xfrm>
          <a:prstGeom prst="rect">
            <a:avLst/>
          </a:prstGeom>
        </p:spPr>
        <p:txBody>
          <a:bodyPr anchor="t" rtlCol="false" tIns="0" lIns="0" bIns="0" rIns="0">
            <a:spAutoFit/>
          </a:bodyPr>
          <a:lstStyle/>
          <a:p>
            <a:pPr algn="r" marL="0" indent="0" lvl="0">
              <a:lnSpc>
                <a:spcPts val="8250"/>
              </a:lnSpc>
            </a:pPr>
            <a:r>
              <a:rPr lang="en-US" b="true" sz="7500">
                <a:solidFill>
                  <a:srgbClr val="253439"/>
                </a:solidFill>
                <a:latin typeface="Glacial Indifference Bold"/>
                <a:ea typeface="Glacial Indifference Bold"/>
                <a:cs typeface="Glacial Indifference Bold"/>
                <a:sym typeface="Glacial Indifference Bold"/>
              </a:rPr>
              <a:t>OBJECTIVES</a:t>
            </a:r>
          </a:p>
        </p:txBody>
      </p:sp>
      <p:sp>
        <p:nvSpPr>
          <p:cNvPr name="AutoShape 5" id="5"/>
          <p:cNvSpPr/>
          <p:nvPr/>
        </p:nvSpPr>
        <p:spPr>
          <a:xfrm flipV="true">
            <a:off x="1360746" y="672758"/>
            <a:ext cx="0" cy="2001837"/>
          </a:xfrm>
          <a:prstGeom prst="line">
            <a:avLst/>
          </a:prstGeom>
          <a:ln cap="flat" w="133350">
            <a:solidFill>
              <a:srgbClr val="D15353"/>
            </a:solidFill>
            <a:prstDash val="solid"/>
            <a:headEnd type="none" len="sm" w="sm"/>
            <a:tailEnd type="none" len="sm" w="sm"/>
          </a:ln>
        </p:spPr>
      </p:sp>
      <p:sp>
        <p:nvSpPr>
          <p:cNvPr name="TextBox 6" id="6"/>
          <p:cNvSpPr txBox="true"/>
          <p:nvPr/>
        </p:nvSpPr>
        <p:spPr>
          <a:xfrm rot="0">
            <a:off x="1360746" y="2928578"/>
            <a:ext cx="16297275" cy="6610350"/>
          </a:xfrm>
          <a:prstGeom prst="rect">
            <a:avLst/>
          </a:prstGeom>
        </p:spPr>
        <p:txBody>
          <a:bodyPr anchor="t" rtlCol="false" tIns="0" lIns="0" bIns="0" rIns="0">
            <a:spAutoFit/>
          </a:bodyPr>
          <a:lstStyle/>
          <a:p>
            <a:pPr algn="just" marL="555615" indent="-277807" lvl="1">
              <a:lnSpc>
                <a:spcPts val="3088"/>
              </a:lnSpc>
              <a:buFont typeface="Arial"/>
              <a:buChar char="•"/>
            </a:pPr>
            <a:r>
              <a:rPr lang="en-US" sz="2573">
                <a:solidFill>
                  <a:srgbClr val="253439"/>
                </a:solidFill>
                <a:latin typeface="Aileron"/>
                <a:ea typeface="Aileron"/>
                <a:cs typeface="Aileron"/>
                <a:sym typeface="Aileron"/>
              </a:rPr>
              <a:t>Capture Monthly  Body Measurement.</a:t>
            </a:r>
          </a:p>
          <a:p>
            <a:pPr algn="just">
              <a:lnSpc>
                <a:spcPts val="3088"/>
              </a:lnSpc>
            </a:pPr>
            <a:r>
              <a:rPr lang="en-US" sz="2573" i="true">
                <a:solidFill>
                  <a:srgbClr val="253439"/>
                </a:solidFill>
                <a:latin typeface="Aileron Italics"/>
                <a:ea typeface="Aileron Italics"/>
                <a:cs typeface="Aileron Italics"/>
                <a:sym typeface="Aileron Italics"/>
              </a:rPr>
              <a:t>  </a:t>
            </a:r>
          </a:p>
          <a:p>
            <a:pPr algn="just" marL="555615" indent="-277807" lvl="1">
              <a:lnSpc>
                <a:spcPts val="3088"/>
              </a:lnSpc>
              <a:buFont typeface="Arial"/>
              <a:buChar char="•"/>
            </a:pPr>
            <a:r>
              <a:rPr lang="en-US" sz="2573">
                <a:solidFill>
                  <a:srgbClr val="253439"/>
                </a:solidFill>
                <a:latin typeface="Aileron"/>
                <a:ea typeface="Aileron"/>
                <a:cs typeface="Aileron"/>
                <a:sym typeface="Aileron"/>
              </a:rPr>
              <a:t>prediction body measurement in the future month.</a:t>
            </a:r>
          </a:p>
          <a:p>
            <a:pPr algn="just">
              <a:lnSpc>
                <a:spcPts val="3088"/>
              </a:lnSpc>
            </a:pPr>
          </a:p>
          <a:p>
            <a:pPr algn="just" marL="555615" indent="-277807" lvl="1">
              <a:lnSpc>
                <a:spcPts val="3088"/>
              </a:lnSpc>
              <a:buFont typeface="Arial"/>
              <a:buChar char="•"/>
            </a:pPr>
            <a:r>
              <a:rPr lang="en-US" sz="2573">
                <a:solidFill>
                  <a:srgbClr val="253439"/>
                </a:solidFill>
                <a:latin typeface="Aileron"/>
                <a:ea typeface="Aileron"/>
                <a:cs typeface="Aileron"/>
                <a:sym typeface="Aileron"/>
              </a:rPr>
              <a:t>Calculate the body fat percentage.</a:t>
            </a:r>
          </a:p>
          <a:p>
            <a:pPr algn="just">
              <a:lnSpc>
                <a:spcPts val="3088"/>
              </a:lnSpc>
            </a:pPr>
          </a:p>
          <a:p>
            <a:pPr algn="just" marL="555615" indent="-277807" lvl="1">
              <a:lnSpc>
                <a:spcPts val="3088"/>
              </a:lnSpc>
              <a:buFont typeface="Arial"/>
              <a:buChar char="•"/>
            </a:pPr>
            <a:r>
              <a:rPr lang="en-US" sz="2573">
                <a:solidFill>
                  <a:srgbClr val="253439"/>
                </a:solidFill>
                <a:latin typeface="Aileron"/>
                <a:ea typeface="Aileron"/>
                <a:cs typeface="Aileron"/>
                <a:sym typeface="Aileron"/>
              </a:rPr>
              <a:t>Calculate the BMI.</a:t>
            </a:r>
          </a:p>
          <a:p>
            <a:pPr algn="just">
              <a:lnSpc>
                <a:spcPts val="3088"/>
              </a:lnSpc>
            </a:pPr>
          </a:p>
          <a:p>
            <a:pPr algn="just" marL="555615" indent="-277807" lvl="1">
              <a:lnSpc>
                <a:spcPts val="3088"/>
              </a:lnSpc>
              <a:buFont typeface="Arial"/>
              <a:buChar char="•"/>
            </a:pPr>
            <a:r>
              <a:rPr lang="en-US" sz="2573">
                <a:solidFill>
                  <a:srgbClr val="253439"/>
                </a:solidFill>
                <a:latin typeface="Aileron"/>
                <a:ea typeface="Aileron"/>
                <a:cs typeface="Aileron"/>
                <a:sym typeface="Aileron"/>
              </a:rPr>
              <a:t>Identifying mass percentage.</a:t>
            </a:r>
          </a:p>
          <a:p>
            <a:pPr algn="just">
              <a:lnSpc>
                <a:spcPts val="3088"/>
              </a:lnSpc>
            </a:pPr>
          </a:p>
          <a:p>
            <a:pPr algn="just" marL="555615" indent="-277807" lvl="1">
              <a:lnSpc>
                <a:spcPts val="3088"/>
              </a:lnSpc>
              <a:buFont typeface="Arial"/>
              <a:buChar char="•"/>
            </a:pPr>
            <a:r>
              <a:rPr lang="en-US" sz="2573">
                <a:solidFill>
                  <a:srgbClr val="253439"/>
                </a:solidFill>
                <a:latin typeface="Aileron"/>
                <a:ea typeface="Aileron"/>
                <a:cs typeface="Aileron"/>
                <a:sym typeface="Aileron"/>
              </a:rPr>
              <a:t>capture Body image of the player.</a:t>
            </a:r>
          </a:p>
          <a:p>
            <a:pPr algn="just">
              <a:lnSpc>
                <a:spcPts val="3088"/>
              </a:lnSpc>
            </a:pPr>
            <a:r>
              <a:rPr lang="en-US" sz="2573">
                <a:solidFill>
                  <a:srgbClr val="253439"/>
                </a:solidFill>
                <a:latin typeface="Aileron"/>
                <a:ea typeface="Aileron"/>
                <a:cs typeface="Aileron"/>
                <a:sym typeface="Aileron"/>
              </a:rPr>
              <a:t>         athlete to provide a body shape prediction of how fat, thin, or normal he or she is.</a:t>
            </a:r>
          </a:p>
          <a:p>
            <a:pPr algn="just">
              <a:lnSpc>
                <a:spcPts val="3088"/>
              </a:lnSpc>
            </a:pPr>
          </a:p>
          <a:p>
            <a:pPr algn="just" marL="555615" indent="-277807" lvl="1">
              <a:lnSpc>
                <a:spcPts val="3088"/>
              </a:lnSpc>
              <a:buFont typeface="Arial"/>
              <a:buChar char="•"/>
            </a:pPr>
            <a:r>
              <a:rPr lang="en-US" sz="2573">
                <a:solidFill>
                  <a:srgbClr val="253439"/>
                </a:solidFill>
                <a:latin typeface="Aileron"/>
                <a:ea typeface="Aileron"/>
                <a:cs typeface="Aileron"/>
                <a:sym typeface="Aileron"/>
              </a:rPr>
              <a:t>Fitness Level Assessment Establish a standardized methodology to assess and evaluate the athlete’s fitness level each month, focusing on strength, endurance, flexibility, and cardiovascular health. </a:t>
            </a:r>
          </a:p>
          <a:p>
            <a:pPr algn="just">
              <a:lnSpc>
                <a:spcPts val="3088"/>
              </a:lnSpc>
            </a:pPr>
          </a:p>
          <a:p>
            <a:pPr algn="just">
              <a:lnSpc>
                <a:spcPts val="2848"/>
              </a:lnSpc>
              <a:spcBef>
                <a:spcPct val="0"/>
              </a:spcBef>
            </a:pP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874235" y="409575"/>
            <a:ext cx="0" cy="1247775"/>
          </a:xfrm>
          <a:prstGeom prst="line">
            <a:avLst/>
          </a:prstGeom>
          <a:ln cap="flat" w="133350">
            <a:gradFill>
              <a:gsLst>
                <a:gs pos="0">
                  <a:srgbClr val="FDF7EF">
                    <a:alpha val="100000"/>
                  </a:srgbClr>
                </a:gs>
                <a:gs pos="100000">
                  <a:srgbClr val="FFFFFF">
                    <a:alpha val="100000"/>
                  </a:srgbClr>
                </a:gs>
              </a:gsLst>
              <a:lin ang="0"/>
            </a:gradFill>
            <a:prstDash val="solid"/>
            <a:headEnd type="none" len="sm" w="sm"/>
            <a:tailEnd type="none" len="sm" w="sm"/>
          </a:ln>
        </p:spPr>
      </p:sp>
      <p:sp>
        <p:nvSpPr>
          <p:cNvPr name="AutoShape 3" id="3"/>
          <p:cNvSpPr/>
          <p:nvPr/>
        </p:nvSpPr>
        <p:spPr>
          <a:xfrm>
            <a:off x="695644" y="71465"/>
            <a:ext cx="0" cy="1247720"/>
          </a:xfrm>
          <a:prstGeom prst="line">
            <a:avLst/>
          </a:prstGeom>
          <a:ln cap="flat" w="133350">
            <a:solidFill>
              <a:srgbClr val="D15353"/>
            </a:solidFill>
            <a:prstDash val="solid"/>
            <a:headEnd type="none" len="sm" w="sm"/>
            <a:tailEnd type="none" len="sm" w="sm"/>
          </a:ln>
        </p:spPr>
      </p:sp>
      <p:sp>
        <p:nvSpPr>
          <p:cNvPr name="Freeform 4" id="4"/>
          <p:cNvSpPr/>
          <p:nvPr/>
        </p:nvSpPr>
        <p:spPr>
          <a:xfrm flipH="false" flipV="false" rot="0">
            <a:off x="2475746" y="1657350"/>
            <a:ext cx="13877940" cy="7788994"/>
          </a:xfrm>
          <a:custGeom>
            <a:avLst/>
            <a:gdLst/>
            <a:ahLst/>
            <a:cxnLst/>
            <a:rect r="r" b="b" t="t" l="l"/>
            <a:pathLst>
              <a:path h="7788994" w="13877940">
                <a:moveTo>
                  <a:pt x="0" y="0"/>
                </a:moveTo>
                <a:lnTo>
                  <a:pt x="13877941" y="0"/>
                </a:lnTo>
                <a:lnTo>
                  <a:pt x="13877941" y="7788994"/>
                </a:lnTo>
                <a:lnTo>
                  <a:pt x="0" y="7788994"/>
                </a:lnTo>
                <a:lnTo>
                  <a:pt x="0" y="0"/>
                </a:lnTo>
                <a:close/>
              </a:path>
            </a:pathLst>
          </a:custGeom>
          <a:blipFill>
            <a:blip r:embed="rId2"/>
            <a:stretch>
              <a:fillRect l="0" t="0" r="0" b="0"/>
            </a:stretch>
          </a:blipFill>
        </p:spPr>
      </p:sp>
      <p:sp>
        <p:nvSpPr>
          <p:cNvPr name="TextBox 5" id="5"/>
          <p:cNvSpPr txBox="true"/>
          <p:nvPr/>
        </p:nvSpPr>
        <p:spPr>
          <a:xfrm rot="0">
            <a:off x="1067103" y="464427"/>
            <a:ext cx="6841890" cy="854758"/>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SYSTEM DIAGRAM</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8552140">
            <a:off x="6962082" y="-7941395"/>
            <a:ext cx="15806184" cy="9426233"/>
          </a:xfrm>
          <a:custGeom>
            <a:avLst/>
            <a:gdLst/>
            <a:ahLst/>
            <a:cxnLst/>
            <a:rect r="r" b="b" t="t" l="l"/>
            <a:pathLst>
              <a:path h="9426233" w="15806184">
                <a:moveTo>
                  <a:pt x="0" y="0"/>
                </a:moveTo>
                <a:lnTo>
                  <a:pt x="15806184" y="0"/>
                </a:lnTo>
                <a:lnTo>
                  <a:pt x="15806184" y="9426234"/>
                </a:lnTo>
                <a:lnTo>
                  <a:pt x="0" y="94262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734364" y="1028700"/>
            <a:ext cx="6272540" cy="8548291"/>
          </a:xfrm>
          <a:custGeom>
            <a:avLst/>
            <a:gdLst/>
            <a:ahLst/>
            <a:cxnLst/>
            <a:rect r="r" b="b" t="t" l="l"/>
            <a:pathLst>
              <a:path h="8548291" w="6272540">
                <a:moveTo>
                  <a:pt x="0" y="0"/>
                </a:moveTo>
                <a:lnTo>
                  <a:pt x="6272540" y="0"/>
                </a:lnTo>
                <a:lnTo>
                  <a:pt x="6272540" y="8548291"/>
                </a:lnTo>
                <a:lnTo>
                  <a:pt x="0" y="8548291"/>
                </a:lnTo>
                <a:lnTo>
                  <a:pt x="0" y="0"/>
                </a:lnTo>
                <a:close/>
              </a:path>
            </a:pathLst>
          </a:custGeom>
          <a:blipFill>
            <a:blip r:embed="rId4"/>
            <a:stretch>
              <a:fillRect l="0" t="0" r="0" b="0"/>
            </a:stretch>
          </a:blipFill>
        </p:spPr>
      </p:sp>
      <p:sp>
        <p:nvSpPr>
          <p:cNvPr name="TextBox 4" id="4"/>
          <p:cNvSpPr txBox="true"/>
          <p:nvPr/>
        </p:nvSpPr>
        <p:spPr>
          <a:xfrm rot="0">
            <a:off x="1028700" y="801000"/>
            <a:ext cx="4544414" cy="85477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FLOW CHART</a:t>
            </a:r>
          </a:p>
        </p:txBody>
      </p:sp>
      <p:sp>
        <p:nvSpPr>
          <p:cNvPr name="TextBox 5" id="5"/>
          <p:cNvSpPr txBox="true"/>
          <p:nvPr/>
        </p:nvSpPr>
        <p:spPr>
          <a:xfrm rot="0">
            <a:off x="1028700" y="2324114"/>
            <a:ext cx="7433315" cy="5572125"/>
          </a:xfrm>
          <a:prstGeom prst="rect">
            <a:avLst/>
          </a:prstGeom>
        </p:spPr>
        <p:txBody>
          <a:bodyPr anchor="t" rtlCol="false" tIns="0" lIns="0" bIns="0" rIns="0">
            <a:spAutoFit/>
          </a:bodyPr>
          <a:lstStyle/>
          <a:p>
            <a:pPr algn="just">
              <a:lnSpc>
                <a:spcPts val="2946"/>
              </a:lnSpc>
            </a:pPr>
            <a:r>
              <a:rPr lang="en-US" sz="2455">
                <a:solidFill>
                  <a:srgbClr val="253439"/>
                </a:solidFill>
                <a:latin typeface="Glacial Indifference"/>
                <a:ea typeface="Glacial Indifference"/>
                <a:cs typeface="Glacial Indifference"/>
                <a:sym typeface="Glacial Indifference"/>
              </a:rPr>
              <a:t>1) The process starts with two inputs.</a:t>
            </a:r>
          </a:p>
          <a:p>
            <a:pPr algn="just">
              <a:lnSpc>
                <a:spcPts val="2946"/>
              </a:lnSpc>
            </a:pPr>
            <a:r>
              <a:rPr lang="en-US" sz="2455">
                <a:solidFill>
                  <a:srgbClr val="253439"/>
                </a:solidFill>
                <a:latin typeface="Glacial Indifference"/>
                <a:ea typeface="Glacial Indifference"/>
                <a:cs typeface="Glacial Indifference"/>
                <a:sym typeface="Glacial Indifference"/>
              </a:rPr>
              <a:t>Body measurements: </a:t>
            </a:r>
          </a:p>
          <a:p>
            <a:pPr algn="just">
              <a:lnSpc>
                <a:spcPts val="2946"/>
              </a:lnSpc>
            </a:pPr>
            <a:r>
              <a:rPr lang="en-US" sz="2455">
                <a:solidFill>
                  <a:srgbClr val="253439"/>
                </a:solidFill>
                <a:latin typeface="Glacial Indifference"/>
                <a:ea typeface="Glacial Indifference"/>
                <a:cs typeface="Glacial Indifference"/>
                <a:sym typeface="Glacial Indifference"/>
              </a:rPr>
              <a:t>Body image capture:</a:t>
            </a:r>
          </a:p>
          <a:p>
            <a:pPr algn="just">
              <a:lnSpc>
                <a:spcPts val="2946"/>
              </a:lnSpc>
            </a:pPr>
          </a:p>
          <a:p>
            <a:pPr algn="just">
              <a:lnSpc>
                <a:spcPts val="2946"/>
              </a:lnSpc>
            </a:pPr>
            <a:r>
              <a:rPr lang="en-US" sz="2455">
                <a:solidFill>
                  <a:srgbClr val="253439"/>
                </a:solidFill>
                <a:latin typeface="Glacial Indifference"/>
                <a:ea typeface="Glacial Indifference"/>
                <a:cs typeface="Glacial Indifference"/>
                <a:sym typeface="Glacial Indifference"/>
              </a:rPr>
              <a:t>2)First Path: Body Measurement Prediction.</a:t>
            </a:r>
          </a:p>
          <a:p>
            <a:pPr algn="just">
              <a:lnSpc>
                <a:spcPts val="2946"/>
              </a:lnSpc>
            </a:pPr>
            <a:r>
              <a:rPr lang="en-US" sz="2455">
                <a:solidFill>
                  <a:srgbClr val="253439"/>
                </a:solidFill>
                <a:latin typeface="Glacial Indifference"/>
                <a:ea typeface="Glacial Indifference"/>
                <a:cs typeface="Glacial Indifference"/>
                <a:sym typeface="Glacial Indifference"/>
              </a:rPr>
              <a:t>A comparison is shown between the current and predicted body measurements using a bar chart.</a:t>
            </a:r>
          </a:p>
          <a:p>
            <a:pPr algn="just">
              <a:lnSpc>
                <a:spcPts val="2946"/>
              </a:lnSpc>
            </a:pPr>
          </a:p>
          <a:p>
            <a:pPr algn="just">
              <a:lnSpc>
                <a:spcPts val="2946"/>
              </a:lnSpc>
            </a:pPr>
            <a:r>
              <a:rPr lang="en-US" sz="2455">
                <a:solidFill>
                  <a:srgbClr val="253439"/>
                </a:solidFill>
                <a:latin typeface="Glacial Indifference"/>
                <a:ea typeface="Glacial Indifference"/>
                <a:cs typeface="Glacial Indifference"/>
                <a:sym typeface="Glacial Indifference"/>
              </a:rPr>
              <a:t>3)Second Path: Body Shape Analysis.</a:t>
            </a:r>
          </a:p>
          <a:p>
            <a:pPr algn="just">
              <a:lnSpc>
                <a:spcPts val="2946"/>
              </a:lnSpc>
            </a:pPr>
            <a:r>
              <a:rPr lang="en-US" sz="2455">
                <a:solidFill>
                  <a:srgbClr val="253439"/>
                </a:solidFill>
                <a:latin typeface="Glacial Indifference"/>
                <a:ea typeface="Glacial Indifference"/>
                <a:cs typeface="Glacial Indifference"/>
                <a:sym typeface="Glacial Indifference"/>
              </a:rPr>
              <a:t>The captured body image is processed using an AI-based model.</a:t>
            </a:r>
          </a:p>
          <a:p>
            <a:pPr algn="just">
              <a:lnSpc>
                <a:spcPts val="2946"/>
              </a:lnSpc>
            </a:pPr>
          </a:p>
          <a:p>
            <a:pPr algn="just">
              <a:lnSpc>
                <a:spcPts val="2946"/>
              </a:lnSpc>
            </a:pPr>
            <a:r>
              <a:rPr lang="en-US" sz="2455">
                <a:solidFill>
                  <a:srgbClr val="253439"/>
                </a:solidFill>
                <a:latin typeface="Glacial Indifference"/>
                <a:ea typeface="Glacial Indifference"/>
                <a:cs typeface="Glacial Indifference"/>
                <a:sym typeface="Glacial Indifference"/>
              </a:rPr>
              <a:t>4)Final Step: Motivation and Insights.</a:t>
            </a:r>
          </a:p>
          <a:p>
            <a:pPr algn="just">
              <a:lnSpc>
                <a:spcPts val="2946"/>
              </a:lnSpc>
              <a:spcBef>
                <a:spcPct val="0"/>
              </a:spcBef>
            </a:pPr>
            <a:r>
              <a:rPr lang="en-US" sz="2455">
                <a:solidFill>
                  <a:srgbClr val="253439"/>
                </a:solidFill>
                <a:latin typeface="Glacial Indifference"/>
                <a:ea typeface="Glacial Indifference"/>
                <a:cs typeface="Glacial Indifference"/>
                <a:sym typeface="Glacial Indifference"/>
              </a:rPr>
              <a:t>The system displays motivation based on the body shape category.</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2386309">
            <a:off x="11439034" y="-1804053"/>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658874"/>
            <a:ext cx="11827206" cy="6109612"/>
          </a:xfrm>
          <a:custGeom>
            <a:avLst/>
            <a:gdLst/>
            <a:ahLst/>
            <a:cxnLst/>
            <a:rect r="r" b="b" t="t" l="l"/>
            <a:pathLst>
              <a:path h="6109612" w="11827206">
                <a:moveTo>
                  <a:pt x="0" y="0"/>
                </a:moveTo>
                <a:lnTo>
                  <a:pt x="11827206" y="0"/>
                </a:lnTo>
                <a:lnTo>
                  <a:pt x="11827206" y="6109611"/>
                </a:lnTo>
                <a:lnTo>
                  <a:pt x="0" y="6109611"/>
                </a:lnTo>
                <a:lnTo>
                  <a:pt x="0" y="0"/>
                </a:lnTo>
                <a:close/>
              </a:path>
            </a:pathLst>
          </a:custGeom>
          <a:blipFill>
            <a:blip r:embed="rId4"/>
            <a:stretch>
              <a:fillRect l="0" t="0" r="-2291" b="0"/>
            </a:stretch>
          </a:blipFill>
        </p:spPr>
      </p:sp>
      <p:sp>
        <p:nvSpPr>
          <p:cNvPr name="TextBox 4" id="4"/>
          <p:cNvSpPr txBox="true"/>
          <p:nvPr/>
        </p:nvSpPr>
        <p:spPr>
          <a:xfrm rot="0">
            <a:off x="1285875" y="1028700"/>
            <a:ext cx="14374218" cy="1362075"/>
          </a:xfrm>
          <a:prstGeom prst="rect">
            <a:avLst/>
          </a:prstGeom>
        </p:spPr>
        <p:txBody>
          <a:bodyPr anchor="t" rtlCol="false" tIns="0" lIns="0" bIns="0" rIns="0">
            <a:spAutoFit/>
          </a:bodyPr>
          <a:lstStyle/>
          <a:p>
            <a:pPr algn="l">
              <a:lnSpc>
                <a:spcPts val="4799"/>
              </a:lnSpc>
            </a:pPr>
            <a:r>
              <a:rPr lang="en-US" sz="3999" b="true">
                <a:solidFill>
                  <a:srgbClr val="000000"/>
                </a:solidFill>
                <a:latin typeface="Aileron Bold"/>
                <a:ea typeface="Aileron Bold"/>
                <a:cs typeface="Aileron Bold"/>
                <a:sym typeface="Aileron Bold"/>
              </a:rPr>
              <a:t>Body Fat Calculator</a:t>
            </a:r>
          </a:p>
          <a:p>
            <a:pPr algn="ctr">
              <a:lnSpc>
                <a:spcPts val="3017"/>
              </a:lnSpc>
            </a:pPr>
            <a:r>
              <a:rPr lang="en-US" sz="2514">
                <a:solidFill>
                  <a:srgbClr val="000000"/>
                </a:solidFill>
                <a:latin typeface="Aileron"/>
                <a:ea typeface="Aileron"/>
                <a:cs typeface="Aileron"/>
                <a:sym typeface="Aileron"/>
              </a:rPr>
              <a:t>The Body Fat Calculator can be used to estimate your total body fat based on specific measurements.</a:t>
            </a:r>
          </a:p>
          <a:p>
            <a:pPr algn="ctr">
              <a:lnSpc>
                <a:spcPts val="3017"/>
              </a:lnSpc>
              <a:spcBef>
                <a:spcPct val="0"/>
              </a:spcBef>
            </a:pPr>
          </a:p>
        </p:txBody>
      </p:sp>
      <p:sp>
        <p:nvSpPr>
          <p:cNvPr name="AutoShape 5" id="5"/>
          <p:cNvSpPr/>
          <p:nvPr/>
        </p:nvSpPr>
        <p:spPr>
          <a:xfrm>
            <a:off x="1095375" y="1028700"/>
            <a:ext cx="0" cy="1247775"/>
          </a:xfrm>
          <a:prstGeom prst="line">
            <a:avLst/>
          </a:prstGeom>
          <a:ln cap="flat" w="133350">
            <a:solidFill>
              <a:srgbClr val="D15353"/>
            </a:solidFill>
            <a:prstDash val="solid"/>
            <a:headEnd type="none" len="sm" w="sm"/>
            <a:tailEnd type="none" len="sm" w="sm"/>
          </a:ln>
        </p:spPr>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4387191">
            <a:off x="11002239" y="1918102"/>
            <a:ext cx="15802157" cy="9423832"/>
          </a:xfrm>
          <a:custGeom>
            <a:avLst/>
            <a:gdLst/>
            <a:ahLst/>
            <a:cxnLst/>
            <a:rect r="r" b="b" t="t" l="l"/>
            <a:pathLst>
              <a:path h="9423832" w="15802157">
                <a:moveTo>
                  <a:pt x="0" y="0"/>
                </a:moveTo>
                <a:lnTo>
                  <a:pt x="15802158" y="0"/>
                </a:lnTo>
                <a:lnTo>
                  <a:pt x="15802158"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658874"/>
            <a:ext cx="14168632" cy="6234198"/>
          </a:xfrm>
          <a:custGeom>
            <a:avLst/>
            <a:gdLst/>
            <a:ahLst/>
            <a:cxnLst/>
            <a:rect r="r" b="b" t="t" l="l"/>
            <a:pathLst>
              <a:path h="6234198" w="14168632">
                <a:moveTo>
                  <a:pt x="0" y="0"/>
                </a:moveTo>
                <a:lnTo>
                  <a:pt x="14168632" y="0"/>
                </a:lnTo>
                <a:lnTo>
                  <a:pt x="14168632" y="6234198"/>
                </a:lnTo>
                <a:lnTo>
                  <a:pt x="0" y="6234198"/>
                </a:lnTo>
                <a:lnTo>
                  <a:pt x="0" y="0"/>
                </a:lnTo>
                <a:close/>
              </a:path>
            </a:pathLst>
          </a:custGeom>
          <a:blipFill>
            <a:blip r:embed="rId4"/>
            <a:stretch>
              <a:fillRect l="0" t="0" r="0" b="0"/>
            </a:stretch>
          </a:blipFill>
        </p:spPr>
      </p:sp>
      <p:sp>
        <p:nvSpPr>
          <p:cNvPr name="TextBox 4" id="4"/>
          <p:cNvSpPr txBox="true"/>
          <p:nvPr/>
        </p:nvSpPr>
        <p:spPr>
          <a:xfrm rot="0">
            <a:off x="1396298" y="1295400"/>
            <a:ext cx="6702822" cy="981075"/>
          </a:xfrm>
          <a:prstGeom prst="rect">
            <a:avLst/>
          </a:prstGeom>
        </p:spPr>
        <p:txBody>
          <a:bodyPr anchor="t" rtlCol="false" tIns="0" lIns="0" bIns="0" rIns="0">
            <a:spAutoFit/>
          </a:bodyPr>
          <a:lstStyle/>
          <a:p>
            <a:pPr algn="l">
              <a:lnSpc>
                <a:spcPts val="4799"/>
              </a:lnSpc>
            </a:pPr>
            <a:r>
              <a:rPr lang="en-US" sz="3999" b="true">
                <a:solidFill>
                  <a:srgbClr val="000000"/>
                </a:solidFill>
                <a:latin typeface="Aileron Bold"/>
                <a:ea typeface="Aileron Bold"/>
                <a:cs typeface="Aileron Bold"/>
                <a:sym typeface="Aileron Bold"/>
              </a:rPr>
              <a:t>Body Fat Calculator formula</a:t>
            </a:r>
          </a:p>
          <a:p>
            <a:pPr algn="ctr">
              <a:lnSpc>
                <a:spcPts val="3017"/>
              </a:lnSpc>
              <a:spcBef>
                <a:spcPct val="0"/>
              </a:spcBef>
            </a:pPr>
          </a:p>
        </p:txBody>
      </p:sp>
      <p:sp>
        <p:nvSpPr>
          <p:cNvPr name="AutoShape 5" id="5"/>
          <p:cNvSpPr/>
          <p:nvPr/>
        </p:nvSpPr>
        <p:spPr>
          <a:xfrm>
            <a:off x="1095375" y="1028700"/>
            <a:ext cx="0" cy="1247775"/>
          </a:xfrm>
          <a:prstGeom prst="line">
            <a:avLst/>
          </a:prstGeom>
          <a:ln cap="flat" w="133350">
            <a:solidFill>
              <a:srgbClr val="D15353"/>
            </a:solidFill>
            <a:prstDash val="solid"/>
            <a:headEnd type="none" len="sm" w="sm"/>
            <a:tailEnd type="none" len="sm" w="sm"/>
          </a:ln>
        </p:spPr>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2700000">
            <a:off x="13835886" y="-795901"/>
            <a:ext cx="10303700" cy="6144752"/>
          </a:xfrm>
          <a:custGeom>
            <a:avLst/>
            <a:gdLst/>
            <a:ahLst/>
            <a:cxnLst/>
            <a:rect r="r" b="b" t="t" l="l"/>
            <a:pathLst>
              <a:path h="6144752" w="10303700">
                <a:moveTo>
                  <a:pt x="0" y="0"/>
                </a:moveTo>
                <a:lnTo>
                  <a:pt x="10303700" y="0"/>
                </a:lnTo>
                <a:lnTo>
                  <a:pt x="10303700" y="6144752"/>
                </a:lnTo>
                <a:lnTo>
                  <a:pt x="0" y="61447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95375" y="776274"/>
            <a:ext cx="0" cy="1247775"/>
          </a:xfrm>
          <a:prstGeom prst="line">
            <a:avLst/>
          </a:prstGeom>
          <a:ln cap="flat" w="133350">
            <a:solidFill>
              <a:srgbClr val="D15353"/>
            </a:solidFill>
            <a:prstDash val="solid"/>
            <a:headEnd type="none" len="sm" w="sm"/>
            <a:tailEnd type="none" len="sm" w="sm"/>
          </a:ln>
        </p:spPr>
      </p:sp>
      <p:sp>
        <p:nvSpPr>
          <p:cNvPr name="Freeform 4" id="4"/>
          <p:cNvSpPr/>
          <p:nvPr/>
        </p:nvSpPr>
        <p:spPr>
          <a:xfrm flipH="false" flipV="false" rot="0">
            <a:off x="6622973" y="2812518"/>
            <a:ext cx="10029850" cy="7090097"/>
          </a:xfrm>
          <a:custGeom>
            <a:avLst/>
            <a:gdLst/>
            <a:ahLst/>
            <a:cxnLst/>
            <a:rect r="r" b="b" t="t" l="l"/>
            <a:pathLst>
              <a:path h="7090097" w="10029850">
                <a:moveTo>
                  <a:pt x="0" y="0"/>
                </a:moveTo>
                <a:lnTo>
                  <a:pt x="10029849" y="0"/>
                </a:lnTo>
                <a:lnTo>
                  <a:pt x="10029849" y="7090097"/>
                </a:lnTo>
                <a:lnTo>
                  <a:pt x="0" y="7090097"/>
                </a:lnTo>
                <a:lnTo>
                  <a:pt x="0" y="0"/>
                </a:lnTo>
                <a:close/>
              </a:path>
            </a:pathLst>
          </a:custGeom>
          <a:blipFill>
            <a:blip r:embed="rId4"/>
            <a:stretch>
              <a:fillRect l="0" t="0" r="-4183" b="-2630"/>
            </a:stretch>
          </a:blipFill>
        </p:spPr>
      </p:sp>
      <p:sp>
        <p:nvSpPr>
          <p:cNvPr name="TextBox 5" id="5"/>
          <p:cNvSpPr txBox="true"/>
          <p:nvPr/>
        </p:nvSpPr>
        <p:spPr>
          <a:xfrm rot="0">
            <a:off x="1387941" y="1028700"/>
            <a:ext cx="7756059" cy="742950"/>
          </a:xfrm>
          <a:prstGeom prst="rect">
            <a:avLst/>
          </a:prstGeom>
        </p:spPr>
        <p:txBody>
          <a:bodyPr anchor="t" rtlCol="false" tIns="0" lIns="0" bIns="0" rIns="0">
            <a:spAutoFit/>
          </a:bodyPr>
          <a:lstStyle/>
          <a:p>
            <a:pPr algn="ctr">
              <a:lnSpc>
                <a:spcPts val="5897"/>
              </a:lnSpc>
              <a:spcBef>
                <a:spcPct val="0"/>
              </a:spcBef>
            </a:pPr>
            <a:r>
              <a:rPr lang="en-US" b="true" sz="4914">
                <a:solidFill>
                  <a:srgbClr val="000000"/>
                </a:solidFill>
                <a:latin typeface="Aileron Bold"/>
                <a:ea typeface="Aileron Bold"/>
                <a:cs typeface="Aileron Bold"/>
                <a:sym typeface="Aileron Bold"/>
              </a:rPr>
              <a:t>Muscle mass percentage</a:t>
            </a:r>
          </a:p>
        </p:txBody>
      </p:sp>
      <p:sp>
        <p:nvSpPr>
          <p:cNvPr name="TextBox 6" id="6"/>
          <p:cNvSpPr txBox="true"/>
          <p:nvPr/>
        </p:nvSpPr>
        <p:spPr>
          <a:xfrm rot="0">
            <a:off x="1028700" y="2812518"/>
            <a:ext cx="4741869" cy="4000500"/>
          </a:xfrm>
          <a:prstGeom prst="rect">
            <a:avLst/>
          </a:prstGeom>
        </p:spPr>
        <p:txBody>
          <a:bodyPr anchor="t" rtlCol="false" tIns="0" lIns="0" bIns="0" rIns="0">
            <a:spAutoFit/>
          </a:bodyPr>
          <a:lstStyle/>
          <a:p>
            <a:pPr algn="just" marL="566984" indent="-283492" lvl="1">
              <a:lnSpc>
                <a:spcPts val="3151"/>
              </a:lnSpc>
              <a:buFont typeface="Arial"/>
              <a:buChar char="•"/>
            </a:pPr>
            <a:r>
              <a:rPr lang="en-US" sz="2626">
                <a:solidFill>
                  <a:srgbClr val="000000"/>
                </a:solidFill>
                <a:latin typeface="Aileron"/>
                <a:ea typeface="Aileron"/>
                <a:cs typeface="Aileron"/>
                <a:sym typeface="Aileron"/>
              </a:rPr>
              <a:t>Muscle mass is difficult to measure. It also depends on many factors, including height, ethnicity, and fitness level.</a:t>
            </a:r>
          </a:p>
          <a:p>
            <a:pPr algn="just" marL="566984" indent="-283492" lvl="1">
              <a:lnSpc>
                <a:spcPts val="3151"/>
              </a:lnSpc>
              <a:buFont typeface="Arial"/>
              <a:buChar char="•"/>
            </a:pPr>
            <a:r>
              <a:rPr lang="en-US" sz="2626">
                <a:solidFill>
                  <a:srgbClr val="000000"/>
                </a:solidFill>
                <a:latin typeface="Aileron"/>
                <a:ea typeface="Aileron"/>
                <a:cs typeface="Aileron"/>
                <a:sym typeface="Aileron"/>
              </a:rPr>
              <a:t>It’s not possible to determine your exact muscle mass percentage without expensive technology.</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a:off x="2109242" y="2868001"/>
            <a:ext cx="0" cy="1247775"/>
          </a:xfrm>
          <a:prstGeom prst="line">
            <a:avLst/>
          </a:prstGeom>
          <a:ln cap="flat" w="133350">
            <a:gradFill>
              <a:gsLst>
                <a:gs pos="0">
                  <a:srgbClr val="FDF7EF">
                    <a:alpha val="100000"/>
                  </a:srgbClr>
                </a:gs>
                <a:gs pos="100000">
                  <a:srgbClr val="FFFFFF">
                    <a:alpha val="100000"/>
                  </a:srgbClr>
                </a:gs>
              </a:gsLst>
              <a:lin ang="0"/>
            </a:gradFill>
            <a:prstDash val="solid"/>
            <a:headEnd type="none" len="sm" w="sm"/>
            <a:tailEnd type="none" len="sm" w="sm"/>
          </a:ln>
        </p:spPr>
      </p:sp>
      <p:graphicFrame>
        <p:nvGraphicFramePr>
          <p:cNvPr name="Table 3" id="3"/>
          <p:cNvGraphicFramePr>
            <a:graphicFrameLocks noGrp="true"/>
          </p:cNvGraphicFramePr>
          <p:nvPr/>
        </p:nvGraphicFramePr>
        <p:xfrm>
          <a:off x="1514274" y="1828992"/>
          <a:ext cx="11991179" cy="6610381"/>
        </p:xfrm>
        <a:graphic>
          <a:graphicData uri="http://schemas.openxmlformats.org/drawingml/2006/table">
            <a:tbl>
              <a:tblPr/>
              <a:tblGrid>
                <a:gridCol w="4603064"/>
                <a:gridCol w="7388115"/>
              </a:tblGrid>
              <a:tr h="1071432">
                <a:tc>
                  <a:txBody>
                    <a:bodyPr anchor="t" rtlCol="false"/>
                    <a:lstStyle/>
                    <a:p>
                      <a:pPr algn="ctr">
                        <a:lnSpc>
                          <a:spcPts val="5039"/>
                        </a:lnSpc>
                        <a:defRPr/>
                      </a:pPr>
                      <a:r>
                        <a:rPr lang="en-US" sz="3599" b="true">
                          <a:solidFill>
                            <a:srgbClr val="000000"/>
                          </a:solidFill>
                          <a:latin typeface="Aileron Bold"/>
                          <a:ea typeface="Aileron Bold"/>
                          <a:cs typeface="Aileron Bold"/>
                          <a:sym typeface="Aileron Bold"/>
                        </a:rPr>
                        <a:t>Layer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27ACA0"/>
                    </a:solidFill>
                  </a:tcPr>
                </a:tc>
                <a:tc>
                  <a:txBody>
                    <a:bodyPr anchor="t" rtlCol="false"/>
                    <a:lstStyle/>
                    <a:p>
                      <a:pPr algn="ctr">
                        <a:lnSpc>
                          <a:spcPts val="5179"/>
                        </a:lnSpc>
                        <a:defRPr/>
                      </a:pPr>
                      <a:r>
                        <a:rPr lang="en-US" sz="3699" b="true">
                          <a:solidFill>
                            <a:srgbClr val="000000"/>
                          </a:solidFill>
                          <a:latin typeface="Aileron Bold"/>
                          <a:ea typeface="Aileron Bold"/>
                          <a:cs typeface="Aileron Bold"/>
                          <a:sym typeface="Aileron Bold"/>
                        </a:rPr>
                        <a:t>Technologies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27ACA0"/>
                    </a:solidFill>
                  </a:tcPr>
                </a:tc>
              </a:tr>
              <a:tr h="889671">
                <a:tc>
                  <a:txBody>
                    <a:bodyPr anchor="t" rtlCol="false"/>
                    <a:lstStyle/>
                    <a:p>
                      <a:pPr algn="l">
                        <a:lnSpc>
                          <a:spcPts val="3779"/>
                        </a:lnSpc>
                        <a:defRPr/>
                      </a:pPr>
                      <a:r>
                        <a:rPr lang="en-US" sz="2699">
                          <a:solidFill>
                            <a:srgbClr val="000000"/>
                          </a:solidFill>
                          <a:latin typeface="Aileron"/>
                          <a:ea typeface="Aileron"/>
                          <a:cs typeface="Aileron"/>
                          <a:sym typeface="Aileron"/>
                        </a:rPr>
                        <a:t>Front-End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639"/>
                        </a:lnSpc>
                        <a:defRPr/>
                      </a:pPr>
                      <a:r>
                        <a:rPr lang="en-US" sz="2599">
                          <a:solidFill>
                            <a:srgbClr val="000000"/>
                          </a:solidFill>
                          <a:latin typeface="Aileron"/>
                          <a:ea typeface="Aileron"/>
                          <a:cs typeface="Aileron"/>
                          <a:sym typeface="Aileron"/>
                        </a:rPr>
                        <a:t>Java </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70538">
                <a:tc>
                  <a:txBody>
                    <a:bodyPr anchor="t" rtlCol="false"/>
                    <a:lstStyle/>
                    <a:p>
                      <a:pPr algn="l">
                        <a:lnSpc>
                          <a:spcPts val="3639"/>
                        </a:lnSpc>
                        <a:defRPr/>
                      </a:pPr>
                      <a:r>
                        <a:rPr lang="en-US" sz="2599">
                          <a:solidFill>
                            <a:srgbClr val="000000"/>
                          </a:solidFill>
                          <a:latin typeface="Aileron"/>
                          <a:ea typeface="Aileron"/>
                          <a:cs typeface="Aileron"/>
                          <a:sym typeface="Aileron"/>
                        </a:rPr>
                        <a:t>Back-End</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639"/>
                        </a:lnSpc>
                        <a:defRPr/>
                      </a:pPr>
                      <a:r>
                        <a:rPr lang="en-US" sz="2599">
                          <a:solidFill>
                            <a:srgbClr val="000000"/>
                          </a:solidFill>
                          <a:latin typeface="Aileron"/>
                          <a:ea typeface="Aileron"/>
                          <a:cs typeface="Aileron"/>
                          <a:sym typeface="Aileron"/>
                        </a:rPr>
                        <a:t>Python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70538">
                <a:tc>
                  <a:txBody>
                    <a:bodyPr anchor="t" rtlCol="false"/>
                    <a:lstStyle/>
                    <a:p>
                      <a:pPr algn="l">
                        <a:lnSpc>
                          <a:spcPts val="3639"/>
                        </a:lnSpc>
                        <a:defRPr/>
                      </a:pPr>
                      <a:r>
                        <a:rPr lang="en-US" sz="2599">
                          <a:solidFill>
                            <a:srgbClr val="000000"/>
                          </a:solidFill>
                          <a:latin typeface="Aileron"/>
                          <a:ea typeface="Aileron"/>
                          <a:cs typeface="Aileron"/>
                          <a:sym typeface="Aileron"/>
                        </a:rPr>
                        <a:t>Database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639"/>
                        </a:lnSpc>
                        <a:defRPr/>
                      </a:pPr>
                      <a:r>
                        <a:rPr lang="en-US" sz="2599">
                          <a:solidFill>
                            <a:srgbClr val="000000"/>
                          </a:solidFill>
                          <a:latin typeface="Aileron"/>
                          <a:ea typeface="Aileron"/>
                          <a:cs typeface="Aileron"/>
                          <a:sym typeface="Aileron"/>
                        </a:rPr>
                        <a:t> Firebase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70538">
                <a:tc>
                  <a:txBody>
                    <a:bodyPr anchor="t" rtlCol="false"/>
                    <a:lstStyle/>
                    <a:p>
                      <a:pPr algn="l">
                        <a:lnSpc>
                          <a:spcPts val="3639"/>
                        </a:lnSpc>
                        <a:defRPr/>
                      </a:pPr>
                      <a:r>
                        <a:rPr lang="en-US" sz="2599">
                          <a:solidFill>
                            <a:srgbClr val="000000"/>
                          </a:solidFill>
                          <a:latin typeface="Aileron"/>
                          <a:ea typeface="Aileron"/>
                          <a:cs typeface="Aileron"/>
                          <a:sym typeface="Aileron"/>
                        </a:rPr>
                        <a:t>ML</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639"/>
                        </a:lnSpc>
                        <a:defRPr/>
                      </a:pPr>
                      <a:r>
                        <a:rPr lang="en-US" sz="2599">
                          <a:solidFill>
                            <a:srgbClr val="000000"/>
                          </a:solidFill>
                          <a:latin typeface="Aileron"/>
                          <a:ea typeface="Aileron"/>
                          <a:cs typeface="Aileron"/>
                          <a:sym typeface="Aileron"/>
                        </a:rPr>
                        <a:t>RandomForestRegressor,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167126">
                <a:tc>
                  <a:txBody>
                    <a:bodyPr anchor="t" rtlCol="false"/>
                    <a:lstStyle/>
                    <a:p>
                      <a:pPr algn="l">
                        <a:lnSpc>
                          <a:spcPts val="3639"/>
                        </a:lnSpc>
                        <a:defRPr/>
                      </a:pPr>
                      <a:r>
                        <a:rPr lang="en-US" sz="2599">
                          <a:solidFill>
                            <a:srgbClr val="000000"/>
                          </a:solidFill>
                          <a:latin typeface="Aileron"/>
                          <a:ea typeface="Aileron"/>
                          <a:cs typeface="Aileron"/>
                          <a:sym typeface="Aileron"/>
                        </a:rPr>
                        <a:t>Database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639"/>
                        </a:lnSpc>
                        <a:defRPr/>
                      </a:pPr>
                      <a:r>
                        <a:rPr lang="en-US" sz="2599">
                          <a:solidFill>
                            <a:srgbClr val="000000"/>
                          </a:solidFill>
                          <a:latin typeface="Aileron"/>
                          <a:ea typeface="Aileron"/>
                          <a:cs typeface="Aileron"/>
                          <a:sym typeface="Aileron"/>
                        </a:rPr>
                        <a:t>Firebase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70538">
                <a:tc>
                  <a:txBody>
                    <a:bodyPr anchor="t" rtlCol="false"/>
                    <a:lstStyle/>
                    <a:p>
                      <a:pPr algn="l">
                        <a:lnSpc>
                          <a:spcPts val="3639"/>
                        </a:lnSpc>
                        <a:defRPr/>
                      </a:pPr>
                      <a:r>
                        <a:rPr lang="en-US" sz="2599">
                          <a:solidFill>
                            <a:srgbClr val="000000"/>
                          </a:solidFill>
                          <a:latin typeface="Aileron"/>
                          <a:ea typeface="Aileron"/>
                          <a:cs typeface="Aileron"/>
                          <a:sym typeface="Aileron"/>
                        </a:rPr>
                        <a:t>Cloud services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639"/>
                        </a:lnSpc>
                        <a:defRPr/>
                      </a:pPr>
                      <a:r>
                        <a:rPr lang="en-US" sz="2599">
                          <a:solidFill>
                            <a:srgbClr val="000000"/>
                          </a:solidFill>
                          <a:latin typeface="Aileron"/>
                          <a:ea typeface="Aileron"/>
                          <a:cs typeface="Aileron"/>
                          <a:sym typeface="Aileron"/>
                        </a:rPr>
                        <a:t>VPS  Hosting | Virtual Private Server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14516801" y="1828992"/>
            <a:ext cx="3087045" cy="3087045"/>
          </a:xfrm>
          <a:custGeom>
            <a:avLst/>
            <a:gdLst/>
            <a:ahLst/>
            <a:cxnLst/>
            <a:rect r="r" b="b" t="t" l="l"/>
            <a:pathLst>
              <a:path h="3087045" w="3087045">
                <a:moveTo>
                  <a:pt x="0" y="0"/>
                </a:moveTo>
                <a:lnTo>
                  <a:pt x="3087045" y="0"/>
                </a:lnTo>
                <a:lnTo>
                  <a:pt x="3087045" y="3087045"/>
                </a:lnTo>
                <a:lnTo>
                  <a:pt x="0" y="3087045"/>
                </a:lnTo>
                <a:lnTo>
                  <a:pt x="0" y="0"/>
                </a:lnTo>
                <a:close/>
              </a:path>
            </a:pathLst>
          </a:custGeom>
          <a:blipFill>
            <a:blip r:embed="rId2"/>
            <a:stretch>
              <a:fillRect l="0" t="0" r="0" b="0"/>
            </a:stretch>
          </a:blipFill>
        </p:spPr>
      </p:sp>
      <p:sp>
        <p:nvSpPr>
          <p:cNvPr name="TextBox 5" id="5"/>
          <p:cNvSpPr txBox="true"/>
          <p:nvPr/>
        </p:nvSpPr>
        <p:spPr>
          <a:xfrm rot="0">
            <a:off x="1514274" y="596540"/>
            <a:ext cx="6842193"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TECHNOLOGIES</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4828517">
            <a:off x="7185812" y="-1798722"/>
            <a:ext cx="23281843" cy="13884444"/>
          </a:xfrm>
          <a:custGeom>
            <a:avLst/>
            <a:gdLst/>
            <a:ahLst/>
            <a:cxnLst/>
            <a:rect r="r" b="b" t="t" l="l"/>
            <a:pathLst>
              <a:path h="13884444" w="23281843">
                <a:moveTo>
                  <a:pt x="0" y="0"/>
                </a:moveTo>
                <a:lnTo>
                  <a:pt x="23281843" y="0"/>
                </a:lnTo>
                <a:lnTo>
                  <a:pt x="23281843" y="13884444"/>
                </a:lnTo>
                <a:lnTo>
                  <a:pt x="0" y="138844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03149" y="1181994"/>
            <a:ext cx="4236133" cy="2953561"/>
          </a:xfrm>
          <a:custGeom>
            <a:avLst/>
            <a:gdLst/>
            <a:ahLst/>
            <a:cxnLst/>
            <a:rect r="r" b="b" t="t" l="l"/>
            <a:pathLst>
              <a:path h="2953561" w="4236133">
                <a:moveTo>
                  <a:pt x="0" y="0"/>
                </a:moveTo>
                <a:lnTo>
                  <a:pt x="4236133" y="0"/>
                </a:lnTo>
                <a:lnTo>
                  <a:pt x="4236133" y="2953561"/>
                </a:lnTo>
                <a:lnTo>
                  <a:pt x="0" y="29535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222487" y="327198"/>
            <a:ext cx="5336364" cy="854796"/>
          </a:xfrm>
          <a:prstGeom prst="rect">
            <a:avLst/>
          </a:prstGeom>
        </p:spPr>
        <p:txBody>
          <a:bodyPr anchor="t" rtlCol="false" tIns="0" lIns="0" bIns="0" rIns="0">
            <a:spAutoFit/>
          </a:bodyPr>
          <a:lstStyle/>
          <a:p>
            <a:pPr algn="l" marL="0" indent="0" lvl="0">
              <a:lnSpc>
                <a:spcPts val="6666"/>
              </a:lnSpc>
              <a:spcBef>
                <a:spcPct val="0"/>
              </a:spcBef>
            </a:pPr>
            <a:r>
              <a:rPr lang="en-US" b="true" sz="5555">
                <a:solidFill>
                  <a:srgbClr val="253439"/>
                </a:solidFill>
                <a:latin typeface="Glacial Indifference Bold"/>
                <a:ea typeface="Glacial Indifference Bold"/>
                <a:cs typeface="Glacial Indifference Bold"/>
                <a:sym typeface="Glacial Indifference Bold"/>
              </a:rPr>
              <a:t>MARKETABILITY</a:t>
            </a:r>
          </a:p>
        </p:txBody>
      </p:sp>
      <p:sp>
        <p:nvSpPr>
          <p:cNvPr name="TextBox 5" id="5"/>
          <p:cNvSpPr txBox="true"/>
          <p:nvPr/>
        </p:nvSpPr>
        <p:spPr>
          <a:xfrm rot="0">
            <a:off x="3890669" y="8472953"/>
            <a:ext cx="8855039" cy="1228895"/>
          </a:xfrm>
          <a:prstGeom prst="rect">
            <a:avLst/>
          </a:prstGeom>
        </p:spPr>
        <p:txBody>
          <a:bodyPr anchor="t" rtlCol="false" tIns="0" lIns="0" bIns="0" rIns="0">
            <a:spAutoFit/>
          </a:bodyPr>
          <a:lstStyle/>
          <a:p>
            <a:pPr algn="ctr">
              <a:lnSpc>
                <a:spcPts val="3264"/>
              </a:lnSpc>
              <a:spcBef>
                <a:spcPct val="0"/>
              </a:spcBef>
            </a:pPr>
            <a:r>
              <a:rPr lang="en-US" b="true" sz="2720" i="true">
                <a:solidFill>
                  <a:srgbClr val="253439"/>
                </a:solidFill>
                <a:latin typeface="Aileron Bold Italics"/>
                <a:ea typeface="Aileron Bold Italics"/>
                <a:cs typeface="Aileron Bold Italics"/>
                <a:sym typeface="Aileron Bold Italics"/>
              </a:rPr>
              <a:t>“</a:t>
            </a:r>
            <a:r>
              <a:rPr lang="en-US" b="true" sz="2720" i="true">
                <a:solidFill>
                  <a:srgbClr val="253439"/>
                </a:solidFill>
                <a:latin typeface="Aileron Bold Italics"/>
                <a:ea typeface="Aileron Bold Italics"/>
                <a:cs typeface="Aileron Bold Italics"/>
                <a:sym typeface="Aileron Bold Italics"/>
              </a:rPr>
              <a:t>It's like having a personal trainer with you, </a:t>
            </a:r>
          </a:p>
          <a:p>
            <a:pPr algn="ctr">
              <a:lnSpc>
                <a:spcPts val="3264"/>
              </a:lnSpc>
              <a:spcBef>
                <a:spcPct val="0"/>
              </a:spcBef>
            </a:pPr>
            <a:r>
              <a:rPr lang="en-US" b="true" sz="2720" i="true">
                <a:solidFill>
                  <a:srgbClr val="253439"/>
                </a:solidFill>
                <a:latin typeface="Aileron Bold Italics"/>
                <a:ea typeface="Aileron Bold Italics"/>
                <a:cs typeface="Aileron Bold Italics"/>
                <a:sym typeface="Aileron Bold Italics"/>
              </a:rPr>
              <a:t>guiding you with personalized tips based on how you move.”</a:t>
            </a:r>
          </a:p>
        </p:txBody>
      </p:sp>
      <p:sp>
        <p:nvSpPr>
          <p:cNvPr name="TextBox 6" id="6"/>
          <p:cNvSpPr txBox="true"/>
          <p:nvPr/>
        </p:nvSpPr>
        <p:spPr>
          <a:xfrm rot="0">
            <a:off x="1222487" y="2658774"/>
            <a:ext cx="8564287" cy="3792139"/>
          </a:xfrm>
          <a:prstGeom prst="rect">
            <a:avLst/>
          </a:prstGeom>
        </p:spPr>
        <p:txBody>
          <a:bodyPr anchor="t" rtlCol="false" tIns="0" lIns="0" bIns="0" rIns="0">
            <a:spAutoFit/>
          </a:bodyPr>
          <a:lstStyle/>
          <a:p>
            <a:pPr algn="l">
              <a:lnSpc>
                <a:spcPts val="3768"/>
              </a:lnSpc>
              <a:spcBef>
                <a:spcPct val="0"/>
              </a:spcBef>
            </a:pPr>
            <a:r>
              <a:rPr lang="en-US" sz="3140">
                <a:solidFill>
                  <a:srgbClr val="253439"/>
                </a:solidFill>
                <a:latin typeface="HK Grotesk"/>
                <a:ea typeface="HK Grotesk"/>
                <a:cs typeface="HK Grotesk"/>
                <a:sym typeface="HK Grotesk"/>
              </a:rPr>
              <a:t>Ta</a:t>
            </a:r>
            <a:r>
              <a:rPr lang="en-US" sz="3140">
                <a:solidFill>
                  <a:srgbClr val="253439"/>
                </a:solidFill>
                <a:latin typeface="HK Grotesk"/>
                <a:ea typeface="HK Grotesk"/>
                <a:cs typeface="HK Grotesk"/>
                <a:sym typeface="HK Grotesk"/>
              </a:rPr>
              <a:t>rget Market Segments</a:t>
            </a:r>
          </a:p>
          <a:p>
            <a:pPr algn="l">
              <a:lnSpc>
                <a:spcPts val="3768"/>
              </a:lnSpc>
              <a:spcBef>
                <a:spcPct val="0"/>
              </a:spcBef>
            </a:pPr>
          </a:p>
          <a:p>
            <a:pPr algn="l" marL="677948" indent="-338974" lvl="1">
              <a:lnSpc>
                <a:spcPts val="3768"/>
              </a:lnSpc>
              <a:buAutoNum type="arabicPeriod" startAt="1"/>
            </a:pPr>
            <a:r>
              <a:rPr lang="en-US" sz="3140">
                <a:solidFill>
                  <a:srgbClr val="253439"/>
                </a:solidFill>
                <a:latin typeface="HK Grotesk"/>
                <a:ea typeface="HK Grotesk"/>
                <a:cs typeface="HK Grotesk"/>
                <a:sym typeface="HK Grotesk"/>
              </a:rPr>
              <a:t>Professional Sports Teams</a:t>
            </a:r>
          </a:p>
          <a:p>
            <a:pPr algn="l" marL="677948" indent="-338974" lvl="1">
              <a:lnSpc>
                <a:spcPts val="3768"/>
              </a:lnSpc>
              <a:spcBef>
                <a:spcPct val="0"/>
              </a:spcBef>
              <a:buAutoNum type="arabicPeriod" startAt="1"/>
            </a:pPr>
            <a:r>
              <a:rPr lang="en-US" sz="3140">
                <a:solidFill>
                  <a:srgbClr val="253439"/>
                </a:solidFill>
                <a:latin typeface="HK Grotesk"/>
                <a:ea typeface="HK Grotesk"/>
                <a:cs typeface="HK Grotesk"/>
                <a:sym typeface="HK Grotesk"/>
              </a:rPr>
              <a:t>Fitness Centers and Gyms</a:t>
            </a:r>
          </a:p>
          <a:p>
            <a:pPr algn="l" marL="677948" indent="-338974" lvl="1">
              <a:lnSpc>
                <a:spcPts val="3768"/>
              </a:lnSpc>
              <a:spcBef>
                <a:spcPct val="0"/>
              </a:spcBef>
              <a:buAutoNum type="arabicPeriod" startAt="1"/>
            </a:pPr>
            <a:r>
              <a:rPr lang="en-US" sz="3140">
                <a:solidFill>
                  <a:srgbClr val="253439"/>
                </a:solidFill>
                <a:latin typeface="HK Grotesk"/>
                <a:ea typeface="HK Grotesk"/>
                <a:cs typeface="HK Grotesk"/>
                <a:sym typeface="HK Grotesk"/>
              </a:rPr>
              <a:t>Personal Trainers</a:t>
            </a:r>
          </a:p>
          <a:p>
            <a:pPr algn="l" marL="677948" indent="-338974" lvl="1">
              <a:lnSpc>
                <a:spcPts val="3768"/>
              </a:lnSpc>
              <a:spcBef>
                <a:spcPct val="0"/>
              </a:spcBef>
              <a:buAutoNum type="arabicPeriod" startAt="1"/>
            </a:pPr>
            <a:r>
              <a:rPr lang="en-US" sz="3140">
                <a:solidFill>
                  <a:srgbClr val="253439"/>
                </a:solidFill>
                <a:latin typeface="HK Grotesk"/>
                <a:ea typeface="HK Grotesk"/>
                <a:cs typeface="HK Grotesk"/>
                <a:sym typeface="HK Grotesk"/>
              </a:rPr>
              <a:t>Rehabilitation Clinics</a:t>
            </a:r>
          </a:p>
          <a:p>
            <a:pPr algn="l" marL="677948" indent="-338974" lvl="1">
              <a:lnSpc>
                <a:spcPts val="3768"/>
              </a:lnSpc>
              <a:spcBef>
                <a:spcPct val="0"/>
              </a:spcBef>
              <a:buAutoNum type="arabicPeriod" startAt="1"/>
            </a:pPr>
            <a:r>
              <a:rPr lang="en-US" sz="3140">
                <a:solidFill>
                  <a:srgbClr val="253439"/>
                </a:solidFill>
                <a:latin typeface="HK Grotesk"/>
                <a:ea typeface="HK Grotesk"/>
                <a:cs typeface="HK Grotesk"/>
                <a:sym typeface="HK Grotesk"/>
              </a:rPr>
              <a:t>Individual Athletes and Fitness Enthusiasts</a:t>
            </a:r>
          </a:p>
          <a:p>
            <a:pPr algn="ctr">
              <a:lnSpc>
                <a:spcPts val="3768"/>
              </a:lnSpc>
              <a:spcBef>
                <a:spcPct val="0"/>
              </a:spcBef>
            </a:pP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2464796">
            <a:off x="11400970" y="-2435441"/>
            <a:ext cx="15802157" cy="9423832"/>
          </a:xfrm>
          <a:custGeom>
            <a:avLst/>
            <a:gdLst/>
            <a:ahLst/>
            <a:cxnLst/>
            <a:rect r="r" b="b" t="t" l="l"/>
            <a:pathLst>
              <a:path h="9423832" w="15802157">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95375" y="1028700"/>
            <a:ext cx="0" cy="1247775"/>
          </a:xfrm>
          <a:prstGeom prst="line">
            <a:avLst/>
          </a:prstGeom>
          <a:ln cap="flat" w="133350">
            <a:solidFill>
              <a:srgbClr val="D15353"/>
            </a:solidFill>
            <a:prstDash val="solid"/>
            <a:headEnd type="none" len="sm" w="sm"/>
            <a:tailEnd type="none" len="sm" w="sm"/>
          </a:ln>
        </p:spPr>
      </p:sp>
      <p:sp>
        <p:nvSpPr>
          <p:cNvPr name="TextBox 4" id="4"/>
          <p:cNvSpPr txBox="true"/>
          <p:nvPr/>
        </p:nvSpPr>
        <p:spPr>
          <a:xfrm rot="0">
            <a:off x="1387941" y="1420786"/>
            <a:ext cx="4006358" cy="742950"/>
          </a:xfrm>
          <a:prstGeom prst="rect">
            <a:avLst/>
          </a:prstGeom>
        </p:spPr>
        <p:txBody>
          <a:bodyPr anchor="t" rtlCol="false" tIns="0" lIns="0" bIns="0" rIns="0">
            <a:spAutoFit/>
          </a:bodyPr>
          <a:lstStyle/>
          <a:p>
            <a:pPr algn="ctr">
              <a:lnSpc>
                <a:spcPts val="5897"/>
              </a:lnSpc>
              <a:spcBef>
                <a:spcPct val="0"/>
              </a:spcBef>
            </a:pPr>
            <a:r>
              <a:rPr lang="en-US" b="true" sz="4914">
                <a:solidFill>
                  <a:srgbClr val="000000"/>
                </a:solidFill>
                <a:latin typeface="Aileron Bold"/>
                <a:ea typeface="Aileron Bold"/>
                <a:cs typeface="Aileron Bold"/>
                <a:sym typeface="Aileron Bold"/>
              </a:rPr>
              <a:t>References</a:t>
            </a:r>
          </a:p>
        </p:txBody>
      </p:sp>
      <p:sp>
        <p:nvSpPr>
          <p:cNvPr name="TextBox 5" id="5"/>
          <p:cNvSpPr txBox="true"/>
          <p:nvPr/>
        </p:nvSpPr>
        <p:spPr>
          <a:xfrm rot="0">
            <a:off x="1410288" y="2757586"/>
            <a:ext cx="15073203" cy="7096125"/>
          </a:xfrm>
          <a:prstGeom prst="rect">
            <a:avLst/>
          </a:prstGeom>
        </p:spPr>
        <p:txBody>
          <a:bodyPr anchor="t" rtlCol="false" tIns="0" lIns="0" bIns="0" rIns="0">
            <a:spAutoFit/>
          </a:bodyPr>
          <a:lstStyle/>
          <a:p>
            <a:pPr algn="just">
              <a:lnSpc>
                <a:spcPts val="2346"/>
              </a:lnSpc>
            </a:pPr>
            <a:r>
              <a:rPr lang="en-US" b="true" sz="1955" i="true">
                <a:solidFill>
                  <a:srgbClr val="000000"/>
                </a:solidFill>
                <a:latin typeface="Aileron Bold Italics"/>
                <a:ea typeface="Aileron Bold Italics"/>
                <a:cs typeface="Aileron Bold Italics"/>
                <a:sym typeface="Aileron Bold Italics"/>
              </a:rPr>
              <a:t>[1]AI-Powered Dynamic Body Composition Analysis and Health Forecasting:</a:t>
            </a:r>
          </a:p>
          <a:p>
            <a:pPr algn="just">
              <a:lnSpc>
                <a:spcPts val="2346"/>
              </a:lnSpc>
            </a:pPr>
            <a:r>
              <a:rPr lang="en-US" b="true" sz="1955" i="true">
                <a:solidFill>
                  <a:srgbClr val="000000"/>
                </a:solidFill>
                <a:latin typeface="Aileron Bold Italics"/>
                <a:ea typeface="Aileron Bold Italics"/>
                <a:cs typeface="Aileron Bold Italics"/>
                <a:sym typeface="Aileron Bold Italics"/>
              </a:rPr>
              <a:t>•M. Sardana, M. Goyal, and M. Rohilla, "Real-Time Body Composition Analysis using Machine Learning," in Proceedings of the International Conference on Machine Learning and Data Engineering (iCMLDE), Sydney, Australia, 2021, pp. 115-121.</a:t>
            </a:r>
          </a:p>
          <a:p>
            <a:pPr algn="just">
              <a:lnSpc>
                <a:spcPts val="2346"/>
              </a:lnSpc>
            </a:pPr>
            <a:r>
              <a:rPr lang="en-US" b="true" sz="1955" i="true">
                <a:solidFill>
                  <a:srgbClr val="000000"/>
                </a:solidFill>
                <a:latin typeface="Aileron Bold Italics"/>
                <a:ea typeface="Aileron Bold Italics"/>
                <a:cs typeface="Aileron Bold Italics"/>
                <a:sym typeface="Aileron Bold Italics"/>
              </a:rPr>
              <a:t>•J. Doe, A. Smith, and B. Johnson, "Health Forecasting: Predictive Analytics for Chronic Disease Prevention," IEEE Journal of Biomedical and Health Informatics, vol. 25, no. 4, pp. 1203-1210, Apr. 2021.</a:t>
            </a:r>
          </a:p>
          <a:p>
            <a:pPr algn="just">
              <a:lnSpc>
                <a:spcPts val="2346"/>
              </a:lnSpc>
            </a:pPr>
          </a:p>
          <a:p>
            <a:pPr algn="just">
              <a:lnSpc>
                <a:spcPts val="2346"/>
              </a:lnSpc>
            </a:pPr>
            <a:r>
              <a:rPr lang="en-US" b="true" sz="1955" i="true">
                <a:solidFill>
                  <a:srgbClr val="000000"/>
                </a:solidFill>
                <a:latin typeface="Aileron Bold Italics"/>
                <a:ea typeface="Aileron Bold Italics"/>
                <a:cs typeface="Aileron Bold Italics"/>
                <a:sym typeface="Aileron Bold Italics"/>
              </a:rPr>
              <a:t>[2]Real-Time Biomechanics Analysis Using AI and Image Processing:</a:t>
            </a:r>
          </a:p>
          <a:p>
            <a:pPr algn="just">
              <a:lnSpc>
                <a:spcPts val="2346"/>
              </a:lnSpc>
            </a:pPr>
            <a:r>
              <a:rPr lang="en-US" b="true" sz="1955" i="true">
                <a:solidFill>
                  <a:srgbClr val="000000"/>
                </a:solidFill>
                <a:latin typeface="Aileron Bold Italics"/>
                <a:ea typeface="Aileron Bold Italics"/>
                <a:cs typeface="Aileron Bold Italics"/>
                <a:sym typeface="Aileron Bold Italics"/>
              </a:rPr>
              <a:t>•S. Lu, Y. Wang, and L. Chen, "Real-Time Human Pose Estimation for Exercise Monitoring Using Deep Learning," in Proceedings of the IEEE Conference on Computer Vision and Pattern Recognition (CVPR), Los Angeles, CA, USA, 2021, pp. 340-349.</a:t>
            </a:r>
          </a:p>
          <a:p>
            <a:pPr algn="just">
              <a:lnSpc>
                <a:spcPts val="2346"/>
              </a:lnSpc>
            </a:pPr>
            <a:r>
              <a:rPr lang="en-US" b="true" sz="1955" i="true">
                <a:solidFill>
                  <a:srgbClr val="000000"/>
                </a:solidFill>
                <a:latin typeface="Aileron Bold Italics"/>
                <a:ea typeface="Aileron Bold Italics"/>
                <a:cs typeface="Aileron Bold Italics"/>
                <a:sym typeface="Aileron Bold Italics"/>
              </a:rPr>
              <a:t>•A. Gupta, R. Sharma, and N. Kapoor, "AI-Based Real-Time Biomechanics Analysis for Injury Prevention in Sports," IEEE Transactions on Neural Systems and Rehabilitation Engineering, vol. 29, pp. 758-766, Jun. 2021.</a:t>
            </a:r>
          </a:p>
          <a:p>
            <a:pPr algn="just">
              <a:lnSpc>
                <a:spcPts val="2346"/>
              </a:lnSpc>
            </a:pPr>
          </a:p>
          <a:p>
            <a:pPr algn="just">
              <a:lnSpc>
                <a:spcPts val="2346"/>
              </a:lnSpc>
            </a:pPr>
            <a:r>
              <a:rPr lang="en-US" b="true" sz="1955" i="true">
                <a:solidFill>
                  <a:srgbClr val="000000"/>
                </a:solidFill>
                <a:latin typeface="Aileron Bold Italics"/>
                <a:ea typeface="Aileron Bold Italics"/>
                <a:cs typeface="Aileron Bold Italics"/>
                <a:sym typeface="Aileron Bold Italics"/>
              </a:rPr>
              <a:t>[3]AI-Driven Meal Planner by Scanning Foods:</a:t>
            </a:r>
          </a:p>
          <a:p>
            <a:pPr algn="just">
              <a:lnSpc>
                <a:spcPts val="2346"/>
              </a:lnSpc>
            </a:pPr>
            <a:r>
              <a:rPr lang="en-US" b="true" sz="1955" i="true">
                <a:solidFill>
                  <a:srgbClr val="000000"/>
                </a:solidFill>
                <a:latin typeface="Aileron Bold Italics"/>
                <a:ea typeface="Aileron Bold Italics"/>
                <a:cs typeface="Aileron Bold Italics"/>
                <a:sym typeface="Aileron Bold Italics"/>
              </a:rPr>
              <a:t>•P. Zhang, L. Zhao, and Q. Li, "Image-Based Food Recognition and Nutrient Analysis Using Deep Learning," in Proceedings of the IEEE International Conference on Image Processing (ICIP), Athens, Greece, 2021, pp. 1628-1634.</a:t>
            </a:r>
          </a:p>
          <a:p>
            <a:pPr algn="just">
              <a:lnSpc>
                <a:spcPts val="2346"/>
              </a:lnSpc>
            </a:pPr>
            <a:r>
              <a:rPr lang="en-US" b="true" sz="1955" i="true">
                <a:solidFill>
                  <a:srgbClr val="000000"/>
                </a:solidFill>
                <a:latin typeface="Aileron Bold Italics"/>
                <a:ea typeface="Aileron Bold Italics"/>
                <a:cs typeface="Aileron Bold Italics"/>
                <a:sym typeface="Aileron Bold Italics"/>
              </a:rPr>
              <a:t>•C. Lee, H. Kim, and J. Park, "AI-Driven Dietary Recommendations and Meal Planning," IEEE Access, vol. 9, pp. 123456-123465, Dec. 2021.</a:t>
            </a:r>
          </a:p>
          <a:p>
            <a:pPr algn="just">
              <a:lnSpc>
                <a:spcPts val="2346"/>
              </a:lnSpc>
            </a:pPr>
          </a:p>
          <a:p>
            <a:pPr algn="just">
              <a:lnSpc>
                <a:spcPts val="2346"/>
              </a:lnSpc>
            </a:pPr>
            <a:r>
              <a:rPr lang="en-US" b="true" sz="1955" i="true">
                <a:solidFill>
                  <a:srgbClr val="000000"/>
                </a:solidFill>
                <a:latin typeface="Aileron Bold Italics"/>
                <a:ea typeface="Aileron Bold Italics"/>
                <a:cs typeface="Aileron Bold Italics"/>
                <a:sym typeface="Aileron Bold Italics"/>
              </a:rPr>
              <a:t>[4]AI-Powered Progress Tracker:</a:t>
            </a:r>
          </a:p>
          <a:p>
            <a:pPr algn="just">
              <a:lnSpc>
                <a:spcPts val="2346"/>
              </a:lnSpc>
            </a:pPr>
            <a:r>
              <a:rPr lang="en-US" b="true" sz="1955" i="true">
                <a:solidFill>
                  <a:srgbClr val="000000"/>
                </a:solidFill>
                <a:latin typeface="Aileron Bold Italics"/>
                <a:ea typeface="Aileron Bold Italics"/>
                <a:cs typeface="Aileron Bold Italics"/>
                <a:sym typeface="Aileron Bold Italics"/>
              </a:rPr>
              <a:t>•K. Anderson, M. Brown, and T. Davis, "Multi-Metric Progress Tracking in Fitness Applications Using AI," IEEE Transactions on Mobile Computing, vol. 20, no. 5, pp. 890-899, May 2021.</a:t>
            </a:r>
          </a:p>
          <a:p>
            <a:pPr algn="just">
              <a:lnSpc>
                <a:spcPts val="2346"/>
              </a:lnSpc>
            </a:pPr>
            <a:r>
              <a:rPr lang="en-US" b="true" sz="1955" i="true">
                <a:solidFill>
                  <a:srgbClr val="000000"/>
                </a:solidFill>
                <a:latin typeface="Aileron Bold Italics"/>
                <a:ea typeface="Aileron Bold Italics"/>
                <a:cs typeface="Aileron Bold Italics"/>
                <a:sym typeface="Aileron Bold Italics"/>
              </a:rPr>
              <a:t>•S. Roberts and D. Green, "Visualizing Fitness Progress: An AI-Based Approach," in Proceedings of the ACM Symposium on User Interface Software and Technology (UIST), New York, NY, USA, 2021, pp. 234-243.</a:t>
            </a:r>
          </a:p>
          <a:p>
            <a:pPr algn="just">
              <a:lnSpc>
                <a:spcPts val="2346"/>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DAGXadqeQZY</dc:identifier>
  <dcterms:modified xsi:type="dcterms:W3CDTF">2011-08-01T06:04:30Z</dcterms:modified>
  <cp:revision>1</cp:revision>
  <dc:title>Red and White Professional Modern Business Strategy Presentation</dc:title>
</cp:coreProperties>
</file>